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097280"/>
            <a:ext cx="1088136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400" b="1">
                <a:solidFill>
                  <a:srgbClr val="C8102E"/>
                </a:solidFill>
              </a:rPr>
              <a:t>CA11  FINANCIAL  ACCOUNTING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828800"/>
            <a:ext cx="10881360" cy="2194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400" b="1"/>
              <a:t>The Income and Expenditure Account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3931920"/>
            <a:ext cx="1088136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>
                <a:solidFill>
                  <a:srgbClr val="6E6E6E"/>
                </a:solidFill>
              </a:rPr>
              <a:t>CA11 Financial Accounting • Financial Statements of a Not-for-Profit Organisation</a:t>
            </a:r>
          </a:p>
        </p:txBody>
      </p:sp>
      <p:pic>
        <p:nvPicPr>
          <p:cNvPr id="5" name="Picture 4" descr="logo-ka-blac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41848" y="5120640"/>
            <a:ext cx="914400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640080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6E6E6E"/>
                </a:solidFill>
              </a:rPr>
              <a:t>Kagiko &amp; Associates  •  SokoCPA Simulator</a:t>
            </a:r>
          </a:p>
        </p:txBody>
      </p:sp>
      <p:pic>
        <p:nvPicPr>
          <p:cNvPr id="7" name="Picture 6" descr="logo-ka-blac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47120" y="6263640"/>
            <a:ext cx="457200" cy="4572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16152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</a:rPr>
              <a:t>Learning objectives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554480"/>
            <a:ext cx="108813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b="0" sz="2000"/>
              <a:t>Define the income and expenditure account and the matching principle</a:t>
            </a:r>
          </a:p>
          <a:p>
            <a:pPr>
              <a:spcAft>
                <a:spcPts val="1000"/>
              </a:spcAft>
            </a:pPr>
            <a:r>
              <a:rPr b="0" sz="2000"/>
              <a:t>Build the subscription T-account with arrears, advances and bad debts</a:t>
            </a:r>
          </a:p>
          <a:p>
            <a:pPr>
              <a:spcAft>
                <a:spcPts val="1000"/>
              </a:spcAft>
            </a:pPr>
            <a:r>
              <a:rPr b="0" sz="2000"/>
              <a:t>Convert cash figures to accruals: outstandings, prepayments, stock</a:t>
            </a:r>
          </a:p>
          <a:p>
            <a:pPr>
              <a:spcAft>
                <a:spcPts val="1000"/>
              </a:spcAft>
            </a:pPr>
            <a:r>
              <a:rPr b="0" sz="2000"/>
              <a:t>Treat depreciation, disposals, bar profits and special funds</a:t>
            </a:r>
          </a:p>
          <a:p>
            <a:pPr>
              <a:spcAft>
                <a:spcPts val="1000"/>
              </a:spcAft>
            </a:pPr>
            <a:r>
              <a:rPr b="0" sz="2000"/>
              <a:t>Distinguish the income &amp; expenditure account from R&amp;P account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6E6E6E"/>
                </a:solidFill>
              </a:rPr>
              <a:t>Kagiko &amp; Associates  •  SokoCPA Simulator</a:t>
            </a:r>
          </a:p>
        </p:txBody>
      </p:sp>
      <p:pic>
        <p:nvPicPr>
          <p:cNvPr id="6" name="Picture 5" descr="logo-ka-blac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47120" y="6263640"/>
            <a:ext cx="457200" cy="4572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16152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</a:rPr>
              <a:t>Nature and the matching principle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554480"/>
            <a:ext cx="108813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b="0" sz="2000"/>
              <a:t>Revenue account showing surplus (credit) or deficit (debit)</a:t>
            </a:r>
          </a:p>
          <a:p>
            <a:pPr>
              <a:spcAft>
                <a:spcPts val="1000"/>
              </a:spcAft>
            </a:pPr>
            <a:r>
              <a:rPr b="0" sz="2000"/>
              <a:t>Revenue items ONLY — no capital receipts or payments</a:t>
            </a:r>
          </a:p>
          <a:p>
            <a:pPr>
              <a:spcAft>
                <a:spcPts val="1000"/>
              </a:spcAft>
            </a:pPr>
            <a:r>
              <a:rPr b="0" sz="2000"/>
              <a:t>Current year only: past and future items excluded</a:t>
            </a:r>
          </a:p>
          <a:p>
            <a:pPr>
              <a:spcAft>
                <a:spcPts val="1000"/>
              </a:spcAft>
            </a:pPr>
            <a:r>
              <a:rPr b="0" sz="2000"/>
              <a:t>Include outstanding and prepaid amounts — the FULL year's figure</a:t>
            </a:r>
          </a:p>
          <a:p>
            <a:pPr>
              <a:spcAft>
                <a:spcPts val="1000"/>
              </a:spcAft>
            </a:pPr>
            <a:r>
              <a:rPr b="0" sz="2000"/>
              <a:t>Surplus/deficit transfers to the CAPITAL FUND in the SFP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6E6E6E"/>
                </a:solidFill>
              </a:rPr>
              <a:t>Kagiko &amp; Associates  •  SokoCPA Simulator</a:t>
            </a:r>
          </a:p>
        </p:txBody>
      </p:sp>
      <p:pic>
        <p:nvPicPr>
          <p:cNvPr id="6" name="Picture 5" descr="logo-ka-blac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47120" y="6263640"/>
            <a:ext cx="457200" cy="4572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16152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</a:rPr>
              <a:t>The subscription account — examiner's favourite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554480"/>
            <a:ext cx="108813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b="0" sz="2000"/>
              <a:t>Debit: opening arrears + income for the year + closing advance</a:t>
            </a:r>
          </a:p>
          <a:p>
            <a:pPr>
              <a:spcAft>
                <a:spcPts val="1000"/>
              </a:spcAft>
            </a:pPr>
            <a:r>
              <a:rPr b="0" sz="2000"/>
              <a:t>Credit: cash received + closing arrears</a:t>
            </a:r>
          </a:p>
          <a:p>
            <a:pPr>
              <a:spcAft>
                <a:spcPts val="1000"/>
              </a:spcAft>
            </a:pPr>
            <a:r>
              <a:rPr b="0" sz="2000"/>
              <a:t>Jabari: 560,000 − 40,000 − 55,000 + 35,000 = Sh.500,000 for 2025</a:t>
            </a:r>
          </a:p>
          <a:p>
            <a:pPr>
              <a:spcAft>
                <a:spcPts val="1000"/>
              </a:spcAft>
            </a:pPr>
            <a:r>
              <a:rPr b="0" sz="2000"/>
              <a:t>Bad debts written off: debit I&amp;E, credit subscription account</a:t>
            </a:r>
          </a:p>
          <a:p>
            <a:pPr>
              <a:spcAft>
                <a:spcPts val="1000"/>
              </a:spcAft>
            </a:pPr>
            <a:r>
              <a:rPr b="0" sz="2000"/>
              <a:t>Subscriptions for a specific purpose: capitalised, never here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6E6E6E"/>
                </a:solidFill>
              </a:rPr>
              <a:t>Kagiko &amp; Associates  •  SokoCPA Simulator</a:t>
            </a:r>
          </a:p>
        </p:txBody>
      </p:sp>
      <p:pic>
        <p:nvPicPr>
          <p:cNvPr id="6" name="Picture 5" descr="logo-ka-blac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47120" y="6263640"/>
            <a:ext cx="457200" cy="4572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16152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</a:rPr>
              <a:t>Converting cash to accrual figures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554480"/>
            <a:ext cx="108813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b="0" sz="2000"/>
              <a:t>Salaries: 240,000 − 20,000 opening owed + 30,000 outstanding = 250,000</a:t>
            </a:r>
          </a:p>
          <a:p>
            <a:pPr>
              <a:spcAft>
                <a:spcPts val="1000"/>
              </a:spcAft>
            </a:pPr>
            <a:r>
              <a:rPr b="0" sz="2000"/>
              <a:t>Rent: 104,000 − 8,000 prepaid = 96,000</a:t>
            </a:r>
          </a:p>
          <a:p>
            <a:pPr>
              <a:spcAft>
                <a:spcPts val="1000"/>
              </a:spcAft>
            </a:pPr>
            <a:r>
              <a:rPr b="0" sz="2000"/>
              <a:t>Electricity: 36,000 + 6,000 outstanding = 42,000</a:t>
            </a:r>
          </a:p>
          <a:p>
            <a:pPr>
              <a:spcAft>
                <a:spcPts val="1000"/>
              </a:spcAft>
            </a:pPr>
            <a:r>
              <a:rPr b="0" sz="2000"/>
              <a:t>Rule: charge = cash − opening balance + closing balance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6E6E6E"/>
                </a:solidFill>
              </a:rPr>
              <a:t>Kagiko &amp; Associates  •  SokoCPA Simulator</a:t>
            </a:r>
          </a:p>
        </p:txBody>
      </p:sp>
      <p:pic>
        <p:nvPicPr>
          <p:cNvPr id="6" name="Picture 5" descr="logo-ka-blac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47120" y="6263640"/>
            <a:ext cx="457200" cy="4572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16152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</a:rPr>
              <a:t>Stocks, depreciation and disposal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554480"/>
            <a:ext cx="108813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b="0" sz="2000"/>
              <a:t>Stationery used = 4,000 + 18,000 − 5,000 = 17,000 (closing stock = asset)</a:t>
            </a:r>
          </a:p>
          <a:p>
            <a:pPr>
              <a:spcAft>
                <a:spcPts val="1000"/>
              </a:spcAft>
            </a:pPr>
            <a:r>
              <a:rPr b="0" sz="2000"/>
              <a:t>Depreciation: buildings 30,000; equipment 20,000 — debited to I&amp;E</a:t>
            </a:r>
          </a:p>
          <a:p>
            <a:pPr>
              <a:spcAft>
                <a:spcPts val="1000"/>
              </a:spcAft>
            </a:pPr>
            <a:r>
              <a:rPr b="0" sz="2000"/>
              <a:t>Loss on equipment sale (30,000 NBV − 25,000) = 5,000 debited to I&amp;E</a:t>
            </a:r>
          </a:p>
          <a:p>
            <a:pPr>
              <a:spcAft>
                <a:spcPts val="1000"/>
              </a:spcAft>
            </a:pPr>
            <a:r>
              <a:rPr b="0" sz="2000"/>
              <a:t>Capital proceeds do NOT enter — only the revenue profit or loss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6E6E6E"/>
                </a:solidFill>
              </a:rPr>
              <a:t>Kagiko &amp; Associates  •  SokoCPA Simulator</a:t>
            </a:r>
          </a:p>
        </p:txBody>
      </p:sp>
      <p:pic>
        <p:nvPicPr>
          <p:cNvPr id="6" name="Picture 5" descr="logo-ka-blac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47120" y="6263640"/>
            <a:ext cx="457200" cy="4572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16152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</a:rPr>
              <a:t>Bar trading, prizes and special funds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554480"/>
            <a:ext cx="108813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b="0" sz="2000"/>
              <a:t>Bar/restaurant: separate trading account first; transfer PROFIT only</a:t>
            </a:r>
          </a:p>
          <a:p>
            <a:pPr>
              <a:spcAft>
                <a:spcPts val="1000"/>
              </a:spcAft>
            </a:pPr>
            <a:r>
              <a:rPr b="0" sz="2000"/>
              <a:t>Prizes in hand: opening + purchases − awarded = expense (stock logic)</a:t>
            </a:r>
          </a:p>
          <a:p>
            <a:pPr>
              <a:spcAft>
                <a:spcPts val="1000"/>
              </a:spcAft>
            </a:pPr>
            <a:r>
              <a:rPr b="0" sz="2000"/>
              <a:t>Special purpose fund income/expenses: adjust the fund, never the I&amp;E</a:t>
            </a:r>
          </a:p>
          <a:p>
            <a:pPr>
              <a:spcAft>
                <a:spcPts val="1000"/>
              </a:spcAft>
            </a:pPr>
            <a:r>
              <a:rPr b="0" sz="2000"/>
              <a:t>Jabari totals: income 647,000 − expenses 497,000 = surplus 150,000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6E6E6E"/>
                </a:solidFill>
              </a:rPr>
              <a:t>Kagiko &amp; Associates  •  SokoCPA Simulator</a:t>
            </a:r>
          </a:p>
        </p:txBody>
      </p:sp>
      <p:pic>
        <p:nvPicPr>
          <p:cNvPr id="6" name="Picture 5" descr="logo-ka-blac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47120" y="6263640"/>
            <a:ext cx="457200" cy="4572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16152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</a:rPr>
              <a:t>R&amp;P account vs I&amp;E account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554480"/>
            <a:ext cx="108813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b="0" sz="2000"/>
              <a:t>R&amp;P: cash summary; I&amp;E: accrual-based revenue account</a:t>
            </a:r>
          </a:p>
          <a:p>
            <a:pPr>
              <a:spcAft>
                <a:spcPts val="1000"/>
              </a:spcAft>
            </a:pPr>
            <a:r>
              <a:rPr b="0" sz="2000"/>
              <a:t>R&amp;P: capital + revenue cash; I&amp;E: revenue items only</a:t>
            </a:r>
          </a:p>
          <a:p>
            <a:pPr>
              <a:spcAft>
                <a:spcPts val="1000"/>
              </a:spcAft>
            </a:pPr>
            <a:r>
              <a:rPr b="0" sz="2000"/>
              <a:t>R&amp;P: statement outside double entry; I&amp;E: nominal account within it</a:t>
            </a:r>
          </a:p>
          <a:p>
            <a:pPr>
              <a:spcAft>
                <a:spcPts val="1000"/>
              </a:spcAft>
            </a:pPr>
            <a:r>
              <a:rPr b="0" sz="2000"/>
              <a:t>R&amp;P: shows cash balance; I&amp;E: shows surplus or deficit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6E6E6E"/>
                </a:solidFill>
              </a:rPr>
              <a:t>Kagiko &amp; Associates  •  SokoCPA Simulator</a:t>
            </a:r>
          </a:p>
        </p:txBody>
      </p:sp>
      <p:pic>
        <p:nvPicPr>
          <p:cNvPr id="6" name="Picture 5" descr="logo-ka-blac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47120" y="6263640"/>
            <a:ext cx="457200" cy="4572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16152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</a:rPr>
              <a:t>Key takeaways / exam tips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554480"/>
            <a:ext cx="108813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b="0" sz="2000"/>
              <a:t>Do the subscription working FIRST — 3–4 marks on its own</a:t>
            </a:r>
          </a:p>
          <a:p>
            <a:pPr>
              <a:spcAft>
                <a:spcPts val="1000"/>
              </a:spcAft>
            </a:pPr>
            <a:r>
              <a:rPr b="0" sz="2000"/>
              <a:t>Draw mini T-accounts for every adjusted item to avoid sign errors</a:t>
            </a:r>
          </a:p>
          <a:p>
            <a:pPr>
              <a:spcAft>
                <a:spcPts val="1000"/>
              </a:spcAft>
            </a:pPr>
            <a:r>
              <a:rPr b="0" sz="2000"/>
              <a:t>Label workings W1, W2… — KASNEB awards method marks</a:t>
            </a:r>
          </a:p>
          <a:p>
            <a:pPr>
              <a:spcAft>
                <a:spcPts val="1000"/>
              </a:spcAft>
            </a:pPr>
            <a:r>
              <a:rPr b="0" sz="2000"/>
              <a:t>Scan each line: 'revenue or capital?' before including 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6E6E6E"/>
                </a:solidFill>
              </a:rPr>
              <a:t>Kagiko &amp; Associates  •  SokoCPA Simulator</a:t>
            </a:r>
          </a:p>
        </p:txBody>
      </p:sp>
      <p:pic>
        <p:nvPicPr>
          <p:cNvPr id="6" name="Picture 5" descr="logo-ka-blac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47120" y="6263640"/>
            <a:ext cx="457200" cy="4572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