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Depreciation, Revaluation and Disposals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Accounting for Assets and Liabilities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depreciation and identify its causes</a:t>
            </a:r>
          </a:p>
          <a:p>
            <a:pPr>
              <a:spcAft>
                <a:spcPts val="1000"/>
              </a:spcAft>
            </a:pPr>
            <a:r>
              <a:rPr b="0" sz="2000"/>
              <a:t>Compute depreciation under 7 methods (focus: SL, RB, SOD, depletion)</a:t>
            </a:r>
          </a:p>
          <a:p>
            <a:pPr>
              <a:spcAft>
                <a:spcPts val="1000"/>
              </a:spcAft>
            </a:pPr>
            <a:r>
              <a:rPr b="0" sz="2000"/>
              <a:t>Record depreciation via the provision account</a:t>
            </a:r>
          </a:p>
          <a:p>
            <a:pPr>
              <a:spcAft>
                <a:spcPts val="1000"/>
              </a:spcAft>
            </a:pPr>
            <a:r>
              <a:rPr b="0" sz="2000"/>
              <a:t>Account for disposals through the disposal account</a:t>
            </a:r>
          </a:p>
          <a:p>
            <a:pPr>
              <a:spcAft>
                <a:spcPts val="1000"/>
              </a:spcAft>
            </a:pPr>
            <a:r>
              <a:rPr b="0" sz="2000"/>
              <a:t>Apply the revaluation model and prepare a PPE movement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Meaning and causes of depreciation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Systematic allocation</a:t>
            </a:r>
            <a:r>
              <a:rPr b="0" sz="2000"/>
              <a:t> of depreciable amount over useful life (IAS 16)</a:t>
            </a:r>
          </a:p>
          <a:p>
            <a:pPr>
              <a:spcAft>
                <a:spcPts val="1000"/>
              </a:spcAft>
            </a:pPr>
            <a:r>
              <a:rPr b="0" sz="2000"/>
              <a:t>Depreciable amount = cost (or revalued amount) − residual value</a:t>
            </a:r>
          </a:p>
          <a:p>
            <a:pPr>
              <a:spcAft>
                <a:spcPts val="1000"/>
              </a:spcAft>
            </a:pPr>
            <a:r>
              <a:rPr b="0" sz="2000"/>
              <a:t>It spreads cost — </a:t>
            </a:r>
            <a:r>
              <a:rPr b="1" sz="2000"/>
              <a:t>not</a:t>
            </a:r>
            <a:r>
              <a:rPr b="0" sz="2000"/>
              <a:t> a valuation exercise</a:t>
            </a:r>
          </a:p>
          <a:p>
            <a:pPr>
              <a:spcAft>
                <a:spcPts val="1000"/>
              </a:spcAft>
            </a:pPr>
            <a:r>
              <a:rPr b="0" sz="2000"/>
              <a:t>Causes: wear and tear, effluxion of time, obsolescence, accidents</a:t>
            </a:r>
          </a:p>
          <a:p>
            <a:pPr>
              <a:spcAft>
                <a:spcPts val="1000"/>
              </a:spcAft>
            </a:pPr>
            <a:r>
              <a:rPr b="0" sz="2000"/>
              <a:t>All fixed assets depreciate — except land (and old paintings)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Methods (1/2): SL, RB, sum of digits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Straight line</a:t>
            </a:r>
            <a:r>
              <a:rPr b="0" sz="2000"/>
              <a:t>: (cost − residual) ÷ life — equal yearly charge</a:t>
            </a:r>
          </a:p>
          <a:p>
            <a:pPr>
              <a:spcAft>
                <a:spcPts val="1000"/>
              </a:spcAft>
            </a:pPr>
            <a:r>
              <a:rPr b="1" sz="2000"/>
              <a:t>Reducing balance</a:t>
            </a:r>
            <a:r>
              <a:rPr b="0" sz="2000"/>
              <a:t>: fixed % × opening NBV — heavy early, light later</a:t>
            </a:r>
          </a:p>
          <a:p>
            <a:pPr>
              <a:spcAft>
                <a:spcPts val="1000"/>
              </a:spcAft>
            </a:pPr>
            <a:r>
              <a:rPr b="1" sz="2000"/>
              <a:t>Sum of digits</a:t>
            </a:r>
            <a:r>
              <a:rPr b="0" sz="2000"/>
              <a:t>: (remaining life ÷ sum of digits) × cost</a:t>
            </a:r>
          </a:p>
          <a:p>
            <a:pPr>
              <a:spcAft>
                <a:spcPts val="1000"/>
              </a:spcAft>
            </a:pPr>
            <a:r>
              <a:rPr b="0" sz="2000"/>
              <a:t>RB rate ≈ 3× the straight-line rate for same life</a:t>
            </a:r>
          </a:p>
          <a:p>
            <a:pPr>
              <a:spcAft>
                <a:spcPts val="1000"/>
              </a:spcAft>
            </a:pPr>
            <a:r>
              <a:rPr b="0" sz="2000"/>
              <a:t>RB never deducts residual value first; SL excludes it from the 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Methods (2/2): revaluation, depletion, machine-hour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Revaluation</a:t>
            </a:r>
            <a:r>
              <a:rPr b="0" sz="2000"/>
              <a:t>: opening + purchases − closing valuation (loose tools)</a:t>
            </a:r>
          </a:p>
          <a:p>
            <a:pPr>
              <a:spcAft>
                <a:spcPts val="1000"/>
              </a:spcAft>
            </a:pPr>
            <a:r>
              <a:rPr b="1" sz="2000"/>
              <a:t>Depletion</a:t>
            </a:r>
            <a:r>
              <a:rPr b="0" sz="2000"/>
              <a:t>: cost ÷ total output × actual output (mines, quarries)</a:t>
            </a:r>
          </a:p>
          <a:p>
            <a:pPr>
              <a:spcAft>
                <a:spcPts val="1000"/>
              </a:spcAft>
            </a:pPr>
            <a:r>
              <a:rPr b="1" sz="2000"/>
              <a:t>Machine-hour</a:t>
            </a:r>
            <a:r>
              <a:rPr b="0" sz="2000"/>
              <a:t>: cost ÷ total hours × hours worked</a:t>
            </a:r>
          </a:p>
          <a:p>
            <a:pPr>
              <a:spcAft>
                <a:spcPts val="1000"/>
              </a:spcAft>
            </a:pPr>
            <a:r>
              <a:rPr b="1" sz="2000"/>
              <a:t>Annuity</a:t>
            </a:r>
            <a:r>
              <a:rPr b="0" sz="2000"/>
              <a:t>: allows for interest lost on capital tied up</a:t>
            </a:r>
          </a:p>
          <a:p>
            <a:pPr>
              <a:spcAft>
                <a:spcPts val="1000"/>
              </a:spcAft>
            </a:pPr>
            <a:r>
              <a:rPr b="0" sz="2000"/>
              <a:t>Computations focus on (a)–(c), (e)–(g)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Recording depreciation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Each asset class gets a </a:t>
            </a:r>
            <a:r>
              <a:rPr b="1" sz="2000"/>
              <a:t>provision for depreciation</a:t>
            </a:r>
            <a:r>
              <a:rPr b="0" sz="2000"/>
              <a:t> (credit balance)</a:t>
            </a:r>
          </a:p>
          <a:p>
            <a:pPr>
              <a:spcAft>
                <a:spcPts val="1000"/>
              </a:spcAft>
            </a:pPr>
            <a:r>
              <a:rPr b="0" sz="2000"/>
              <a:t>Entry: Dr Profit or loss / Cr Provision for depreciation</a:t>
            </a:r>
          </a:p>
          <a:p>
            <a:pPr>
              <a:spcAft>
                <a:spcPts val="1000"/>
              </a:spcAft>
            </a:pPr>
            <a:r>
              <a:rPr b="0" sz="2000"/>
              <a:t>Asset account stays at </a:t>
            </a:r>
            <a:r>
              <a:rPr b="1" sz="2000"/>
              <a:t>cost</a:t>
            </a:r>
            <a:r>
              <a:rPr b="0" sz="2000"/>
              <a:t>; provision accumulates</a:t>
            </a:r>
          </a:p>
          <a:p>
            <a:pPr>
              <a:spcAft>
                <a:spcPts val="1000"/>
              </a:spcAft>
            </a:pPr>
            <a:r>
              <a:rPr b="0" sz="2000"/>
              <a:t>Balance sheet shows cost − accumulated depreciation = </a:t>
            </a:r>
            <a:r>
              <a:rPr b="1" sz="2000"/>
              <a:t>NBV</a:t>
            </a:r>
          </a:p>
          <a:p>
            <a:pPr>
              <a:spcAft>
                <a:spcPts val="1000"/>
              </a:spcAft>
            </a:pPr>
            <a:r>
              <a:rPr b="0" sz="2000"/>
              <a:t>Time-apportion: asset bought 1 April (Dec year-end) gets 9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pro-rata charges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Plant bought 2005–2008, SL 10% pro-rata → full charge table</a:t>
            </a:r>
          </a:p>
          <a:p>
            <a:pPr>
              <a:spcAft>
                <a:spcPts val="1000"/>
              </a:spcAft>
            </a:pPr>
            <a:r>
              <a:rPr b="0" sz="2000"/>
              <a:t>Balance sheet NBVs: 7,200 → 21,750 → 19,350 → 18,800 ✓</a:t>
            </a:r>
          </a:p>
          <a:p>
            <a:pPr>
              <a:spcAft>
                <a:spcPts val="1000"/>
              </a:spcAft>
            </a:pPr>
            <a:r>
              <a:rPr b="0" sz="2000"/>
              <a:t>Every column must cross-cast — an instant self-check</a:t>
            </a:r>
          </a:p>
          <a:p>
            <a:pPr>
              <a:spcAft>
                <a:spcPts val="1000"/>
              </a:spcAft>
            </a:pPr>
            <a:r>
              <a:rPr b="0" sz="2000"/>
              <a:t>Tabulate workings before touching the ledger — method marks</a:t>
            </a:r>
          </a:p>
          <a:p>
            <a:pPr>
              <a:spcAft>
                <a:spcPts val="1000"/>
              </a:spcAft>
            </a:pPr>
            <a:r>
              <a:rPr b="0" sz="2000"/>
              <a:t>Always charge depreciation </a:t>
            </a:r>
            <a:r>
              <a:rPr b="1" sz="2000"/>
              <a:t>up to the disposal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Disposal account: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1. Dr Disposal / Cr Asset — with </a:t>
            </a:r>
            <a:r>
              <a:rPr b="1" sz="2000"/>
              <a:t>cost</a:t>
            </a:r>
          </a:p>
          <a:p>
            <a:pPr>
              <a:spcAft>
                <a:spcPts val="1000"/>
              </a:spcAft>
            </a:pPr>
            <a:r>
              <a:rPr b="0" sz="2000"/>
              <a:t>2. Dr Provision / Cr Disposal — with accumulated depreciation to sale date</a:t>
            </a:r>
          </a:p>
          <a:p>
            <a:pPr>
              <a:spcAft>
                <a:spcPts val="1000"/>
              </a:spcAft>
            </a:pPr>
            <a:r>
              <a:rPr b="0" sz="2000"/>
              <a:t>3. Dr Cash / Cr Disposal — with proceeds</a:t>
            </a:r>
          </a:p>
          <a:p>
            <a:pPr>
              <a:spcAft>
                <a:spcPts val="1000"/>
              </a:spcAft>
            </a:pPr>
            <a:r>
              <a:rPr b="0" sz="2000"/>
              <a:t>Balance: profit (Cr) or loss (Dr) → profit or loss</a:t>
            </a:r>
          </a:p>
          <a:p>
            <a:pPr>
              <a:spcAft>
                <a:spcPts val="1000"/>
              </a:spcAft>
            </a:pPr>
            <a:r>
              <a:rPr b="0" sz="2000"/>
              <a:t>Book example: cost 900 − acc. dep. 675 − proceeds 275 = loss </a:t>
            </a:r>
            <a:r>
              <a:rPr b="1" sz="2000"/>
              <a:t>Sh.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Revaluation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Upward revaluation → </a:t>
            </a:r>
            <a:r>
              <a:rPr b="1" sz="2000"/>
              <a:t>revaluation surplus</a:t>
            </a:r>
            <a:r>
              <a:rPr b="0" sz="2000"/>
              <a:t> (equity)</a:t>
            </a:r>
          </a:p>
          <a:p>
            <a:pPr>
              <a:spcAft>
                <a:spcPts val="1000"/>
              </a:spcAft>
            </a:pPr>
            <a:r>
              <a:rPr b="0" sz="2000"/>
              <a:t>…unless reversing a prior P&amp;L decrease → profit or loss</a:t>
            </a:r>
          </a:p>
          <a:p>
            <a:pPr>
              <a:spcAft>
                <a:spcPts val="1000"/>
              </a:spcAft>
            </a:pPr>
            <a:r>
              <a:rPr b="0" sz="2000"/>
              <a:t>Downward revaluation → </a:t>
            </a:r>
            <a:r>
              <a:rPr b="1" sz="2000"/>
              <a:t>profit or loss</a:t>
            </a:r>
            <a:r>
              <a:rPr b="0" sz="2000"/>
              <a:t>, unless surplus exists for the asset</a:t>
            </a:r>
          </a:p>
          <a:p>
            <a:pPr>
              <a:spcAft>
                <a:spcPts val="1000"/>
              </a:spcAft>
            </a:pPr>
            <a:r>
              <a:rPr b="0" sz="2000"/>
              <a:t>After revaluation: depreciate the </a:t>
            </a:r>
            <a:r>
              <a:rPr b="1" sz="2000"/>
              <a:t>new</a:t>
            </a:r>
            <a:r>
              <a:rPr b="0" sz="2000"/>
              <a:t> carrying amount over remaining life</a:t>
            </a:r>
          </a:p>
          <a:p>
            <a:pPr>
              <a:spcAft>
                <a:spcPts val="1000"/>
              </a:spcAft>
            </a:pPr>
            <a:r>
              <a:rPr b="0" sz="2000"/>
              <a:t>Building 10m − 4m dep. → revalued 9m → new charge 450,000 p.a.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Part-year depreciation on additions *and* disposals — pro-rata months</a:t>
            </a:r>
          </a:p>
          <a:p>
            <a:pPr>
              <a:spcAft>
                <a:spcPts val="1000"/>
              </a:spcAft>
            </a:pPr>
            <a:r>
              <a:rPr b="0" sz="2000"/>
              <a:t>RB applies the % to </a:t>
            </a:r>
            <a:r>
              <a:rPr b="1" sz="2000"/>
              <a:t>opening NBV</a:t>
            </a:r>
            <a:r>
              <a:rPr b="0" sz="2000"/>
              <a:t>, not cost</a:t>
            </a:r>
          </a:p>
          <a:p>
            <a:pPr>
              <a:spcAft>
                <a:spcPts val="1000"/>
              </a:spcAft>
            </a:pPr>
            <a:r>
              <a:rPr b="0" sz="2000"/>
              <a:t>Sum of digits: numerator is the </a:t>
            </a:r>
            <a:r>
              <a:rPr b="1" sz="2000"/>
              <a:t>remaining</a:t>
            </a:r>
            <a:r>
              <a:rPr b="0" sz="2000"/>
              <a:t> life including current year</a:t>
            </a:r>
          </a:p>
          <a:p>
            <a:pPr>
              <a:spcAft>
                <a:spcPts val="1000"/>
              </a:spcAft>
            </a:pPr>
            <a:r>
              <a:rPr b="0" sz="2000"/>
              <a:t>Revaluation gains go to equity — not P&amp;L — unless reversing a P&amp;L decrease</a:t>
            </a:r>
          </a:p>
          <a:p>
            <a:pPr>
              <a:spcAft>
                <a:spcPts val="1000"/>
              </a:spcAft>
            </a:pPr>
            <a:r>
              <a:rPr b="0" sz="2000"/>
              <a:t>Disposal: four entries, then balance and label profit/loss clearly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