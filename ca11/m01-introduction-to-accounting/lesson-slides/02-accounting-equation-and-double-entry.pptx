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Accounting Equation and Double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Introduction to Accounting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State the accounting equation and define its elements</a:t>
            </a:r>
          </a:p>
          <a:p>
            <a:pPr>
              <a:spcAft>
                <a:spcPts val="1000"/>
              </a:spcAft>
            </a:pPr>
            <a:r>
              <a:rPr b="0" sz="2000"/>
              <a:t>Apply the equation and prove it always balances</a:t>
            </a:r>
          </a:p>
          <a:p>
            <a:pPr>
              <a:spcAft>
                <a:spcPts val="1000"/>
              </a:spcAft>
            </a:pPr>
            <a:r>
              <a:rPr b="0" sz="2000"/>
              <a:t>State the double-entry (duality) debit/credit rules</a:t>
            </a:r>
          </a:p>
          <a:p>
            <a:pPr>
              <a:spcAft>
                <a:spcPts val="1000"/>
              </a:spcAft>
            </a:pPr>
            <a:r>
              <a:rPr b="0" sz="2000"/>
              <a:t>Prepare simple T-accounts and balance them</a:t>
            </a:r>
          </a:p>
          <a:p>
            <a:pPr>
              <a:spcAft>
                <a:spcPts val="1000"/>
              </a:spcAft>
            </a:pPr>
            <a:r>
              <a:rPr b="0" sz="2000"/>
              <a:t>Prepare a balance sheet; compute missing capital by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accounting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Assets = Capital + Liabilities</a:t>
            </a:r>
            <a:r>
              <a:rPr b="0" sz="2000"/>
              <a:t> — foundation of double entry</a:t>
            </a:r>
          </a:p>
          <a:p>
            <a:pPr>
              <a:spcAft>
                <a:spcPts val="1000"/>
              </a:spcAft>
            </a:pPr>
            <a:r>
              <a:rPr b="0" sz="2000"/>
              <a:t>Assets = what the business owns; financed by debt or equity</a:t>
            </a:r>
          </a:p>
          <a:p>
            <a:pPr>
              <a:spcAft>
                <a:spcPts val="1000"/>
              </a:spcAft>
            </a:pPr>
            <a:r>
              <a:rPr b="0" sz="2000"/>
              <a:t>Creditors are paid before owners in bankruptcy</a:t>
            </a:r>
          </a:p>
          <a:p>
            <a:pPr>
              <a:spcAft>
                <a:spcPts val="1000"/>
              </a:spcAft>
            </a:pPr>
            <a:r>
              <a:rPr b="0" sz="2000"/>
              <a:t>The equation </a:t>
            </a:r>
            <a:r>
              <a:rPr b="1" sz="2000"/>
              <a:t>can never be out of balance</a:t>
            </a:r>
          </a:p>
          <a:p>
            <a:pPr>
              <a:spcAft>
                <a:spcPts val="1000"/>
              </a:spcAft>
            </a:pPr>
            <a:r>
              <a:rPr b="0" sz="2000"/>
              <a:t>Asset-for-asset swaps keep total assets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three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Assets</a:t>
            </a:r>
            <a:r>
              <a:rPr b="0" sz="2000"/>
              <a:t> – resources owned/controlled; future benefits (cash, debtors, vans)</a:t>
            </a:r>
          </a:p>
          <a:p>
            <a:pPr>
              <a:spcAft>
                <a:spcPts val="1000"/>
              </a:spcAft>
            </a:pPr>
            <a:r>
              <a:rPr b="1" sz="2000"/>
              <a:t>Liabilities</a:t>
            </a:r>
            <a:r>
              <a:rPr b="0" sz="2000"/>
              <a:t> – amounts owed; creditors' claims (loans, creditors)</a:t>
            </a:r>
          </a:p>
          <a:p>
            <a:pPr>
              <a:spcAft>
                <a:spcPts val="1000"/>
              </a:spcAft>
            </a:pPr>
            <a:r>
              <a:rPr b="1" sz="2000"/>
              <a:t>Capital/Equity</a:t>
            </a:r>
            <a:r>
              <a:rPr b="0" sz="2000"/>
              <a:t> – owner's residual claim after liabilities</a:t>
            </a:r>
          </a:p>
          <a:p>
            <a:pPr>
              <a:spcAft>
                <a:spcPts val="1000"/>
              </a:spcAft>
            </a:pPr>
            <a:r>
              <a:rPr b="0" sz="2000"/>
              <a:t>Revenues </a:t>
            </a:r>
            <a:r>
              <a:rPr b="1" sz="2000"/>
              <a:t>increase</a:t>
            </a:r>
            <a:r>
              <a:rPr b="0" sz="2000"/>
              <a:t> equity; expenses </a:t>
            </a:r>
            <a:r>
              <a:rPr b="1" sz="2000"/>
              <a:t>decrease</a:t>
            </a:r>
            <a:r>
              <a:rPr b="0" sz="2000"/>
              <a:t> it</a:t>
            </a:r>
          </a:p>
          <a:p>
            <a:pPr>
              <a:spcAft>
                <a:spcPts val="1000"/>
              </a:spcAft>
            </a:pPr>
            <a:r>
              <a:rPr b="0" sz="2000"/>
              <a:t>Drawings </a:t>
            </a:r>
            <a:r>
              <a:rPr b="1" sz="2000"/>
              <a:t>decrease</a:t>
            </a:r>
            <a:r>
              <a:rPr b="0" sz="2000"/>
              <a:t>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Duality and the DEAD CLIC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Every transaction has equal </a:t>
            </a:r>
            <a:r>
              <a:rPr b="1" sz="2000"/>
              <a:t>debit</a:t>
            </a:r>
            <a:r>
              <a:rPr b="0" sz="2000"/>
              <a:t> and </a:t>
            </a:r>
            <a:r>
              <a:rPr b="1" sz="2000"/>
              <a:t>credit</a:t>
            </a:r>
            <a:r>
              <a:rPr b="0" sz="2000"/>
              <a:t> aspects</a:t>
            </a:r>
          </a:p>
          <a:p>
            <a:pPr>
              <a:spcAft>
                <a:spcPts val="1000"/>
              </a:spcAft>
            </a:pPr>
            <a:r>
              <a:rPr b="1" sz="2000"/>
              <a:t>DEAD CLIC</a:t>
            </a:r>
            <a:r>
              <a:rPr b="0" sz="2000"/>
              <a:t>: debits increase Expenses, Assets, Drawings</a:t>
            </a:r>
          </a:p>
          <a:p>
            <a:pPr>
              <a:spcAft>
                <a:spcPts val="1000"/>
              </a:spcAft>
            </a:pPr>
            <a:r>
              <a:rPr b="1" sz="2000"/>
              <a:t>CLIC</a:t>
            </a:r>
            <a:r>
              <a:rPr b="0" sz="2000"/>
              <a:t>: credits increase Liabilities, Income, Capital</a:t>
            </a:r>
          </a:p>
          <a:p>
            <a:pPr>
              <a:spcAft>
                <a:spcPts val="1000"/>
              </a:spcAft>
            </a:pPr>
            <a:r>
              <a:rPr b="0" sz="2000"/>
              <a:t>E.g. cash sale: Dr Cash / Cr Sales</a:t>
            </a:r>
          </a:p>
          <a:p>
            <a:pPr>
              <a:spcAft>
                <a:spcPts val="1000"/>
              </a:spcAft>
            </a:pPr>
            <a:r>
              <a:rPr b="0" sz="2000"/>
              <a:t>E.g. credit purchase: Dr Purchases / Cr Creditor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through the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Otieno's Kisumu car wash: capital Sh. 600,000 cash in</a:t>
            </a:r>
          </a:p>
          <a:p>
            <a:pPr>
              <a:spcAft>
                <a:spcPts val="1000"/>
              </a:spcAft>
            </a:pPr>
            <a:r>
              <a:rPr b="0" sz="2000"/>
              <a:t>Buys Sh. 180,000 equipment cash: asset swap, total unchanged</a:t>
            </a:r>
          </a:p>
          <a:p>
            <a:pPr>
              <a:spcAft>
                <a:spcPts val="1000"/>
              </a:spcAft>
            </a:pPr>
            <a:r>
              <a:rPr b="0" sz="2000"/>
              <a:t>Buys Sh. 450,000 van on credit: liabilities rise</a:t>
            </a:r>
          </a:p>
          <a:p>
            <a:pPr>
              <a:spcAft>
                <a:spcPts val="1000"/>
              </a:spcAft>
            </a:pPr>
            <a:r>
              <a:rPr b="0" sz="2000"/>
              <a:t>Pays creditor Sh. 100,000: both assets and liabilities fall</a:t>
            </a:r>
          </a:p>
          <a:p>
            <a:pPr>
              <a:spcAft>
                <a:spcPts val="1000"/>
              </a:spcAft>
            </a:pPr>
            <a:r>
              <a:rPr b="0" sz="2000"/>
              <a:t>Check: 950,000 = 350,000 + 600,000 ✓ after *every*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T-accounts: rules that win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T-account: debits left, credits right — date every line</a:t>
            </a:r>
          </a:p>
          <a:p>
            <a:pPr>
              <a:spcAft>
                <a:spcPts val="1000"/>
              </a:spcAft>
            </a:pPr>
            <a:r>
              <a:rPr b="0" sz="2000"/>
              <a:t>Head the Sh. column; cross-cast both sides before balancing</a:t>
            </a:r>
          </a:p>
          <a:p>
            <a:pPr>
              <a:spcAft>
                <a:spcPts val="1000"/>
              </a:spcAft>
            </a:pPr>
            <a:r>
              <a:rPr b="0" sz="2000"/>
              <a:t>Balance c/d closes the period; balance b/d opens the next</a:t>
            </a:r>
          </a:p>
          <a:p>
            <a:pPr>
              <a:spcAft>
                <a:spcPts val="1000"/>
              </a:spcAft>
            </a:pPr>
            <a:r>
              <a:rPr b="0" sz="2000"/>
              <a:t>Every debit has an equal credit — money comes from somewhere</a:t>
            </a:r>
          </a:p>
          <a:p>
            <a:pPr>
              <a:spcAft>
                <a:spcPts val="1000"/>
              </a:spcAft>
            </a:pPr>
            <a:r>
              <a:rPr b="0" sz="2000"/>
              <a:t>Njeri's bookshop example balances at Sh. 815,000 each side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Balance sheet and capital by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Order non-current assets by </a:t>
            </a:r>
            <a:r>
              <a:rPr b="1" sz="2000"/>
              <a:t>permanence</a:t>
            </a:r>
            <a:r>
              <a:rPr b="0" sz="2000"/>
              <a:t>, current by </a:t>
            </a:r>
            <a:r>
              <a:rPr b="1" sz="2000"/>
              <a:t>liquidity</a:t>
            </a:r>
          </a:p>
          <a:p>
            <a:pPr>
              <a:spcAft>
                <a:spcPts val="1000"/>
              </a:spcAft>
            </a:pPr>
            <a:r>
              <a:rPr b="0" sz="2000"/>
              <a:t>Overdraft is listed *before* creditors (payable on demand)</a:t>
            </a:r>
          </a:p>
          <a:p>
            <a:pPr>
              <a:spcAft>
                <a:spcPts val="1000"/>
              </a:spcAft>
            </a:pPr>
            <a:r>
              <a:rPr b="1" sz="2000"/>
              <a:t>Capital = Assets − Liabilities</a:t>
            </a:r>
            <a:r>
              <a:rPr b="0" sz="2000"/>
              <a:t> — always computable by difference</a:t>
            </a:r>
          </a:p>
          <a:p>
            <a:pPr>
              <a:spcAft>
                <a:spcPts val="1000"/>
              </a:spcAft>
            </a:pPr>
            <a:r>
              <a:rPr b="0" sz="2000"/>
              <a:t>Kamau: assets 76,600 − liabilities 15,000 = </a:t>
            </a:r>
            <a:r>
              <a:rPr b="1" sz="2000"/>
              <a:t>Sh. 61,600</a:t>
            </a:r>
            <a:r>
              <a:rPr b="0" sz="2000"/>
              <a:t> capital</a:t>
            </a:r>
          </a:p>
          <a:p>
            <a:pPr>
              <a:spcAft>
                <a:spcPts val="1000"/>
              </a:spcAft>
            </a:pPr>
            <a:r>
              <a:rPr b="0" sz="2000"/>
              <a:t>Horizontal and vertical formats both accepted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Transactions hitting liabilities and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Unpaid expense: liabilities rise, equity falls — assets unchanged</a:t>
            </a:r>
          </a:p>
          <a:p>
            <a:pPr>
              <a:spcAft>
                <a:spcPts val="1000"/>
              </a:spcAft>
            </a:pPr>
            <a:r>
              <a:rPr b="0" sz="2000"/>
              <a:t>Dividend paid in cash: assets and equity fall equally</a:t>
            </a:r>
          </a:p>
          <a:p>
            <a:pPr>
              <a:spcAft>
                <a:spcPts val="1000"/>
              </a:spcAft>
            </a:pPr>
            <a:r>
              <a:rPr b="0" sz="2000"/>
              <a:t>Both keep the equation balanced ✓</a:t>
            </a:r>
          </a:p>
          <a:p>
            <a:pPr>
              <a:spcAft>
                <a:spcPts val="1000"/>
              </a:spcAft>
            </a:pPr>
            <a:r>
              <a:rPr b="0" sz="2000"/>
              <a:t>These are the classic equation-impact exam questions</a:t>
            </a:r>
          </a:p>
          <a:p>
            <a:pPr>
              <a:spcAft>
                <a:spcPts val="1000"/>
              </a:spcAft>
            </a:pPr>
            <a:r>
              <a:rPr b="0" sz="2000"/>
              <a:t>Write the equation first, show before/after — method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Capital is a </a:t>
            </a:r>
            <a:r>
              <a:rPr b="1" sz="2000"/>
              <a:t>credit</a:t>
            </a:r>
            <a:r>
              <a:rPr b="0" sz="2000"/>
              <a:t> balance — it is owed *to the owner* (separate entity)</a:t>
            </a:r>
          </a:p>
          <a:p>
            <a:pPr>
              <a:spcAft>
                <a:spcPts val="1000"/>
              </a:spcAft>
            </a:pPr>
            <a:r>
              <a:rPr b="0" sz="2000"/>
              <a:t>Expenses are debited, never credited, when they increase</a:t>
            </a:r>
          </a:p>
          <a:p>
            <a:pPr>
              <a:spcAft>
                <a:spcPts val="1000"/>
              </a:spcAft>
            </a:pPr>
            <a:r>
              <a:rPr b="0" sz="2000"/>
              <a:t>Balance c/d closes; balance b/d re-opens on the *opposite* side</a:t>
            </a:r>
          </a:p>
          <a:p>
            <a:pPr>
              <a:spcAft>
                <a:spcPts val="1000"/>
              </a:spcAft>
            </a:pPr>
            <a:r>
              <a:rPr b="0" sz="2000"/>
              <a:t>Balance sheet ordering: permanence then liquidity — easy marks</a:t>
            </a:r>
          </a:p>
          <a:p>
            <a:pPr>
              <a:spcAft>
                <a:spcPts val="1000"/>
              </a:spcAft>
            </a:pPr>
            <a:r>
              <a:rPr b="0" sz="2000"/>
              <a:t>Always cross-cast T-accounts: totals first, then balance c/d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