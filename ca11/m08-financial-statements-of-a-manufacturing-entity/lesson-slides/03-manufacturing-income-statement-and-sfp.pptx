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Manufacturing Income Statement and Statement of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Manufacturing Entity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Use cost of production in place of purchases in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Handle opening/closing finished-goods stocks to get cost of sales</a:t>
            </a:r>
          </a:p>
          <a:p>
            <a:pPr>
              <a:spcAft>
                <a:spcPts val="1000"/>
              </a:spcAft>
            </a:pPr>
            <a:r>
              <a:rPr b="0" sz="2000"/>
              <a:t>Treat manufacturing profit and unrealised profit in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Apportion expenses between manufacturing account and profit and loss</a:t>
            </a:r>
          </a:p>
          <a:p>
            <a:pPr>
              <a:spcAft>
                <a:spcPts val="1000"/>
              </a:spcAft>
            </a:pPr>
            <a:r>
              <a:rPr b="0" sz="2000"/>
              <a:t>Present the SFP with three classes of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From manufacturing account to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Purchases replaced by cost of production from manufacturing account</a:t>
            </a:r>
          </a:p>
          <a:p>
            <a:pPr>
              <a:spcAft>
                <a:spcPts val="1000"/>
              </a:spcAft>
            </a:pPr>
            <a:r>
              <a:rPr b="0" sz="2000"/>
              <a:t>Stocks are FINISHED GOODS only (RM and WIP handled in manufacturing account)</a:t>
            </a:r>
          </a:p>
          <a:p>
            <a:pPr>
              <a:spcAft>
                <a:spcPts val="1000"/>
              </a:spcAft>
            </a:pPr>
            <a:r>
              <a:rPr b="0" sz="2000"/>
              <a:t>If transfer at mark-up: manufacturing profit added after gross profit</a:t>
            </a:r>
          </a:p>
          <a:p>
            <a:pPr>
              <a:spcAft>
                <a:spcPts val="1000"/>
              </a:spcAft>
            </a:pPr>
            <a:r>
              <a:rPr b="0" sz="2000"/>
              <a:t>Expenses: indirect manufacturing → manufacturing account</a:t>
            </a:r>
          </a:p>
          <a:p>
            <a:pPr>
              <a:spcAft>
                <a:spcPts val="1000"/>
              </a:spcAft>
            </a:pPr>
            <a:r>
              <a:rPr b="0" sz="2000"/>
              <a:t>Admin, selling &amp; distribution, finance → profit and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manufacturer's trading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Net sales = sales − returns inwards</a:t>
            </a:r>
          </a:p>
          <a:p>
            <a:pPr>
              <a:spcAft>
                <a:spcPts val="1000"/>
              </a:spcAft>
            </a:pPr>
            <a:r>
              <a:rPr b="0" sz="2000"/>
              <a:t>Cost of sales = opening FG + cost of production − closing FG</a:t>
            </a:r>
          </a:p>
          <a:p>
            <a:pPr>
              <a:spcAft>
                <a:spcPts val="1000"/>
              </a:spcAft>
            </a:pPr>
            <a:r>
              <a:rPr b="0" sz="2000"/>
              <a:t>Gross profit = net sales − cost of sales</a:t>
            </a:r>
          </a:p>
          <a:p>
            <a:pPr>
              <a:spcAft>
                <a:spcPts val="1000"/>
              </a:spcAft>
            </a:pPr>
            <a:r>
              <a:rPr b="0" sz="2000"/>
              <a:t>Add manufacturing profit (if transfer above cost) after gross profit</a:t>
            </a:r>
          </a:p>
          <a:p>
            <a:pPr>
              <a:spcAft>
                <a:spcPts val="1000"/>
              </a:spcAft>
            </a:pPr>
            <a:r>
              <a:rPr b="0" sz="2000"/>
              <a:t>Office salaries, selling expenses, carriage outwards, office depreciation →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Mama Uji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Mama Uji: cost of production transferred at cost = 1,930</a:t>
            </a:r>
          </a:p>
          <a:p>
            <a:pPr>
              <a:spcAft>
                <a:spcPts val="1000"/>
              </a:spcAft>
            </a:pPr>
            <a:r>
              <a:rPr b="0" sz="2000"/>
              <a:t>Cost of sales = 400 + 1,930 − 350 = 1,980; gross profit = 1,470</a:t>
            </a:r>
          </a:p>
          <a:p>
            <a:pPr>
              <a:spcAft>
                <a:spcPts val="1000"/>
              </a:spcAft>
            </a:pPr>
            <a:r>
              <a:rPr b="0" sz="2000"/>
              <a:t>Allowance: 10% × 600 = 60; increase of 20 charged to P&amp;L</a:t>
            </a:r>
          </a:p>
          <a:p>
            <a:pPr>
              <a:spcAft>
                <a:spcPts val="1000"/>
              </a:spcAft>
            </a:pPr>
            <a:r>
              <a:rPr b="0" sz="2000"/>
              <a:t>Net profit 670 — prove via credits 4,070 − debits 3,400 ✓</a:t>
            </a:r>
          </a:p>
          <a:p>
            <a:pPr>
              <a:spcAft>
                <a:spcPts val="1000"/>
              </a:spcAft>
            </a:pPr>
            <a:r>
              <a:rPr b="0" sz="2000"/>
              <a:t>Finish the manufacturing account BEFORE starting the income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Mama Uji SFP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All three inventories shown separately as current assets</a:t>
            </a:r>
          </a:p>
          <a:p>
            <a:pPr>
              <a:spcAft>
                <a:spcPts val="1000"/>
              </a:spcAft>
            </a:pPr>
            <a:r>
              <a:rPr b="0" sz="2000"/>
              <a:t>SFP: raw materials 90 + WIP 130 + finished goods 350 = 570</a:t>
            </a:r>
          </a:p>
          <a:p>
            <a:pPr>
              <a:spcAft>
                <a:spcPts val="1000"/>
              </a:spcAft>
            </a:pPr>
            <a:r>
              <a:rPr b="0" sz="2000"/>
              <a:t>Receivables net of closing allowance: 600 − 60 = 540</a:t>
            </a:r>
          </a:p>
          <a:p>
            <a:pPr>
              <a:spcAft>
                <a:spcPts val="1000"/>
              </a:spcAft>
            </a:pPr>
            <a:r>
              <a:rPr b="0" sz="2000"/>
              <a:t>Plant depreciation 400 = 280 b/d + 120 (charge lived in manufacturing account)</a:t>
            </a:r>
          </a:p>
          <a:p>
            <a:pPr>
              <a:spcAft>
                <a:spcPts val="1000"/>
              </a:spcAft>
            </a:pPr>
            <a:r>
              <a:rPr b="0" sz="2000"/>
              <a:t>Retained earnings = b/d 510 + net profit 670 = 1,180; SFP balances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Mark-up and unrealised profit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Mark-up case: trading takes 2,123 instead of 1,930 (cost + 10%)</a:t>
            </a:r>
          </a:p>
          <a:p>
            <a:pPr>
              <a:spcAft>
                <a:spcPts val="1000"/>
              </a:spcAft>
            </a:pPr>
            <a:r>
              <a:rPr b="0" sz="2000"/>
              <a:t>Add manufacturing profit 193 after gross profit — identical gross result</a:t>
            </a:r>
          </a:p>
          <a:p>
            <a:pPr>
              <a:spcAft>
                <a:spcPts val="1000"/>
              </a:spcAft>
            </a:pPr>
            <a:r>
              <a:rPr b="0" sz="2000"/>
              <a:t>Zawadi Furniture: transfer 800 × 1.20 = 960; manufacturing profit = 160</a:t>
            </a:r>
          </a:p>
          <a:p>
            <a:pPr>
              <a:spcAft>
                <a:spcPts val="1000"/>
              </a:spcAft>
            </a:pPr>
            <a:r>
              <a:rPr b="0" sz="2000"/>
              <a:t>Unrealised profit in closing stock = 240 × 20/120 = 40</a:t>
            </a:r>
          </a:p>
          <a:p>
            <a:pPr>
              <a:spcAft>
                <a:spcPts val="1000"/>
              </a:spcAft>
            </a:pPr>
            <a:r>
              <a:rPr b="0" sz="2000"/>
              <a:t>Net chain: add manufacturing profit, deduct provision increase, less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both adjustments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Add-back corrects GP for mark-up on goods SOLD — not double counting</a:t>
            </a:r>
          </a:p>
          <a:p>
            <a:pPr>
              <a:spcAft>
                <a:spcPts val="1000"/>
              </a:spcAft>
            </a:pPr>
            <a:r>
              <a:rPr b="0" sz="2000"/>
              <a:t>Provision removes mark-up on goods UNSOLD (prudence)</a:t>
            </a:r>
          </a:p>
          <a:p>
            <a:pPr>
              <a:spcAft>
                <a:spcPts val="1000"/>
              </a:spcAft>
            </a:pPr>
            <a:r>
              <a:rPr b="0" sz="2000"/>
              <a:t>SFP: finished goods 240 − provision 40 = 200 (deducted, not a liability)</a:t>
            </a:r>
          </a:p>
          <a:p>
            <a:pPr>
              <a:spcAft>
                <a:spcPts val="1000"/>
              </a:spcAft>
            </a:pPr>
            <a:r>
              <a:rPr b="0" sz="2000"/>
              <a:t>If closing stock is nil, no unrealised profit at all</a:t>
            </a:r>
          </a:p>
          <a:p>
            <a:pPr>
              <a:spcAft>
                <a:spcPts val="1000"/>
              </a:spcAft>
            </a:pPr>
            <a:r>
              <a:rPr b="0" sz="2000"/>
              <a:t>Never add manufacturing profit when transfer was at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Articulation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Manufacturing account transfer = trading "cost of production" line</a:t>
            </a:r>
          </a:p>
          <a:p>
            <a:pPr>
              <a:spcAft>
                <a:spcPts val="1000"/>
              </a:spcAft>
            </a:pPr>
            <a:r>
              <a:rPr b="0" sz="2000"/>
              <a:t>Closing FG in trading account = SFP finished goods (after provision)</a:t>
            </a:r>
          </a:p>
          <a:p>
            <a:pPr>
              <a:spcAft>
                <a:spcPts val="1000"/>
              </a:spcAft>
            </a:pPr>
            <a:r>
              <a:rPr b="0" sz="2000"/>
              <a:t>Net profit = addition to retained earnings in the SFP</a:t>
            </a:r>
          </a:p>
          <a:p>
            <a:pPr>
              <a:spcAft>
                <a:spcPts val="1000"/>
              </a:spcAft>
            </a:pPr>
            <a:r>
              <a:rPr b="0" sz="2000"/>
              <a:t>Every depreciation appears twice: as an expense AND in accumulated depreciation</a:t>
            </a:r>
          </a:p>
          <a:p>
            <a:pPr>
              <a:spcAft>
                <a:spcPts val="1000"/>
              </a:spcAft>
            </a:pPr>
            <a:r>
              <a:rPr b="0" sz="2000"/>
              <a:t>Allowance movement = P&amp;L charge; SFP shows receivables net of closing allowance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Always label which stock you mean — "finished goods", never bare "stock"</a:t>
            </a:r>
          </a:p>
          <a:p>
            <a:pPr>
              <a:spcAft>
                <a:spcPts val="1000"/>
              </a:spcAft>
            </a:pPr>
            <a:r>
              <a:rPr b="0" sz="2000"/>
              <a:t>Carry the manufacturing-account transfer figure across unchanged</a:t>
            </a:r>
          </a:p>
          <a:p>
            <a:pPr>
              <a:spcAft>
                <a:spcPts val="1000"/>
              </a:spcAft>
            </a:pPr>
            <a:r>
              <a:rPr b="0" sz="2000"/>
              <a:t>Allowance movement (new − old) is the P&amp;L charge — compute, don't guess</a:t>
            </a:r>
          </a:p>
          <a:p>
            <a:pPr>
              <a:spcAft>
                <a:spcPts val="1000"/>
              </a:spcAft>
            </a:pPr>
            <a:r>
              <a:rPr b="0" sz="2000"/>
              <a:t>Deduct the allowance from receivables on the face of the SFP</a:t>
            </a:r>
          </a:p>
          <a:p>
            <a:pPr>
              <a:spcAft>
                <a:spcPts val="1000"/>
              </a:spcAft>
            </a:pPr>
            <a:r>
              <a:rPr b="0" sz="2000"/>
              <a:t>Prove net profit with the credits-minus-debits 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