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Adjustments and Worked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Financial Statements of a Sole Trader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Explain the accrual (matching) concept and why year-end adjustments are needed</a:t>
            </a:r>
          </a:p>
          <a:p>
            <a:pPr>
              <a:spcAft>
                <a:spcPts val="1000"/>
              </a:spcAft>
            </a:pPr>
            <a:r>
              <a:rPr b="0" sz="2000"/>
              <a:t>Adjust for accrued (outstanding) and prepaid expenses with correct double entries</a:t>
            </a:r>
          </a:p>
          <a:p>
            <a:pPr>
              <a:spcAft>
                <a:spcPts val="1000"/>
              </a:spcAft>
            </a:pPr>
            <a:r>
              <a:rPr b="0" sz="2000"/>
              <a:t>Provide for depreciation: straight-line, reducing-balance and pro-rata</a:t>
            </a:r>
          </a:p>
          <a:p>
            <a:pPr>
              <a:spcAft>
                <a:spcPts val="1000"/>
              </a:spcAft>
            </a:pPr>
            <a:r>
              <a:rPr b="0" sz="2000"/>
              <a:t>Write off bad debts and adjust provisions for bad debts</a:t>
            </a:r>
          </a:p>
          <a:p>
            <a:pPr>
              <a:spcAft>
                <a:spcPts val="1000"/>
              </a:spcAft>
            </a:pPr>
            <a:r>
              <a:rPr b="0" sz="2000"/>
              <a:t>Adjust for drawings in kind, accrued loan interest and discount on debtors</a:t>
            </a:r>
          </a:p>
          <a:p>
            <a:pPr>
              <a:spcAft>
                <a:spcPts val="1000"/>
              </a:spcAft>
            </a:pPr>
            <a:r>
              <a:rPr b="0" sz="2000"/>
              <a:t>Prepare a full income statement and SOFP from a trial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Why adjustments exist: the matching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The trial balance shows what was paid/received; profit shows what was incurred/earned</a:t>
            </a:r>
          </a:p>
          <a:p>
            <a:pPr>
              <a:spcAft>
                <a:spcPts val="1000"/>
              </a:spcAft>
            </a:pPr>
            <a:r>
              <a:rPr b="0" sz="2000"/>
              <a:t>Accrued expense: incurred, not paid → add to expense; current liability</a:t>
            </a:r>
          </a:p>
          <a:p>
            <a:pPr>
              <a:spcAft>
                <a:spcPts val="1000"/>
              </a:spcAft>
            </a:pPr>
            <a:r>
              <a:rPr b="0" sz="2000"/>
              <a:t>Prepaid expense: paid, not incurred → deduct from expense; current asset</a:t>
            </a:r>
          </a:p>
          <a:p>
            <a:pPr>
              <a:spcAft>
                <a:spcPts val="1000"/>
              </a:spcAft>
            </a:pPr>
            <a:r>
              <a:rPr b="0" sz="2000"/>
              <a:t>Asset consumed (depreciation): charge the expired portion to the income statement</a:t>
            </a:r>
          </a:p>
          <a:p>
            <a:pPr>
              <a:spcAft>
                <a:spcPts val="1000"/>
              </a:spcAft>
            </a:pPr>
            <a:r>
              <a:rPr b="0" sz="2000"/>
              <a:t>Probable future loss (provision): charge the expected loss now (prudence concept)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Accrued and prepaid expenses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Accrued: Dr Expense account / Cr Outstanding expenses account</a:t>
            </a:r>
          </a:p>
          <a:p>
            <a:pPr>
              <a:spcAft>
                <a:spcPts val="1000"/>
              </a:spcAft>
            </a:pPr>
            <a:r>
              <a:rPr b="0" sz="2000"/>
              <a:t>Salaries Sh.1,350,000 paid + Sh.90,000 December unpaid → charge Sh.1,440,000</a:t>
            </a:r>
          </a:p>
          <a:p>
            <a:pPr>
              <a:spcAft>
                <a:spcPts val="1000"/>
              </a:spcAft>
            </a:pPr>
            <a:r>
              <a:rPr b="0" sz="2000"/>
              <a:t>Accrued salaries Sh.90,000 sit under current liabilities</a:t>
            </a:r>
          </a:p>
          <a:p>
            <a:pPr>
              <a:spcAft>
                <a:spcPts val="1000"/>
              </a:spcAft>
            </a:pPr>
            <a:r>
              <a:rPr b="0" sz="2000"/>
              <a:t>Prepaid: Dr Prepaid expenses (asset) / Cr Expense account</a:t>
            </a:r>
          </a:p>
          <a:p>
            <a:pPr>
              <a:spcAft>
                <a:spcPts val="1000"/>
              </a:spcAft>
            </a:pPr>
            <a:r>
              <a:rPr b="0" sz="2000"/>
              <a:t>Rent Sh.480,000 includes Sh.60,000 for next year → charge Sh.420,000</a:t>
            </a:r>
          </a:p>
          <a:p>
            <a:pPr>
              <a:spcAft>
                <a:spcPts val="1000"/>
              </a:spcAft>
            </a:pPr>
            <a:r>
              <a:rPr b="0" sz="2000"/>
              <a:t>Prepaid rent Sh.60,000 is a current asset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Depreciation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Depreciation: the permanent fall in value from use and the passage of time</a:t>
            </a:r>
          </a:p>
          <a:p>
            <a:pPr>
              <a:spcAft>
                <a:spcPts val="1000"/>
              </a:spcAft>
            </a:pPr>
            <a:r>
              <a:rPr b="0" sz="2000"/>
              <a:t>Journal: Dr Depreciation / Cr Provision for depreciation</a:t>
            </a:r>
          </a:p>
          <a:p>
            <a:pPr>
              <a:spcAft>
                <a:spcPts val="1000"/>
              </a:spcAft>
            </a:pPr>
            <a:r>
              <a:rPr b="0" sz="2000"/>
              <a:t>Straight-line: fixed % of cost — 10% × Sh.800,000 = Sh.80,000 p.a.</a:t>
            </a:r>
          </a:p>
          <a:p>
            <a:pPr>
              <a:spcAft>
                <a:spcPts val="1000"/>
              </a:spcAft>
            </a:pPr>
            <a:r>
              <a:rPr b="0" sz="2000"/>
              <a:t>Reducing-balance: fixed % of NBV — 20% × Sh.1,000,000 = Sh.200,000 in year 1</a:t>
            </a:r>
          </a:p>
          <a:p>
            <a:pPr>
              <a:spcAft>
                <a:spcPts val="1000"/>
              </a:spcAft>
            </a:pPr>
            <a:r>
              <a:rPr b="0" sz="2000"/>
              <a:t>Pro-rata: asset bought mid-year — 20% × cost × 3/12</a:t>
            </a:r>
          </a:p>
          <a:p>
            <a:pPr>
              <a:spcAft>
                <a:spcPts val="1000"/>
              </a:spcAft>
            </a:pPr>
            <a:r>
              <a:rPr b="0" sz="2000"/>
              <a:t>Accumulated depreciation is deducted from cost — never a 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Bad debts and provisions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Bad debt written off: Dr Bad debts / Cr Debtor; then to the income statement</a:t>
            </a:r>
          </a:p>
          <a:p>
            <a:pPr>
              <a:spcAft>
                <a:spcPts val="1000"/>
              </a:spcAft>
            </a:pPr>
            <a:r>
              <a:rPr b="0" sz="2000"/>
              <a:t>Bad debts already in the TB go straight to the income statement</a:t>
            </a:r>
          </a:p>
          <a:p>
            <a:pPr>
              <a:spcAft>
                <a:spcPts val="1000"/>
              </a:spcAft>
            </a:pPr>
            <a:r>
              <a:rPr b="0" sz="2000"/>
              <a:t>Provision for bad debts: a prudence estimate charged to profit</a:t>
            </a:r>
          </a:p>
          <a:p>
            <a:pPr>
              <a:spcAft>
                <a:spcPts val="1000"/>
              </a:spcAft>
            </a:pPr>
            <a:r>
              <a:rPr b="0" sz="2000"/>
              <a:t>No TB provision → Dr IS / Cr Provision for the full new amount</a:t>
            </a:r>
          </a:p>
          <a:p>
            <a:pPr>
              <a:spcAft>
                <a:spcPts val="1000"/>
              </a:spcAft>
            </a:pPr>
            <a:r>
              <a:rPr b="0" sz="2000"/>
              <a:t>TB provision exists → charge or credit only the INCREASE or DECREASE</a:t>
            </a:r>
          </a:p>
          <a:p>
            <a:pPr>
              <a:spcAft>
                <a:spcPts val="1000"/>
              </a:spcAft>
            </a:pPr>
            <a:r>
              <a:rPr b="0" sz="2000"/>
              <a:t>Only the NEW provision is deducted from debtors in the SOFP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Other standard adjustments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Drawings in kind: Dr Drawings / Cr Purchases — at cost, not selling price</a:t>
            </a:r>
          </a:p>
          <a:p>
            <a:pPr>
              <a:spcAft>
                <a:spcPts val="1000"/>
              </a:spcAft>
            </a:pPr>
            <a:r>
              <a:rPr b="0" sz="2000"/>
              <a:t>Accrued loan interest: Dr Interest on loan / Cr Accrued interest</a:t>
            </a:r>
          </a:p>
          <a:p>
            <a:pPr>
              <a:spcAft>
                <a:spcPts val="1000"/>
              </a:spcAft>
            </a:pPr>
            <a:r>
              <a:rPr b="0" sz="2000"/>
              <a:t>Sole trader's income tax = drawings, never a business expense</a:t>
            </a:r>
          </a:p>
          <a:p>
            <a:pPr>
              <a:spcAft>
                <a:spcPts val="1000"/>
              </a:spcAft>
            </a:pPr>
            <a:r>
              <a:rPr b="0" sz="2000"/>
              <a:t>Approval goods: cancel the sale at selling price, add back to stock at cost</a:t>
            </a:r>
          </a:p>
          <a:p>
            <a:pPr>
              <a:spcAft>
                <a:spcPts val="1000"/>
              </a:spcAft>
            </a:pPr>
            <a:r>
              <a:rPr b="0" sz="2000"/>
              <a:t>Free samples: Dr Advertisement / Cr Purchases</a:t>
            </a:r>
          </a:p>
          <a:p>
            <a:pPr>
              <a:spcAft>
                <a:spcPts val="1000"/>
              </a:spcAft>
            </a:pPr>
            <a:r>
              <a:rPr b="0" sz="2000"/>
              <a:t>Discount on debtors: computed after bad debts and the bad-debt provision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Full worked example: income statement (D. Achieng)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Net sales: 6,500,000 − 90,000 returns inwards = Sh.6,410,000</a:t>
            </a:r>
          </a:p>
          <a:p>
            <a:pPr>
              <a:spcAft>
                <a:spcPts val="1000"/>
              </a:spcAft>
            </a:pPr>
            <a:r>
              <a:rPr b="0" sz="2000"/>
              <a:t>Cost of sales: 4,560,000 + 110,000 − 70,000 − 510,000 = Sh.4,510,000</a:t>
            </a:r>
          </a:p>
          <a:p>
            <a:pPr>
              <a:spcAft>
                <a:spcPts val="1000"/>
              </a:spcAft>
            </a:pPr>
            <a:r>
              <a:rPr b="0" sz="2000"/>
              <a:t>Gross profit Sh.1,900,000 + discount received Sh.60,000</a:t>
            </a:r>
          </a:p>
          <a:p>
            <a:pPr>
              <a:spcAft>
                <a:spcPts val="1000"/>
              </a:spcAft>
            </a:pPr>
            <a:r>
              <a:rPr b="0" sz="2000"/>
              <a:t>Expenses: salaries Sh.1,440,000; rent Sh.420,000; insurance Sh.105,000</a:t>
            </a:r>
          </a:p>
          <a:p>
            <a:pPr>
              <a:spcAft>
                <a:spcPts val="1000"/>
              </a:spcAft>
            </a:pPr>
            <a:r>
              <a:rPr b="0" sz="2000"/>
              <a:t>Provision increase Sh.7,500; depreciation Sh.80,000; loan interest Sh.100,000</a:t>
            </a:r>
          </a:p>
          <a:p>
            <a:pPr>
              <a:spcAft>
                <a:spcPts val="1000"/>
              </a:spcAft>
            </a:pPr>
            <a:r>
              <a:rPr b="0" sz="2000"/>
              <a:t>Net LOSS Sh.(327,500) — always read what the numbers tell you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Full worked example: statement of financial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Non-current assets: premises 3,000,000 + equipment NBV 480,000</a:t>
            </a:r>
          </a:p>
          <a:p>
            <a:pPr>
              <a:spcAft>
                <a:spcPts val="1000"/>
              </a:spcAft>
            </a:pPr>
            <a:r>
              <a:rPr b="0" sz="2000"/>
              <a:t>Current assets: stock, debtors Sh.902,500, bank, cash, prepayments Sh.75,000</a:t>
            </a:r>
          </a:p>
          <a:p>
            <a:pPr>
              <a:spcAft>
                <a:spcPts val="1000"/>
              </a:spcAft>
            </a:pPr>
            <a:r>
              <a:rPr b="0" sz="2000"/>
              <a:t>Total assets Sh.5,692,500</a:t>
            </a:r>
          </a:p>
          <a:p>
            <a:pPr>
              <a:spcAft>
                <a:spcPts val="1000"/>
              </a:spcAft>
            </a:pPr>
            <a:r>
              <a:rPr b="0" sz="2000"/>
              <a:t>Capital 4,500,000 − net loss 327,500 − drawings 340,000 = Sh.3,832,500</a:t>
            </a:r>
          </a:p>
          <a:p>
            <a:pPr>
              <a:spcAft>
                <a:spcPts val="1000"/>
              </a:spcAft>
            </a:pPr>
            <a:r>
              <a:rPr b="0" sz="2000"/>
              <a:t>Liabilities: bank loan 1,000,000; creditors; accrued salaries; accrued interest</a:t>
            </a:r>
          </a:p>
          <a:p>
            <a:pPr>
              <a:spcAft>
                <a:spcPts val="1000"/>
              </a:spcAft>
            </a:pPr>
            <a:r>
              <a:rPr b="0" sz="2000"/>
              <a:t>Check: 3,480,000 + 2,212,500 = 5,692,500 ✓ — the statement balances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Common exam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Adding prepayments to expenses instead of deducting them</a:t>
            </a:r>
          </a:p>
          <a:p>
            <a:pPr>
              <a:spcAft>
                <a:spcPts val="1000"/>
              </a:spcAft>
            </a:pPr>
            <a:r>
              <a:rPr b="0" sz="2000"/>
              <a:t>Forgetting the accrued expense in BOTH places — IS charge AND liability</a:t>
            </a:r>
          </a:p>
          <a:p>
            <a:pPr>
              <a:spcAft>
                <a:spcPts val="1000"/>
              </a:spcAft>
            </a:pPr>
            <a:r>
              <a:rPr b="0" sz="2000"/>
              <a:t>Using the OLD provision in the SOFP — only the new one is deducted</a:t>
            </a:r>
          </a:p>
          <a:p>
            <a:pPr>
              <a:spcAft>
                <a:spcPts val="1000"/>
              </a:spcAft>
            </a:pPr>
            <a:r>
              <a:rPr b="0" sz="2000"/>
              <a:t>Depreciating on cost when the policy says reducing balance</a:t>
            </a:r>
          </a:p>
          <a:p>
            <a:pPr>
              <a:spcAft>
                <a:spcPts val="1000"/>
              </a:spcAft>
            </a:pPr>
            <a:r>
              <a:rPr b="0" sz="2000"/>
              <a:t>Valuing drawings in kind at selling price — always at cost</a:t>
            </a:r>
          </a:p>
          <a:p>
            <a:pPr>
              <a:spcAft>
                <a:spcPts val="1000"/>
              </a:spcAft>
            </a:pPr>
            <a:r>
              <a:rPr b="0" sz="2000"/>
              <a:t>Charging full-year depreciation on mid-year purchases — pro-rata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Every adjustment hits TWO places: the income statement and the SOFP</a:t>
            </a:r>
          </a:p>
          <a:p>
            <a:pPr>
              <a:spcAft>
                <a:spcPts val="1000"/>
              </a:spcAft>
            </a:pPr>
            <a:r>
              <a:rPr b="0" sz="2000"/>
              <a:t>Accruals add to expenses; prepayments reduce them</a:t>
            </a:r>
          </a:p>
          <a:p>
            <a:pPr>
              <a:spcAft>
                <a:spcPts val="1000"/>
              </a:spcAft>
            </a:pPr>
            <a:r>
              <a:rPr b="0" sz="2000"/>
              <a:t>Compute net sales, net purchases, new provisions and depreciation first</a:t>
            </a:r>
          </a:p>
          <a:p>
            <a:pPr>
              <a:spcAft>
                <a:spcPts val="1000"/>
              </a:spcAft>
            </a:pPr>
            <a:r>
              <a:rPr b="0" sz="2000"/>
              <a:t>Build an adjustments table: one row per item, IS effect + SOFP effect</a:t>
            </a:r>
          </a:p>
          <a:p>
            <a:pPr>
              <a:spcAft>
                <a:spcPts val="1000"/>
              </a:spcAft>
            </a:pPr>
            <a:r>
              <a:rPr b="0" sz="2000"/>
              <a:t>Show every working (W1, W2...) — method marks rescue slipped numbers</a:t>
            </a:r>
          </a:p>
          <a:p>
            <a:pPr>
              <a:spcAft>
                <a:spcPts val="1000"/>
              </a:spcAft>
            </a:pPr>
            <a:r>
              <a:rPr b="0" sz="2000"/>
              <a:t>End with the accounting-equation check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