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097280"/>
            <a:ext cx="10881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C8102E"/>
                </a:solidFill>
              </a:rPr>
              <a:t>CA11  FINANCIAL  ACCOUNTING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28800"/>
            <a:ext cx="10881360" cy="2194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400" b="1"/>
              <a:t>Nature and Purpose of Accounting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931920"/>
            <a:ext cx="108813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>
                <a:solidFill>
                  <a:srgbClr val="6E6E6E"/>
                </a:solidFill>
              </a:rPr>
              <a:t>CA11 Financial Accounting • Introduction to Accounting</a:t>
            </a:r>
          </a:p>
        </p:txBody>
      </p:sp>
      <p:pic>
        <p:nvPicPr>
          <p:cNvPr id="5" name="Picture 4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1848" y="512064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7" name="Picture 6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16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Learning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0" sz="2000"/>
              <a:t>Define accounting: science, art and information system</a:t>
            </a:r>
          </a:p>
          <a:p>
            <a:pPr>
              <a:spcAft>
                <a:spcPts val="1000"/>
              </a:spcAft>
            </a:pPr>
            <a:r>
              <a:rPr b="0" sz="2000"/>
              <a:t>Explain the five objectives of accounting</a:t>
            </a:r>
          </a:p>
          <a:p>
            <a:pPr>
              <a:spcAft>
                <a:spcPts val="1000"/>
              </a:spcAft>
            </a:pPr>
            <a:r>
              <a:rPr b="0" sz="2000"/>
              <a:t>Identify the seven users of accounting information (</a:t>
            </a:r>
            <a:r>
              <a:rPr b="1" sz="2000"/>
              <a:t>GESCLIP</a:t>
            </a:r>
            <a:r>
              <a:rPr b="0" sz="2000"/>
              <a:t>)</a:t>
            </a:r>
          </a:p>
          <a:p>
            <a:pPr>
              <a:spcAft>
                <a:spcPts val="1000"/>
              </a:spcAft>
            </a:pPr>
            <a:r>
              <a:rPr b="0" sz="2000"/>
              <a:t>Distinguish quantitative, qualitative and financial information</a:t>
            </a:r>
          </a:p>
          <a:p>
            <a:pPr>
              <a:spcAft>
                <a:spcPts val="1000"/>
              </a:spcAft>
            </a:pPr>
            <a:r>
              <a:rPr b="0" sz="2000"/>
              <a:t>Classify the branches of accounting and their purposes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6" name="Picture 5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16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What is accounting?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2000"/>
              <a:t>Science</a:t>
            </a:r>
            <a:r>
              <a:rPr b="0" sz="2000"/>
              <a:t>: identify → measure → communicate economic information</a:t>
            </a:r>
          </a:p>
          <a:p>
            <a:pPr>
              <a:spcAft>
                <a:spcPts val="1000"/>
              </a:spcAft>
            </a:pPr>
            <a:r>
              <a:rPr b="1" sz="2000"/>
              <a:t>Art</a:t>
            </a:r>
            <a:r>
              <a:rPr b="0" sz="2000"/>
              <a:t>: record (journalize) → classify (post) → summarize → interpret</a:t>
            </a:r>
          </a:p>
          <a:p>
            <a:pPr>
              <a:spcAft>
                <a:spcPts val="1000"/>
              </a:spcAft>
            </a:pPr>
            <a:r>
              <a:rPr b="1" sz="2000"/>
              <a:t>Information system</a:t>
            </a:r>
            <a:r>
              <a:rPr b="0" sz="2000"/>
              <a:t>: service providing quantitative info for decisions</a:t>
            </a:r>
          </a:p>
          <a:p>
            <a:pPr>
              <a:spcAft>
                <a:spcPts val="1000"/>
              </a:spcAft>
            </a:pPr>
            <a:r>
              <a:rPr b="0" sz="2000"/>
              <a:t>In one line: record, classify, summarize, communicate to users</a:t>
            </a:r>
          </a:p>
          <a:p>
            <a:pPr>
              <a:spcAft>
                <a:spcPts val="1000"/>
              </a:spcAft>
            </a:pPr>
            <a:r>
              <a:rPr b="0" sz="2000"/>
              <a:t>All info is quantitative, qualitative or financial in character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6" name="Picture 5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16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Three types of accounting information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2000"/>
              <a:t>Quantitative</a:t>
            </a:r>
            <a:r>
              <a:rPr b="0" sz="2000"/>
              <a:t> – in numbers/units, e.g. 2,000 units of stock</a:t>
            </a:r>
          </a:p>
          <a:p>
            <a:pPr>
              <a:spcAft>
                <a:spcPts val="1000"/>
              </a:spcAft>
            </a:pPr>
            <a:r>
              <a:rPr b="1" sz="2000"/>
              <a:t>Qualitative</a:t>
            </a:r>
            <a:r>
              <a:rPr b="0" sz="2000"/>
              <a:t> – in words, e.g. strong governance</a:t>
            </a:r>
          </a:p>
          <a:p>
            <a:pPr>
              <a:spcAft>
                <a:spcPts val="1000"/>
              </a:spcAft>
            </a:pPr>
            <a:r>
              <a:rPr b="1" sz="2000"/>
              <a:t>Financial</a:t>
            </a:r>
            <a:r>
              <a:rPr b="0" sz="2000"/>
              <a:t> – in money terms, e.g. profit of Sh. 4,200,000</a:t>
            </a:r>
          </a:p>
          <a:p>
            <a:pPr>
              <a:spcAft>
                <a:spcPts val="1000"/>
              </a:spcAft>
            </a:pPr>
            <a:r>
              <a:rPr b="0" sz="2000"/>
              <a:t>Exam trap: financial info is a *subset* of accounting info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6" name="Picture 5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16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Objectives of accounting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2000"/>
              <a:t>Systematic recording</a:t>
            </a:r>
            <a:r>
              <a:rPr b="0" sz="2000"/>
              <a:t> – bookkeeping in chronological order</a:t>
            </a:r>
          </a:p>
          <a:p>
            <a:pPr>
              <a:spcAft>
                <a:spcPts val="1000"/>
              </a:spcAft>
            </a:pPr>
            <a:r>
              <a:rPr b="1" sz="2000"/>
              <a:t>Ascertain results</a:t>
            </a:r>
            <a:r>
              <a:rPr b="0" sz="2000"/>
              <a:t> – profit or loss for the period</a:t>
            </a:r>
          </a:p>
          <a:p>
            <a:pPr>
              <a:spcAft>
                <a:spcPts val="1000"/>
              </a:spcAft>
            </a:pPr>
            <a:r>
              <a:rPr b="1" sz="2000"/>
              <a:t>Ascertain financial position</a:t>
            </a:r>
            <a:r>
              <a:rPr b="0" sz="2000"/>
              <a:t> – what the business owns and owes</a:t>
            </a:r>
          </a:p>
          <a:p>
            <a:pPr>
              <a:spcAft>
                <a:spcPts val="1000"/>
              </a:spcAft>
            </a:pPr>
            <a:r>
              <a:rPr b="1" sz="2000"/>
              <a:t>Decision-useful information</a:t>
            </a:r>
            <a:r>
              <a:rPr b="0" sz="2000"/>
              <a:t> – communicate monetary results to users</a:t>
            </a:r>
          </a:p>
          <a:p>
            <a:pPr>
              <a:spcAft>
                <a:spcPts val="1000"/>
              </a:spcAft>
            </a:pPr>
            <a:r>
              <a:rPr b="1" sz="2000"/>
              <a:t>Solvency &amp; liquidity</a:t>
            </a:r>
            <a:r>
              <a:rPr b="0" sz="2000"/>
              <a:t> – ability to meet long-run and short-run dues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6" name="Picture 5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16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Users of accounting information (1/2)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2000"/>
              <a:t>G – Government</a:t>
            </a:r>
            <a:r>
              <a:rPr b="0" sz="2000"/>
              <a:t>: assess tax (KRA), licences, economic policy</a:t>
            </a:r>
          </a:p>
          <a:p>
            <a:pPr>
              <a:spcAft>
                <a:spcPts val="1000"/>
              </a:spcAft>
            </a:pPr>
            <a:r>
              <a:rPr b="1" sz="2000"/>
              <a:t>E – Employees</a:t>
            </a:r>
            <a:r>
              <a:rPr b="0" sz="2000"/>
              <a:t>: job security, bonuses, pension schemes</a:t>
            </a:r>
          </a:p>
          <a:p>
            <a:pPr>
              <a:spcAft>
                <a:spcPts val="1000"/>
              </a:spcAft>
            </a:pPr>
            <a:r>
              <a:rPr b="1" sz="2000"/>
              <a:t>S – Suppliers</a:t>
            </a:r>
            <a:r>
              <a:rPr b="0" sz="2000"/>
              <a:t>: can the business pay accounts on time?</a:t>
            </a:r>
          </a:p>
          <a:p>
            <a:pPr>
              <a:spcAft>
                <a:spcPts val="1000"/>
              </a:spcAft>
            </a:pPr>
            <a:r>
              <a:rPr b="1" sz="2000"/>
              <a:t>C – Customers</a:t>
            </a:r>
            <a:r>
              <a:rPr b="0" sz="2000"/>
              <a:t>: continuity, e.g. before a long engagement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6" name="Picture 5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16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Users of accounting information (2/2)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2000"/>
              <a:t>L – Lenders</a:t>
            </a:r>
            <a:r>
              <a:rPr b="0" sz="2000"/>
              <a:t>: ability to repay loans and interest</a:t>
            </a:r>
          </a:p>
          <a:p>
            <a:pPr>
              <a:spcAft>
                <a:spcPts val="1000"/>
              </a:spcAft>
            </a:pPr>
            <a:r>
              <a:rPr b="1" sz="2000"/>
              <a:t>I – Investors</a:t>
            </a:r>
            <a:r>
              <a:rPr b="0" sz="2000"/>
              <a:t>: buy/hold/sell decisions, performance &amp; cash flows</a:t>
            </a:r>
          </a:p>
          <a:p>
            <a:pPr>
              <a:spcAft>
                <a:spcPts val="1000"/>
              </a:spcAft>
            </a:pPr>
            <a:r>
              <a:rPr b="1" sz="2000"/>
              <a:t>P – Public</a:t>
            </a:r>
            <a:r>
              <a:rPr b="0" sz="2000"/>
              <a:t>: economy tracking, retirement planning</a:t>
            </a:r>
          </a:p>
          <a:p>
            <a:pPr>
              <a:spcAft>
                <a:spcPts val="1000"/>
              </a:spcAft>
            </a:pPr>
            <a:r>
              <a:rPr b="0" sz="2000"/>
              <a:t>Exam trap: suppliers give *goods* on credit; lenders give *money*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6" name="Picture 5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16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Branches of accounting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2000"/>
              <a:t>Financial accounting</a:t>
            </a:r>
            <a:r>
              <a:rPr b="0" sz="2000"/>
              <a:t> → general-purpose statements for external users</a:t>
            </a:r>
          </a:p>
          <a:p>
            <a:pPr>
              <a:spcAft>
                <a:spcPts val="1000"/>
              </a:spcAft>
            </a:pPr>
            <a:r>
              <a:rPr b="1" sz="2000"/>
              <a:t>Cost accounting</a:t>
            </a:r>
            <a:r>
              <a:rPr b="0" sz="2000"/>
              <a:t> → product/job costs; pricing and cost control</a:t>
            </a:r>
          </a:p>
          <a:p>
            <a:pPr>
              <a:spcAft>
                <a:spcPts val="1000"/>
              </a:spcAft>
            </a:pPr>
            <a:r>
              <a:rPr b="1" sz="2000"/>
              <a:t>Management accounting</a:t>
            </a:r>
            <a:r>
              <a:rPr b="0" sz="2000"/>
              <a:t> → budgets, forecasts, variance analysis</a:t>
            </a:r>
          </a:p>
          <a:p>
            <a:pPr>
              <a:spcAft>
                <a:spcPts val="1000"/>
              </a:spcAft>
            </a:pPr>
            <a:r>
              <a:rPr b="1" sz="2000"/>
              <a:t>Tax accounting</a:t>
            </a:r>
            <a:r>
              <a:rPr b="0" sz="2000"/>
              <a:t> → taxable income per tax law (Kenyan Income Tax Act)</a:t>
            </a:r>
          </a:p>
          <a:p>
            <a:pPr>
              <a:spcAft>
                <a:spcPts val="1000"/>
              </a:spcAft>
            </a:pPr>
            <a:r>
              <a:rPr b="1" sz="2000"/>
              <a:t>Auditing</a:t>
            </a:r>
            <a:r>
              <a:rPr b="0" sz="2000"/>
              <a:t> → opinion: true and fair view; </a:t>
            </a:r>
            <a:r>
              <a:rPr b="1" sz="2000"/>
              <a:t>Forensic</a:t>
            </a:r>
            <a:r>
              <a:rPr b="0" sz="2000"/>
              <a:t> → fraud investigation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6" name="Picture 5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16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The accounting process in 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0" sz="2000"/>
              <a:t>Identify → measure → record → classify → summarize → communicate</a:t>
            </a:r>
          </a:p>
          <a:p>
            <a:pPr>
              <a:spcAft>
                <a:spcPts val="1000"/>
              </a:spcAft>
            </a:pPr>
            <a:r>
              <a:rPr b="0" sz="2000"/>
              <a:t>Example: Wanjiku starts mama mboga business with Sh. 500,000</a:t>
            </a:r>
          </a:p>
          <a:p>
            <a:pPr>
              <a:spcAft>
                <a:spcPts val="1000"/>
              </a:spcAft>
            </a:pPr>
            <a:r>
              <a:rPr b="0" sz="2000"/>
              <a:t>Record: Dr Cash 500,000 / Cr Capital 500,000</a:t>
            </a:r>
          </a:p>
          <a:p>
            <a:pPr>
              <a:spcAft>
                <a:spcPts val="1000"/>
              </a:spcAft>
            </a:pPr>
            <a:r>
              <a:rPr b="0" sz="2000"/>
              <a:t>Classify: post to Cash and Capital ledger accounts</a:t>
            </a:r>
          </a:p>
          <a:p>
            <a:pPr>
              <a:spcAft>
                <a:spcPts val="1000"/>
              </a:spcAft>
            </a:pPr>
            <a:r>
              <a:rPr b="0" sz="2000"/>
              <a:t>Total debits must equal total credits — always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6" name="Picture 5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16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Which events are accountable?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0" sz="2000"/>
              <a:t>Accountable event = financial character, measurable in money</a:t>
            </a:r>
          </a:p>
          <a:p>
            <a:pPr>
              <a:spcAft>
                <a:spcPts val="1000"/>
              </a:spcAft>
            </a:pPr>
            <a:r>
              <a:rPr b="0" sz="2000"/>
              <a:t>Sh. 800,000 deposit received → </a:t>
            </a:r>
            <a:r>
              <a:rPr b="1" sz="2000"/>
              <a:t>yes</a:t>
            </a:r>
            <a:r>
              <a:rPr b="0" sz="2000"/>
              <a:t> (creates liability)</a:t>
            </a:r>
          </a:p>
          <a:p>
            <a:pPr>
              <a:spcAft>
                <a:spcPts val="1000"/>
              </a:spcAft>
            </a:pPr>
            <a:r>
              <a:rPr b="0" sz="2000"/>
              <a:t>Sh. 2,000,000 signed contract → </a:t>
            </a:r>
            <a:r>
              <a:rPr b="1" sz="2000"/>
              <a:t>no</a:t>
            </a:r>
            <a:r>
              <a:rPr b="0" sz="2000"/>
              <a:t> (promise, not yet transaction)</a:t>
            </a:r>
          </a:p>
          <a:p>
            <a:pPr>
              <a:spcAft>
                <a:spcPts val="1000"/>
              </a:spcAft>
            </a:pPr>
            <a:r>
              <a:rPr b="0" sz="2000"/>
              <a:t>Owner takes Sh. 50,000 for school fees → </a:t>
            </a:r>
            <a:r>
              <a:rPr b="1" sz="2000"/>
              <a:t>yes</a:t>
            </a:r>
            <a:r>
              <a:rPr b="0" sz="2000"/>
              <a:t> (drawings)</a:t>
            </a:r>
          </a:p>
          <a:p>
            <a:pPr>
              <a:spcAft>
                <a:spcPts val="1000"/>
              </a:spcAft>
            </a:pPr>
            <a:r>
              <a:rPr b="0" sz="2000"/>
              <a:t>Hiring a chef → no; paying the salary → </a:t>
            </a:r>
            <a:r>
              <a:rPr b="1" sz="2000"/>
              <a:t>yes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6" name="Picture 5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16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Key takeaways / exam tips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0" sz="2000"/>
              <a:t>Science = identify/measure/communicate; art = record/classify/summarize</a:t>
            </a:r>
          </a:p>
          <a:p>
            <a:pPr>
              <a:spcAft>
                <a:spcPts val="1000"/>
              </a:spcAft>
            </a:pPr>
            <a:r>
              <a:rPr b="0" sz="2000"/>
              <a:t>Record (journal) ≠ classify (ledger) — never swap the terms</a:t>
            </a:r>
          </a:p>
          <a:p>
            <a:pPr>
              <a:spcAft>
                <a:spcPts val="1000"/>
              </a:spcAft>
            </a:pPr>
            <a:r>
              <a:rPr b="0" sz="2000"/>
              <a:t>GESCLIP: write the acronym, then expand each user's *need*</a:t>
            </a:r>
          </a:p>
          <a:p>
            <a:pPr>
              <a:spcAft>
                <a:spcPts val="1000"/>
              </a:spcAft>
            </a:pPr>
            <a:r>
              <a:rPr b="0" sz="2000"/>
              <a:t>Solvency = long run; liquidity = short run — both from SOFP</a:t>
            </a:r>
          </a:p>
          <a:p>
            <a:pPr>
              <a:spcAft>
                <a:spcPts val="1000"/>
              </a:spcAft>
            </a:pPr>
            <a:r>
              <a:rPr b="0" sz="2000"/>
              <a:t>Use </a:t>
            </a:r>
            <a:r>
              <a:rPr b="1" sz="2000"/>
              <a:t>Sh.</a:t>
            </a:r>
            <a:r>
              <a:rPr b="0" sz="2000"/>
              <a:t> in workings and head every amount column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6" name="Picture 5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