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8102E"/>
                </a:solidFill>
              </a:rPr>
              <a:t>CA11  FINANCIAL  ACCOUNTING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/>
              <a:t>Inventory and Receivables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6E6E6E"/>
                </a:solidFill>
              </a:rPr>
              <a:t>CA11 Financial Accounting • Accounting for Assets and Liabilities</a:t>
            </a:r>
          </a:p>
        </p:txBody>
      </p:sp>
      <p:pic>
        <p:nvPicPr>
          <p:cNvPr id="5" name="Picture 4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512064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7" name="Picture 6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Define inventories; state what cost includes (IAS 2)</a:t>
            </a:r>
          </a:p>
          <a:p>
            <a:pPr>
              <a:spcAft>
                <a:spcPts val="1000"/>
              </a:spcAft>
            </a:pPr>
            <a:r>
              <a:rPr b="0" sz="2000"/>
              <a:t>Apply the </a:t>
            </a:r>
            <a:r>
              <a:rPr b="1" sz="2000"/>
              <a:t>lower-of-cost-and-NRV</a:t>
            </a:r>
            <a:r>
              <a:rPr b="0" sz="2000"/>
              <a:t> rule</a:t>
            </a:r>
          </a:p>
          <a:p>
            <a:pPr>
              <a:spcAft>
                <a:spcPts val="1000"/>
              </a:spcAft>
            </a:pPr>
            <a:r>
              <a:rPr b="0" sz="2000"/>
              <a:t>Compute COGS and closing stock under </a:t>
            </a:r>
            <a:r>
              <a:rPr b="1" sz="2000"/>
              <a:t>FIFO</a:t>
            </a:r>
            <a:r>
              <a:rPr b="0" sz="2000"/>
              <a:t> and </a:t>
            </a:r>
            <a:r>
              <a:rPr b="1" sz="2000"/>
              <a:t>AVCO</a:t>
            </a:r>
          </a:p>
          <a:p>
            <a:pPr>
              <a:spcAft>
                <a:spcPts val="1000"/>
              </a:spcAft>
            </a:pPr>
            <a:r>
              <a:rPr b="0" sz="2000"/>
              <a:t>Account for bad debts and provisions (specific and general)</a:t>
            </a:r>
          </a:p>
          <a:p>
            <a:pPr>
              <a:spcAft>
                <a:spcPts val="1000"/>
              </a:spcAft>
            </a:pPr>
            <a:r>
              <a:rPr b="0" sz="2000"/>
              <a:t>Explain sales/purchases ledger control accounts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IAS 2: cost and the NRV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2000"/>
              <a:t>Inventories</a:t>
            </a:r>
            <a:r>
              <a:rPr b="0" sz="2000"/>
              <a:t> = finished goods, work in progress, raw materials</a:t>
            </a:r>
          </a:p>
          <a:p>
            <a:pPr>
              <a:spcAft>
                <a:spcPts val="1000"/>
              </a:spcAft>
            </a:pPr>
            <a:r>
              <a:rPr b="0" sz="2000"/>
              <a:t>Cost = purchase + conversion + other costs to present location/condition</a:t>
            </a:r>
          </a:p>
          <a:p>
            <a:pPr>
              <a:spcAft>
                <a:spcPts val="1000"/>
              </a:spcAft>
            </a:pPr>
            <a:r>
              <a:rPr b="1" sz="2000"/>
              <a:t>NRV</a:t>
            </a:r>
            <a:r>
              <a:rPr b="0" sz="2000"/>
              <a:t> = selling price − completion costs − selling costs</a:t>
            </a:r>
          </a:p>
          <a:p>
            <a:pPr>
              <a:spcAft>
                <a:spcPts val="1000"/>
              </a:spcAft>
            </a:pPr>
            <a:r>
              <a:rPr b="0" sz="2000"/>
              <a:t>Measured at </a:t>
            </a:r>
            <a:r>
              <a:rPr b="1" sz="2000"/>
              <a:t>lower of cost and NRV</a:t>
            </a:r>
          </a:p>
          <a:p>
            <a:pPr>
              <a:spcAft>
                <a:spcPts val="1000"/>
              </a:spcAft>
            </a:pPr>
            <a:r>
              <a:rPr b="0" sz="2000"/>
              <a:t>Write-downs hit P&amp;L immediately; reversals reduce the expense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Cost formulas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Permitted: </a:t>
            </a:r>
            <a:r>
              <a:rPr b="1" sz="2000"/>
              <a:t>FIFO</a:t>
            </a:r>
            <a:r>
              <a:rPr b="0" sz="2000"/>
              <a:t> or </a:t>
            </a:r>
            <a:r>
              <a:rPr b="1" sz="2000"/>
              <a:t>weighted average (AVCO)</a:t>
            </a:r>
            <a:r>
              <a:rPr b="0" sz="2000"/>
              <a:t> for similar inventories</a:t>
            </a:r>
          </a:p>
          <a:p>
            <a:pPr>
              <a:spcAft>
                <a:spcPts val="1000"/>
              </a:spcAft>
            </a:pPr>
            <a:r>
              <a:rPr b="1" sz="2000"/>
              <a:t>LIFO is NOT permitted</a:t>
            </a:r>
            <a:r>
              <a:rPr b="0" sz="2000"/>
              <a:t> under IAS 2 — never use it in answers</a:t>
            </a:r>
          </a:p>
          <a:p>
            <a:pPr>
              <a:spcAft>
                <a:spcPts val="1000"/>
              </a:spcAft>
            </a:pPr>
            <a:r>
              <a:rPr b="0" sz="2000"/>
              <a:t>FIFO: oldest costs to COGS; closing stock at newest (replacement-like) costs</a:t>
            </a:r>
          </a:p>
          <a:p>
            <a:pPr>
              <a:spcAft>
                <a:spcPts val="1000"/>
              </a:spcAft>
            </a:pPr>
            <a:r>
              <a:rPr b="0" sz="2000"/>
              <a:t>AVCO: running average cost applied to each issue/store</a:t>
            </a:r>
          </a:p>
          <a:p>
            <a:pPr>
              <a:spcAft>
                <a:spcPts val="1000"/>
              </a:spcAft>
            </a:pPr>
            <a:r>
              <a:rPr b="0" sz="2000"/>
              <a:t>Use one formula consistently for similar inventories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Worked example: FIFO vs AVCO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Twiga Wholesalers: 1,500 bags available at Sh. 3,160,000</a:t>
            </a:r>
          </a:p>
          <a:p>
            <a:pPr>
              <a:spcAft>
                <a:spcPts val="1000"/>
              </a:spcAft>
            </a:pPr>
            <a:r>
              <a:rPr b="0" sz="2000"/>
              <a:t>FIFO: 15 Mar sale 700 → COGS 1,430,000; 28 Mar sale 600 → 1,290,000</a:t>
            </a:r>
          </a:p>
          <a:p>
            <a:pPr>
              <a:spcAft>
                <a:spcPts val="1000"/>
              </a:spcAft>
            </a:pPr>
            <a:r>
              <a:rPr b="0" sz="2000"/>
              <a:t>FIFO: total COGS 2,720,000; closing stock </a:t>
            </a:r>
            <a:r>
              <a:rPr b="1" sz="2000"/>
              <a:t>440,000</a:t>
            </a:r>
          </a:p>
          <a:p>
            <a:pPr>
              <a:spcAft>
                <a:spcPts val="1000"/>
              </a:spcAft>
            </a:pPr>
            <a:r>
              <a:rPr b="0" sz="2000"/>
              <a:t>AVCO: avg 2,106.67 → COGS 2,738,667; closing </a:t>
            </a:r>
            <a:r>
              <a:rPr b="1" sz="2000"/>
              <a:t>421,333</a:t>
            </a:r>
          </a:p>
          <a:p>
            <a:pPr>
              <a:spcAft>
                <a:spcPts val="1000"/>
              </a:spcAft>
            </a:pPr>
            <a:r>
              <a:rPr b="0" sz="2000"/>
              <a:t>Always prove: goods available = COGS + closing stock 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Price effects and NRV write-down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In </a:t>
            </a:r>
            <a:r>
              <a:rPr b="1" sz="2000"/>
              <a:t>rising prices</a:t>
            </a:r>
            <a:r>
              <a:rPr b="0" sz="2000"/>
              <a:t>: FIFO → higher closing stock and higher profit</a:t>
            </a:r>
          </a:p>
          <a:p>
            <a:pPr>
              <a:spcAft>
                <a:spcPts val="1000"/>
              </a:spcAft>
            </a:pPr>
            <a:r>
              <a:rPr b="0" sz="2000"/>
              <a:t>Kamau Electronics FIFO: closing stock </a:t>
            </a:r>
            <a:r>
              <a:rPr b="1" sz="2000"/>
              <a:t>Sh. 117,500</a:t>
            </a:r>
          </a:p>
          <a:p>
            <a:pPr>
              <a:spcAft>
                <a:spcPts val="1000"/>
              </a:spcAft>
            </a:pPr>
            <a:r>
              <a:rPr b="0" sz="2000"/>
              <a:t>Kamau AVCO: closing </a:t>
            </a:r>
            <a:r>
              <a:rPr b="1" sz="2000"/>
              <a:t>Sh. 111,111</a:t>
            </a:r>
          </a:p>
          <a:p>
            <a:pPr>
              <a:spcAft>
                <a:spcPts val="1000"/>
              </a:spcAft>
            </a:pPr>
            <a:r>
              <a:rPr b="0" sz="2000"/>
              <a:t>This is why IAS 2 bans LIFO — it lowers profit (and tax) in inflation</a:t>
            </a:r>
          </a:p>
          <a:p>
            <a:pPr>
              <a:spcAft>
                <a:spcPts val="1000"/>
              </a:spcAft>
            </a:pPr>
            <a:r>
              <a:rPr b="0" sz="2000"/>
              <a:t>NRV write-down example: 40,000 → Dr P&amp;L / Cr Inventory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Bad debts and provisions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2000"/>
              <a:t>Bad debts</a:t>
            </a:r>
            <a:r>
              <a:rPr b="0" sz="2000"/>
              <a:t> (never collected): Dr Bad debts / Cr Debtor; then to P&amp;L</a:t>
            </a:r>
          </a:p>
          <a:p>
            <a:pPr>
              <a:spcAft>
                <a:spcPts val="1000"/>
              </a:spcAft>
            </a:pPr>
            <a:r>
              <a:rPr b="1" sz="2000"/>
              <a:t>Doubtful debts</a:t>
            </a:r>
            <a:r>
              <a:rPr b="0" sz="2000"/>
              <a:t> (may not collect): provision — an estimate, not a write-off</a:t>
            </a:r>
          </a:p>
          <a:p>
            <a:pPr>
              <a:spcAft>
                <a:spcPts val="1000"/>
              </a:spcAft>
            </a:pPr>
            <a:r>
              <a:rPr b="0" sz="2000"/>
              <a:t>Specific provision: identified debtor; general: % of remaining debtors</a:t>
            </a:r>
          </a:p>
          <a:p>
            <a:pPr>
              <a:spcAft>
                <a:spcPts val="1000"/>
              </a:spcAft>
            </a:pPr>
            <a:r>
              <a:rPr b="0" sz="2000"/>
              <a:t>First year: full provision to P&amp;L; later years: </a:t>
            </a:r>
            <a:r>
              <a:rPr b="1" sz="2000"/>
              <a:t>movement only</a:t>
            </a:r>
          </a:p>
          <a:p>
            <a:pPr>
              <a:spcAft>
                <a:spcPts val="1000"/>
              </a:spcAft>
            </a:pPr>
            <a:r>
              <a:rPr b="0" sz="2000"/>
              <a:t>A decrease is credited to P&amp;L (income)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Provision movements worked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Minim Ltd: 2013 charge = bad debts 656,000 + provision 1,100,000</a:t>
            </a:r>
          </a:p>
          <a:p>
            <a:pPr>
              <a:spcAft>
                <a:spcPts val="1000"/>
              </a:spcAft>
            </a:pPr>
            <a:r>
              <a:rPr b="0" sz="2000"/>
              <a:t>2014: bad debts 1,805,000 + provision </a:t>
            </a:r>
            <a:r>
              <a:rPr b="1" sz="2000"/>
              <a:t>increase</a:t>
            </a:r>
            <a:r>
              <a:rPr b="0" sz="2000"/>
              <a:t> 1,700,000</a:t>
            </a:r>
          </a:p>
          <a:p>
            <a:pPr>
              <a:spcAft>
                <a:spcPts val="1000"/>
              </a:spcAft>
            </a:pPr>
            <a:r>
              <a:rPr b="0" sz="2000"/>
              <a:t>2015: bad debts 3,817,000 + provision increase 800,000</a:t>
            </a:r>
          </a:p>
          <a:p>
            <a:pPr>
              <a:spcAft>
                <a:spcPts val="1000"/>
              </a:spcAft>
            </a:pPr>
            <a:r>
              <a:rPr b="0" sz="2000"/>
              <a:t>SOFP: debtors less provision, e.g. 60,000,000 − 3,600,000 = 56,400,000</a:t>
            </a:r>
          </a:p>
          <a:p>
            <a:pPr>
              <a:spcAft>
                <a:spcPts val="1000"/>
              </a:spcAft>
            </a:pPr>
            <a:r>
              <a:rPr b="0" sz="2000"/>
              <a:t>Exam trap: charge only the *movement* in later years, never the full provision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Control accounts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Control account mirrors a subsidiary ledger; balances must agree</a:t>
            </a:r>
          </a:p>
          <a:p>
            <a:pPr>
              <a:spcAft>
                <a:spcPts val="1000"/>
              </a:spcAft>
            </a:pPr>
            <a:r>
              <a:rPr b="0" sz="2000"/>
              <a:t>Purposes: arithmetical check, quick TB figure, fraud/error detection</a:t>
            </a:r>
          </a:p>
          <a:p>
            <a:pPr>
              <a:spcAft>
                <a:spcPts val="1000"/>
              </a:spcAft>
            </a:pPr>
            <a:r>
              <a:rPr b="0" sz="2000"/>
              <a:t>Sales control: Dr = credit sales; Cr = cash received, returns, discounts, bad debts</a:t>
            </a:r>
          </a:p>
          <a:p>
            <a:pPr>
              <a:spcAft>
                <a:spcPts val="1000"/>
              </a:spcAft>
            </a:pPr>
            <a:r>
              <a:rPr b="0" sz="2000"/>
              <a:t>Purchases control: Dr = cash paid, returns, discounts; Cr = credit purchases</a:t>
            </a:r>
          </a:p>
          <a:p>
            <a:pPr>
              <a:spcAft>
                <a:spcPts val="1000"/>
              </a:spcAft>
            </a:pPr>
            <a:r>
              <a:rPr b="1" sz="2000"/>
              <a:t>Contra</a:t>
            </a:r>
            <a:r>
              <a:rPr b="0" sz="2000"/>
              <a:t>: Dr Creditor / Cr Debtor where X is both customer and supplier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Key takeaways / 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LIFO prohibited — never use it, even if the question 'invites' comparison</a:t>
            </a:r>
          </a:p>
          <a:p>
            <a:pPr>
              <a:spcAft>
                <a:spcPts val="1000"/>
              </a:spcAft>
            </a:pPr>
            <a:r>
              <a:rPr b="0" sz="2000"/>
              <a:t>Rising prices → FIFO gives higher stock and profit</a:t>
            </a:r>
          </a:p>
          <a:p>
            <a:pPr>
              <a:spcAft>
                <a:spcPts val="1000"/>
              </a:spcAft>
            </a:pPr>
            <a:r>
              <a:rPr b="0" sz="2000"/>
              <a:t>Provision: first year full; later years movement only</a:t>
            </a:r>
          </a:p>
          <a:p>
            <a:pPr>
              <a:spcAft>
                <a:spcPts val="1000"/>
              </a:spcAft>
            </a:pPr>
            <a:r>
              <a:rPr b="0" sz="2000"/>
              <a:t>Write-off removes the debtor; provision is an estimate against debtors kept</a:t>
            </a:r>
          </a:p>
          <a:p>
            <a:pPr>
              <a:spcAft>
                <a:spcPts val="1000"/>
              </a:spcAft>
            </a:pPr>
            <a:r>
              <a:rPr b="0" sz="2000"/>
              <a:t>Inventory: prove goods available = COGS + closing stock — catches slips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