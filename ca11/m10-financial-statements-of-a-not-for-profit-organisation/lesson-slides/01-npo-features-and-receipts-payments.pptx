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Not-for-Profit Organisations — Features and the Receipts and Payments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Not-for-Profit Organisation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Distinguish NPOs from profit organisations across at least six bases</a:t>
            </a:r>
          </a:p>
          <a:p>
            <a:pPr>
              <a:spcAft>
                <a:spcPts val="1000"/>
              </a:spcAft>
            </a:pPr>
            <a:r>
              <a:rPr b="0" sz="2000"/>
              <a:t>State the three NPO financial statements and the purpose of each</a:t>
            </a:r>
          </a:p>
          <a:p>
            <a:pPr>
              <a:spcAft>
                <a:spcPts val="1000"/>
              </a:spcAft>
            </a:pPr>
            <a:r>
              <a:rPr b="0" sz="2000"/>
              <a:t>Define the receipts and payments account and how it is prepared</a:t>
            </a:r>
          </a:p>
          <a:p>
            <a:pPr>
              <a:spcAft>
                <a:spcPts val="1000"/>
              </a:spcAft>
            </a:pPr>
            <a:r>
              <a:rPr b="0" sz="2000"/>
              <a:t>Prepare a receipts and payments account from a cash book</a:t>
            </a:r>
          </a:p>
          <a:p>
            <a:pPr>
              <a:spcAft>
                <a:spcPts val="1000"/>
              </a:spcAft>
            </a:pPr>
            <a:r>
              <a:rPr b="0" sz="2000"/>
              <a:t>Classify special receipts as capital or revenue — with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NPO vs profit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NPO: serves society (clubs, trusts, schools). Profit org: earns for owners</a:t>
            </a:r>
          </a:p>
          <a:p>
            <a:pPr>
              <a:spcAft>
                <a:spcPts val="1000"/>
              </a:spcAft>
            </a:pPr>
            <a:r>
              <a:rPr b="0" sz="2000"/>
              <a:t>Motive: service vs profit. Management: trustees vs directors</a:t>
            </a:r>
          </a:p>
          <a:p>
            <a:pPr>
              <a:spcAft>
                <a:spcPts val="1000"/>
              </a:spcAft>
            </a:pPr>
            <a:r>
              <a:rPr b="0" sz="2000"/>
              <a:t>Revenue: subscriptions &amp; donations vs sales of goods and services</a:t>
            </a:r>
          </a:p>
          <a:p>
            <a:pPr>
              <a:spcAft>
                <a:spcPts val="1000"/>
              </a:spcAft>
            </a:pPr>
            <a:r>
              <a:rPr b="0" sz="2000"/>
              <a:t>Statements: R&amp;P + I&amp;E + SFP vs income statement + SFP + cash flows</a:t>
            </a:r>
          </a:p>
          <a:p>
            <a:pPr>
              <a:spcAft>
                <a:spcPts val="1000"/>
              </a:spcAft>
            </a:pPr>
            <a:r>
              <a:rPr b="0" sz="2000"/>
              <a:t>Surplus → capital fund (reinvested), never distributed as dividends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three NPO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Receipts &amp; payments account: cash summary for the period</a:t>
            </a:r>
          </a:p>
          <a:p>
            <a:pPr>
              <a:spcAft>
                <a:spcPts val="1000"/>
              </a:spcAft>
            </a:pPr>
            <a:r>
              <a:rPr b="0" sz="2000"/>
              <a:t>Income &amp; expenditure account: accrual-based; shows surplus or deficit</a:t>
            </a:r>
          </a:p>
          <a:p>
            <a:pPr>
              <a:spcAft>
                <a:spcPts val="1000"/>
              </a:spcAft>
            </a:pPr>
            <a:r>
              <a:rPr b="0" sz="2000"/>
              <a:t>Statement of financial position: assets, liabilities and capital fund</a:t>
            </a:r>
          </a:p>
          <a:p>
            <a:pPr>
              <a:spcAft>
                <a:spcPts val="1000"/>
              </a:spcAft>
            </a:pPr>
            <a:r>
              <a:rPr b="0" sz="2000"/>
              <a:t>Why statements at all? (i) Are incomes enough? (ii) What is the position?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Receipts and payments account — 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summarised cash book: all cash in/out under classified headings</a:t>
            </a:r>
          </a:p>
          <a:p>
            <a:pPr>
              <a:spcAft>
                <a:spcPts val="1000"/>
              </a:spcAft>
            </a:pPr>
            <a:r>
              <a:rPr b="0" sz="2000"/>
              <a:t>Records capital AND revenue cash — but cash ONLY, no accruals</a:t>
            </a:r>
          </a:p>
          <a:p>
            <a:pPr>
              <a:spcAft>
                <a:spcPts val="1000"/>
              </a:spcAft>
            </a:pPr>
            <a:r>
              <a:rPr b="0" sz="2000"/>
              <a:t>Starts with opening cash/bank; ends with closing cash/bank</a:t>
            </a:r>
          </a:p>
          <a:p>
            <a:pPr>
              <a:spcAft>
                <a:spcPts val="1000"/>
              </a:spcAft>
            </a:pPr>
            <a:r>
              <a:rPr b="0" sz="2000"/>
              <a:t>Generally a debit balance; NOT part of double entry — a statement only</a:t>
            </a:r>
          </a:p>
          <a:p>
            <a:pPr>
              <a:spcAft>
                <a:spcPts val="1000"/>
              </a:spcAft>
            </a:pPr>
            <a:r>
              <a:rPr b="0" sz="2000"/>
              <a:t>On its own it CANNOT disclose the true surplus or deficit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Jabari Sports Club (Sh.)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Total receipts 900,000 (incl. subscriptions 560k, donations 75k)</a:t>
            </a:r>
          </a:p>
          <a:p>
            <a:pPr>
              <a:spcAft>
                <a:spcPts val="1000"/>
              </a:spcAft>
            </a:pPr>
            <a:r>
              <a:rPr b="0" sz="2000"/>
              <a:t>Total payments 520,000 (salaries 240k, rent 104k, equipment 85k)</a:t>
            </a:r>
          </a:p>
          <a:p>
            <a:pPr>
              <a:spcAft>
                <a:spcPts val="1000"/>
              </a:spcAft>
            </a:pPr>
            <a:r>
              <a:rPr b="0" sz="2000"/>
              <a:t>Balance c/d = 900,000 − 520,000 = 380,000 closing cash</a:t>
            </a:r>
          </a:p>
          <a:p>
            <a:pPr>
              <a:spcAft>
                <a:spcPts val="1000"/>
              </a:spcAft>
            </a:pPr>
            <a:r>
              <a:rPr b="0" sz="2000"/>
              <a:t>Exam trap: NEVER exclude capital cash — record all cash, cash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Special receipts: capital or revenue?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Subscriptions (ordinary): revenue → income &amp; expenditure account</a:t>
            </a:r>
          </a:p>
          <a:p>
            <a:pPr>
              <a:spcAft>
                <a:spcPts val="1000"/>
              </a:spcAft>
            </a:pPr>
            <a:r>
              <a:rPr b="0" sz="2000"/>
              <a:t>Specific donations &amp; specific grants: CAPITAL → liability side</a:t>
            </a:r>
          </a:p>
          <a:p>
            <a:pPr>
              <a:spcAft>
                <a:spcPts val="1000"/>
              </a:spcAft>
            </a:pPr>
            <a:r>
              <a:rPr b="0" sz="2000"/>
              <a:t>General donations: small = income; big = capitalised</a:t>
            </a:r>
          </a:p>
          <a:p>
            <a:pPr>
              <a:spcAft>
                <a:spcPts val="1000"/>
              </a:spcAft>
            </a:pPr>
            <a:r>
              <a:rPr b="0" sz="2000"/>
              <a:t>Legacy (will): capitalise — default rule when question is silent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Special receipts: capital or revenue?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Endowment fund &amp; life membership fees: always CAPITAL</a:t>
            </a:r>
          </a:p>
          <a:p>
            <a:pPr>
              <a:spcAft>
                <a:spcPts val="1000"/>
              </a:spcAft>
            </a:pPr>
            <a:r>
              <a:rPr b="0" sz="2000"/>
              <a:t>Sale of old asset: proceeds are capital; profit/loss is revenue</a:t>
            </a:r>
          </a:p>
          <a:p>
            <a:pPr>
              <a:spcAft>
                <a:spcPts val="1000"/>
              </a:spcAft>
            </a:pPr>
            <a:r>
              <a:rPr b="0" sz="2000"/>
              <a:t>Entrance fees: either — but you MUST add a justifying note</a:t>
            </a:r>
          </a:p>
          <a:p>
            <a:pPr>
              <a:spcAft>
                <a:spcPts val="1000"/>
              </a:spcAft>
            </a:pPr>
            <a:r>
              <a:rPr b="0" sz="2000"/>
              <a:t>Special purpose funds: income added, expenses deducted — bypass I&amp;E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Compare NPOs vs profit orgs in a table — markers award per valid basis</a:t>
            </a:r>
          </a:p>
          <a:p>
            <a:pPr>
              <a:spcAft>
                <a:spcPts val="1000"/>
              </a:spcAft>
            </a:pPr>
            <a:r>
              <a:rPr b="0" sz="2000"/>
              <a:t>Receipts &amp; payments = cash only: no accruals, depreciation or debtors</a:t>
            </a:r>
          </a:p>
          <a:p>
            <a:pPr>
              <a:spcAft>
                <a:spcPts val="1000"/>
              </a:spcAft>
            </a:pPr>
            <a:r>
              <a:rPr b="0" sz="2000"/>
              <a:t>Capital receipts → SFP liability side; revenue receipts → I&amp;E credit</a:t>
            </a:r>
          </a:p>
          <a:p>
            <a:pPr>
              <a:spcAft>
                <a:spcPts val="1000"/>
              </a:spcAft>
            </a:pPr>
            <a:r>
              <a:rPr b="0" sz="2000"/>
              <a:t>Entrance-fee note earns the mark; silent legacy = capitalise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