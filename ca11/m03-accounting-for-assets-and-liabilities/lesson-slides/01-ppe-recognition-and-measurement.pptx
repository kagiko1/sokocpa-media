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0972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C8102E"/>
                </a:solidFill>
              </a:rPr>
              <a:t>CA11  FINANCIAL  ACCOUNTING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88136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/>
              <a:t>PPE — Recognition and Measurement (IAS 16)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93192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6E6E6E"/>
                </a:solidFill>
              </a:rPr>
              <a:t>CA11 Financial Accounting • Accounting for Assets and Liabilities</a:t>
            </a:r>
          </a:p>
        </p:txBody>
      </p:sp>
      <p:pic>
        <p:nvPicPr>
          <p:cNvPr id="5" name="Picture 4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512064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7" name="Picture 6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State the objective of IAS 16 and define PPE</a:t>
            </a:r>
          </a:p>
          <a:p>
            <a:pPr>
              <a:spcAft>
                <a:spcPts val="1000"/>
              </a:spcAft>
            </a:pPr>
            <a:r>
              <a:rPr b="0" sz="2000"/>
              <a:t>Apply the two recognition criteria</a:t>
            </a:r>
          </a:p>
          <a:p>
            <a:pPr>
              <a:spcAft>
                <a:spcPts val="1000"/>
              </a:spcAft>
            </a:pPr>
            <a:r>
              <a:rPr b="0" sz="2000"/>
              <a:t>Measure PPE at initial recognition; identify cost components</a:t>
            </a:r>
          </a:p>
          <a:p>
            <a:pPr>
              <a:spcAft>
                <a:spcPts val="1000"/>
              </a:spcAft>
            </a:pPr>
            <a:r>
              <a:rPr b="0" sz="2000"/>
              <a:t>Distinguish </a:t>
            </a:r>
            <a:r>
              <a:rPr b="1" sz="2000"/>
              <a:t>capital</a:t>
            </a:r>
            <a:r>
              <a:rPr b="0" sz="2000"/>
              <a:t> from </a:t>
            </a:r>
            <a:r>
              <a:rPr b="1" sz="2000"/>
              <a:t>revenue</a:t>
            </a:r>
            <a:r>
              <a:rPr b="0" sz="2000"/>
              <a:t> expenditure</a:t>
            </a:r>
          </a:p>
          <a:p>
            <a:pPr>
              <a:spcAft>
                <a:spcPts val="1000"/>
              </a:spcAft>
            </a:pPr>
            <a:r>
              <a:rPr b="0" sz="2000"/>
              <a:t>Account for deferred payment (cash price equivalent)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IAS 16: objective and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Objective: prescribe treatment so users see investment in PPE</a:t>
            </a:r>
          </a:p>
          <a:p>
            <a:pPr>
              <a:spcAft>
                <a:spcPts val="1000"/>
              </a:spcAft>
            </a:pPr>
            <a:r>
              <a:rPr b="0" sz="2000"/>
              <a:t>Issues: </a:t>
            </a:r>
            <a:r>
              <a:rPr b="1" sz="2000"/>
              <a:t>recognition</a:t>
            </a:r>
            <a:r>
              <a:rPr b="0" sz="2000"/>
              <a:t>, carrying amounts, depreciation, impairment</a:t>
            </a:r>
          </a:p>
          <a:p>
            <a:pPr>
              <a:spcAft>
                <a:spcPts val="1000"/>
              </a:spcAft>
            </a:pPr>
            <a:r>
              <a:rPr b="1" sz="2000"/>
              <a:t>PPE</a:t>
            </a:r>
            <a:r>
              <a:rPr b="0" sz="2000"/>
              <a:t> = tangible items held for use in production/supply/rental/admin</a:t>
            </a:r>
          </a:p>
          <a:p>
            <a:pPr>
              <a:spcAft>
                <a:spcPts val="1000"/>
              </a:spcAft>
            </a:pPr>
            <a:r>
              <a:rPr b="0" sz="2000"/>
              <a:t>Held for use during </a:t>
            </a:r>
            <a:r>
              <a:rPr b="1" sz="2000"/>
              <a:t>more than one period</a:t>
            </a:r>
          </a:p>
          <a:p>
            <a:pPr>
              <a:spcAft>
                <a:spcPts val="1000"/>
              </a:spcAft>
            </a:pPr>
            <a:r>
              <a:rPr b="0" sz="2000"/>
              <a:t>Examples: land, buildings, plant, vehicles, fixtures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Recognition criteria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1. </a:t>
            </a:r>
            <a:r>
              <a:rPr b="1" sz="2000"/>
              <a:t>Probable</a:t>
            </a:r>
            <a:r>
              <a:rPr b="0" sz="2000"/>
              <a:t> future economic benefits will flow to the entity</a:t>
            </a:r>
          </a:p>
          <a:p>
            <a:pPr>
              <a:spcAft>
                <a:spcPts val="1000"/>
              </a:spcAft>
            </a:pPr>
            <a:r>
              <a:rPr b="0" sz="2000"/>
              <a:t>2. Cost can be </a:t>
            </a:r>
            <a:r>
              <a:rPr b="1" sz="2000"/>
              <a:t>measured reliably</a:t>
            </a:r>
          </a:p>
          <a:p>
            <a:pPr>
              <a:spcAft>
                <a:spcPts val="1000"/>
              </a:spcAft>
            </a:pPr>
            <a:r>
              <a:rPr b="1" sz="2000"/>
              <a:t>Both</a:t>
            </a:r>
            <a:r>
              <a:rPr b="0" sz="2000"/>
              <a:t> must be met — a free gift with no value fails criterion 2</a:t>
            </a:r>
          </a:p>
          <a:p>
            <a:pPr>
              <a:spcAft>
                <a:spcPts val="1000"/>
              </a:spcAft>
            </a:pPr>
            <a:r>
              <a:rPr b="0" sz="2000"/>
              <a:t>Exam favourite: state both before applying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Components of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2000"/>
              <a:t>Cost</a:t>
            </a:r>
            <a:r>
              <a:rPr b="0" sz="2000"/>
              <a:t> = purchase price + non-refundable taxes/duties − trade discounts</a:t>
            </a:r>
          </a:p>
          <a:p>
            <a:pPr>
              <a:spcAft>
                <a:spcPts val="1000"/>
              </a:spcAft>
            </a:pPr>
            <a:r>
              <a:rPr b="1" sz="2000"/>
              <a:t>Directly attributable</a:t>
            </a:r>
            <a:r>
              <a:rPr b="0" sz="2000"/>
              <a:t> costs: delivery, installation, testing, fees</a:t>
            </a:r>
          </a:p>
          <a:p>
            <a:pPr>
              <a:spcAft>
                <a:spcPts val="1000"/>
              </a:spcAft>
            </a:pPr>
            <a:r>
              <a:rPr b="1" sz="2000"/>
              <a:t>Dismantling/restoration</a:t>
            </a:r>
            <a:r>
              <a:rPr b="0" sz="2000"/>
              <a:t> estimate where obligation exists</a:t>
            </a:r>
          </a:p>
          <a:p>
            <a:pPr>
              <a:spcAft>
                <a:spcPts val="1000"/>
              </a:spcAft>
            </a:pPr>
            <a:r>
              <a:rPr b="0" sz="2000"/>
              <a:t>Excluded: refundable VAT (recoverable from KRA), training, maintenance</a:t>
            </a:r>
          </a:p>
          <a:p>
            <a:pPr>
              <a:spcAft>
                <a:spcPts val="1000"/>
              </a:spcAft>
            </a:pPr>
            <a:r>
              <a:rPr b="0" sz="2000"/>
              <a:t>Admin overheads, start-up costs, abnormal wastage excluded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Worked example: cost build-up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Rift Valley Millers: machine build-up → capitalised </a:t>
            </a:r>
            <a:r>
              <a:rPr b="1" sz="2000"/>
              <a:t>Sh. 10,170,000</a:t>
            </a:r>
          </a:p>
          <a:p>
            <a:pPr>
              <a:spcAft>
                <a:spcPts val="1000"/>
              </a:spcAft>
            </a:pPr>
            <a:r>
              <a:rPr b="0" sz="2000"/>
              <a:t>Import duty included; refundable VAT 1,368,000 excluded</a:t>
            </a:r>
          </a:p>
          <a:p>
            <a:pPr>
              <a:spcAft>
                <a:spcPts val="1000"/>
              </a:spcAft>
            </a:pPr>
            <a:r>
              <a:rPr b="0" sz="2000"/>
              <a:t>Training 180,000 and maintenance 240,000 expensed</a:t>
            </a:r>
          </a:p>
          <a:p>
            <a:pPr>
              <a:spcAft>
                <a:spcPts val="1000"/>
              </a:spcAft>
            </a:pPr>
            <a:r>
              <a:rPr b="0" sz="2000"/>
              <a:t>Dismantling 300,000 capitalised with matching provision</a:t>
            </a:r>
          </a:p>
          <a:p>
            <a:pPr>
              <a:spcAft>
                <a:spcPts val="1000"/>
              </a:spcAft>
            </a:pPr>
            <a:r>
              <a:rPr b="0" sz="2000"/>
              <a:t>Deferred payment: lorry at cash price 4,000,000; Sh. 600,000 = interest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Capital vs revenue expenditure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2000"/>
              <a:t>Capital</a:t>
            </a:r>
            <a:r>
              <a:rPr b="0" sz="2000"/>
              <a:t> → buys/improves non-current asset; in SOFP</a:t>
            </a:r>
          </a:p>
          <a:p>
            <a:pPr>
              <a:spcAft>
                <a:spcPts val="1000"/>
              </a:spcAft>
            </a:pPr>
            <a:r>
              <a:rPr b="1" sz="2000"/>
              <a:t>Revenue</a:t>
            </a:r>
            <a:r>
              <a:rPr b="0" sz="2000"/>
              <a:t> → maintains/operates asset; in profit or loss</a:t>
            </a:r>
          </a:p>
          <a:p>
            <a:pPr>
              <a:spcAft>
                <a:spcPts val="1000"/>
              </a:spcAft>
            </a:pPr>
            <a:r>
              <a:rPr b="0" sz="2000"/>
              <a:t>Capital: new engine extending life; revenue: repainting warehouse</a:t>
            </a:r>
          </a:p>
          <a:p>
            <a:pPr>
              <a:spcAft>
                <a:spcPts val="1000"/>
              </a:spcAft>
            </a:pPr>
            <a:r>
              <a:rPr b="0" sz="2000"/>
              <a:t>Bakari Brothers trap: Sh. 500,000 repaint debited to premises — wrong</a:t>
            </a:r>
          </a:p>
          <a:p>
            <a:pPr>
              <a:spcAft>
                <a:spcPts val="1000"/>
              </a:spcAft>
            </a:pPr>
            <a:r>
              <a:rPr b="0" sz="2000"/>
              <a:t>Correct: Dr Repairs 500,000 / Cr Premises; reverse excess depreciation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After recognition: the two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2000"/>
              <a:t>Cost model</a:t>
            </a:r>
            <a:r>
              <a:rPr b="0" sz="2000"/>
              <a:t>: cost − accumulated depreciation − impairment</a:t>
            </a:r>
          </a:p>
          <a:p>
            <a:pPr>
              <a:spcAft>
                <a:spcPts val="1000"/>
              </a:spcAft>
            </a:pPr>
            <a:r>
              <a:rPr b="1" sz="2000"/>
              <a:t>Revaluation model</a:t>
            </a:r>
            <a:r>
              <a:rPr b="0" sz="2000"/>
              <a:t>: fair value − subsequent depreciation (one policy per class)</a:t>
            </a:r>
          </a:p>
          <a:p>
            <a:pPr>
              <a:spcAft>
                <a:spcPts val="1000"/>
              </a:spcAft>
            </a:pPr>
            <a:r>
              <a:rPr b="1" sz="2000"/>
              <a:t>Derecognition</a:t>
            </a:r>
            <a:r>
              <a:rPr b="0" sz="2000"/>
              <a:t>: on disposal or when no future benefits expected</a:t>
            </a:r>
          </a:p>
          <a:p>
            <a:pPr>
              <a:spcAft>
                <a:spcPts val="1000"/>
              </a:spcAft>
            </a:pPr>
            <a:r>
              <a:rPr b="0" sz="2000"/>
              <a:t>Gain/loss = proceeds − carrying amount → profit or loss</a:t>
            </a:r>
          </a:p>
          <a:p>
            <a:pPr>
              <a:spcAft>
                <a:spcPts val="1000"/>
              </a:spcAft>
            </a:pPr>
            <a:r>
              <a:rPr b="0" sz="2000"/>
              <a:t>Impairment (IAS 36): write down when carrying &gt; recoverable amount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Subsequent expenditure and derecognition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Day-to-day servicing: </a:t>
            </a:r>
            <a:r>
              <a:rPr b="1" sz="2000"/>
              <a:t>always expensed</a:t>
            </a:r>
          </a:p>
          <a:p>
            <a:pPr>
              <a:spcAft>
                <a:spcPts val="1000"/>
              </a:spcAft>
            </a:pPr>
            <a:r>
              <a:rPr b="0" sz="2000"/>
              <a:t>Replacement part meeting criteria → </a:t>
            </a:r>
            <a:r>
              <a:rPr b="1" sz="2000"/>
              <a:t>capitalise</a:t>
            </a:r>
            <a:r>
              <a:rPr b="0" sz="2000"/>
              <a:t>, derecognise old part</a:t>
            </a:r>
          </a:p>
          <a:p>
            <a:pPr>
              <a:spcAft>
                <a:spcPts val="1000"/>
              </a:spcAft>
            </a:pPr>
            <a:r>
              <a:rPr b="0" sz="2000"/>
              <a:t>Zawadi Bakeries oven: belt 350,000 capitalised, service 80,000 expensed</a:t>
            </a:r>
          </a:p>
          <a:p>
            <a:pPr>
              <a:spcAft>
                <a:spcPts val="1000"/>
              </a:spcAft>
            </a:pPr>
            <a:r>
              <a:rPr b="0" sz="2000"/>
              <a:t>Oven cost capitalised: </a:t>
            </a:r>
            <a:r>
              <a:rPr b="1" sz="2000"/>
              <a:t>Sh. 8,475,000</a:t>
            </a:r>
          </a:p>
          <a:p>
            <a:pPr>
              <a:spcAft>
                <a:spcPts val="1000"/>
              </a:spcAft>
            </a:pPr>
            <a:r>
              <a:rPr b="0" sz="2000"/>
              <a:t>Insurance compensation for damaged PPE → profit or loss, never netted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Key takeaways / exam tips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Refundable VAT excluded; non-refundable duties included</a:t>
            </a:r>
          </a:p>
          <a:p>
            <a:pPr>
              <a:spcAft>
                <a:spcPts val="1000"/>
              </a:spcAft>
            </a:pPr>
            <a:r>
              <a:rPr b="0" sz="2000"/>
              <a:t>Trade discounts deducted before capitalising — never gross price</a:t>
            </a:r>
          </a:p>
          <a:p>
            <a:pPr>
              <a:spcAft>
                <a:spcPts val="1000"/>
              </a:spcAft>
            </a:pPr>
            <a:r>
              <a:rPr b="0" sz="2000"/>
              <a:t>Training and maintenance are expenses, however 'necessary'</a:t>
            </a:r>
          </a:p>
          <a:p>
            <a:pPr>
              <a:spcAft>
                <a:spcPts val="1000"/>
              </a:spcAft>
            </a:pPr>
            <a:r>
              <a:rPr b="0" sz="2000"/>
              <a:t>Both recognition criteria: probable benefits </a:t>
            </a:r>
            <a:r>
              <a:rPr b="1" sz="2000"/>
              <a:t>and</a:t>
            </a:r>
            <a:r>
              <a:rPr b="0" sz="2000"/>
              <a:t> measurable cost</a:t>
            </a:r>
          </a:p>
          <a:p>
            <a:pPr>
              <a:spcAft>
                <a:spcPts val="1000"/>
              </a:spcAft>
            </a:pPr>
            <a:r>
              <a:rPr b="0" sz="2000"/>
              <a:t>Deferred payment: asset at </a:t>
            </a:r>
            <a:r>
              <a:rPr b="1" sz="2000"/>
              <a:t>cash price equivalent</a:t>
            </a:r>
            <a:r>
              <a:rPr b="0" sz="2000"/>
              <a:t>; rest is interest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