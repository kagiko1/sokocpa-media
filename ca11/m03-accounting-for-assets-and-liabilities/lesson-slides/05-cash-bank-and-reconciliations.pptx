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Cash, Bank and Reconciliations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the cash book and bank statement differ</a:t>
            </a:r>
          </a:p>
          <a:p>
            <a:pPr>
              <a:spcAft>
                <a:spcPts val="1000"/>
              </a:spcAft>
            </a:pPr>
            <a:r>
              <a:rPr b="0" sz="2000"/>
              <a:t>Identify the causes of difference</a:t>
            </a:r>
          </a:p>
          <a:p>
            <a:pPr>
              <a:spcAft>
                <a:spcPts val="1000"/>
              </a:spcAft>
            </a:pPr>
            <a:r>
              <a:rPr b="0" sz="2000"/>
              <a:t>Prepare an </a:t>
            </a:r>
            <a:r>
              <a:rPr b="1" sz="2000"/>
              <a:t>updated (adjusted) cash book</a:t>
            </a:r>
          </a:p>
          <a:p>
            <a:pPr>
              <a:spcAft>
                <a:spcPts val="1000"/>
              </a:spcAft>
            </a:pPr>
            <a:r>
              <a:rPr b="0" sz="2000"/>
              <a:t>Prepare a bank reconciliation statement in both formats</a:t>
            </a:r>
          </a:p>
          <a:p>
            <a:pPr>
              <a:spcAft>
                <a:spcPts val="1000"/>
              </a:spcAft>
            </a:pPr>
            <a:r>
              <a:rPr b="0" sz="2000"/>
              <a:t>Handle overdraft situations in reconciliations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reconcile?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Cash book = the firm's view; bank statement = the bank's view</a:t>
            </a:r>
          </a:p>
          <a:p>
            <a:pPr>
              <a:spcAft>
                <a:spcPts val="1000"/>
              </a:spcAft>
            </a:pPr>
            <a:r>
              <a:rPr b="0" sz="2000"/>
              <a:t>Almost never identical in practice</a:t>
            </a:r>
          </a:p>
          <a:p>
            <a:pPr>
              <a:spcAft>
                <a:spcPts val="1000"/>
              </a:spcAft>
            </a:pPr>
            <a:r>
              <a:rPr b="0" sz="2000"/>
              <a:t>Reconciliation explains every difference (</a:t>
            </a:r>
            <a:r>
              <a:rPr b="1" sz="2000"/>
              <a:t>reconciling items</a:t>
            </a:r>
            <a:r>
              <a:rPr b="0" sz="2000"/>
              <a:t>)</a:t>
            </a:r>
          </a:p>
          <a:p>
            <a:pPr>
              <a:spcAft>
                <a:spcPts val="1000"/>
              </a:spcAft>
            </a:pPr>
            <a:r>
              <a:rPr b="0" sz="2000"/>
              <a:t>Functions: update cash book, check errors, detect/prevent fraud</a:t>
            </a:r>
          </a:p>
          <a:p>
            <a:pPr>
              <a:spcAft>
                <a:spcPts val="1000"/>
              </a:spcAft>
            </a:pPr>
            <a:r>
              <a:rPr b="0" sz="2000"/>
              <a:t>Golden procedure: (1) update cash book; (2) reconcile the updated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Timing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Unpresented cheques</a:t>
            </a:r>
            <a:r>
              <a:rPr b="0" sz="2000"/>
              <a:t> – issued, not presented → bank balance too high</a:t>
            </a:r>
          </a:p>
          <a:p>
            <a:pPr>
              <a:spcAft>
                <a:spcPts val="1000"/>
              </a:spcAft>
            </a:pPr>
            <a:r>
              <a:rPr b="1" sz="2000"/>
              <a:t>Uncredited deposits</a:t>
            </a:r>
            <a:r>
              <a:rPr b="0" sz="2000"/>
              <a:t> – banked, not yet credited → bank balance too low</a:t>
            </a:r>
          </a:p>
          <a:p>
            <a:pPr>
              <a:spcAft>
                <a:spcPts val="1000"/>
              </a:spcAft>
            </a:pPr>
            <a:r>
              <a:rPr b="0" sz="2000"/>
              <a:t>These are *timing* differences — no cash book update needed</a:t>
            </a:r>
          </a:p>
          <a:p>
            <a:pPr>
              <a:spcAft>
                <a:spcPts val="1000"/>
              </a:spcAft>
            </a:pPr>
            <a:r>
              <a:rPr b="0" sz="2000"/>
              <a:t>Say out loud which side each pushes before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Items for the cash book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Bank charges</a:t>
            </a:r>
            <a:r>
              <a:rPr b="0" sz="2000"/>
              <a:t> / overdraft interest → Dr Bank charges / Cr Cash book</a:t>
            </a:r>
          </a:p>
          <a:p>
            <a:pPr>
              <a:spcAft>
                <a:spcPts val="1000"/>
              </a:spcAft>
            </a:pPr>
            <a:r>
              <a:rPr b="1" sz="2000"/>
              <a:t>Standing orders / direct debits</a:t>
            </a:r>
            <a:r>
              <a:rPr b="0" sz="2000"/>
              <a:t> → Dr Expense/Liability / Cr Cash book</a:t>
            </a:r>
          </a:p>
          <a:p>
            <a:pPr>
              <a:spcAft>
                <a:spcPts val="1000"/>
              </a:spcAft>
            </a:pPr>
            <a:r>
              <a:rPr b="1" sz="2000"/>
              <a:t>Direct credits</a:t>
            </a:r>
            <a:r>
              <a:rPr b="0" sz="2000"/>
              <a:t> (dividends, customer deposits) → Dr Cash book / Cr Income</a:t>
            </a:r>
          </a:p>
          <a:p>
            <a:pPr>
              <a:spcAft>
                <a:spcPts val="1000"/>
              </a:spcAft>
            </a:pPr>
            <a:r>
              <a:rPr b="1" sz="2000"/>
              <a:t>Dishonoured cheques</a:t>
            </a:r>
            <a:r>
              <a:rPr b="0" sz="2000"/>
              <a:t> → Dr Debtor / Cr Cash book (write it back)</a:t>
            </a:r>
          </a:p>
          <a:p>
            <a:pPr>
              <a:spcAft>
                <a:spcPts val="1000"/>
              </a:spcAft>
            </a:pPr>
            <a:r>
              <a:rPr b="1" sz="2000"/>
              <a:t>Bank errors</a:t>
            </a:r>
            <a:r>
              <a:rPr b="0" sz="2000"/>
              <a:t> → reconciliation side only — never the cash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two reconciliation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Format 1 (from cash book): add unpresented cheques; less uncredited deposits</a:t>
            </a:r>
          </a:p>
          <a:p>
            <a:pPr>
              <a:spcAft>
                <a:spcPts val="1000"/>
              </a:spcAft>
            </a:pPr>
            <a:r>
              <a:rPr b="0" sz="2000"/>
              <a:t>Format 2 (from statement): add uncredited deposits; less unpresented cheques</a:t>
            </a:r>
          </a:p>
          <a:p>
            <a:pPr>
              <a:spcAft>
                <a:spcPts val="1000"/>
              </a:spcAft>
            </a:pPr>
            <a:r>
              <a:rPr b="0" sz="2000"/>
              <a:t>Logic: cheques make bank balance too high; deposits too low</a:t>
            </a:r>
          </a:p>
          <a:p>
            <a:pPr>
              <a:spcAft>
                <a:spcPts val="1000"/>
              </a:spcAft>
            </a:pPr>
            <a:r>
              <a:rPr b="0" sz="2000"/>
              <a:t>Unpresented: add to cash-book side, subtract from bank side</a:t>
            </a:r>
          </a:p>
          <a:p>
            <a:pPr>
              <a:spcAft>
                <a:spcPts val="1000"/>
              </a:spcAft>
            </a:pPr>
            <a:r>
              <a:rPr b="0" sz="2000"/>
              <a:t>Bank errors adjust the *bank statement*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Joseph Kahiga: cash book 179,300; statement 155,700</a:t>
            </a:r>
          </a:p>
          <a:p>
            <a:pPr>
              <a:spcAft>
                <a:spcPts val="1000"/>
              </a:spcAft>
            </a:pPr>
            <a:r>
              <a:rPr b="0" sz="2000"/>
              <a:t>Update: + dividend 2,600 − standing order 3,200 − charges 1,800 − debit 8,800</a:t>
            </a:r>
          </a:p>
          <a:p>
            <a:pPr>
              <a:spcAft>
                <a:spcPts val="1000"/>
              </a:spcAft>
            </a:pPr>
            <a:r>
              <a:rPr b="0" sz="2000"/>
              <a:t>Updated cash book = </a:t>
            </a:r>
            <a:r>
              <a:rPr b="1" sz="2000"/>
              <a:t>168,100</a:t>
            </a:r>
          </a:p>
          <a:p>
            <a:pPr>
              <a:spcAft>
                <a:spcPts val="1000"/>
              </a:spcAft>
            </a:pPr>
            <a:r>
              <a:rPr b="0" sz="2000"/>
              <a:t>Reconcile: 168,100 + unpresented 10,800 − uncredited 23,200 = </a:t>
            </a:r>
            <a:r>
              <a:rPr b="1" sz="2000"/>
              <a:t>155,700</a:t>
            </a:r>
            <a:r>
              <a:rPr b="0" sz="2000"/>
              <a:t> ✓</a:t>
            </a:r>
          </a:p>
          <a:p>
            <a:pPr>
              <a:spcAft>
                <a:spcPts val="1000"/>
              </a:spcAft>
            </a:pPr>
            <a:r>
              <a:rPr b="0" sz="2000"/>
              <a:t>Always prove the final line equals the given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2: the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Wrong-side brought-forward balance → correct by </a:t>
            </a:r>
            <a:r>
              <a:rPr b="1" sz="2000"/>
              <a:t>double</a:t>
            </a:r>
            <a:r>
              <a:rPr b="0" sz="2000"/>
              <a:t> (2 × 329,250)</a:t>
            </a:r>
          </a:p>
          <a:p>
            <a:pPr>
              <a:spcAft>
                <a:spcPts val="1000"/>
              </a:spcAft>
            </a:pPr>
            <a:r>
              <a:rPr b="0" sz="2000"/>
              <a:t>Bank credited a deposit to the wrong account → </a:t>
            </a:r>
            <a:r>
              <a:rPr b="1" sz="2000"/>
              <a:t>bank</a:t>
            </a:r>
            <a:r>
              <a:rPr b="0" sz="2000"/>
              <a:t> error, not cash book</a:t>
            </a:r>
          </a:p>
          <a:p>
            <a:pPr>
              <a:spcAft>
                <a:spcPts val="1000"/>
              </a:spcAft>
            </a:pPr>
            <a:r>
              <a:rPr b="0" sz="2000"/>
              <a:t>Written-back cheque already honoured → reverse it back out</a:t>
            </a:r>
          </a:p>
          <a:p>
            <a:pPr>
              <a:spcAft>
                <a:spcPts val="1000"/>
              </a:spcAft>
            </a:pPr>
            <a:r>
              <a:rPr b="0" sz="2000"/>
              <a:t>Dishonoured cheque and bank charges update the cash book first</a:t>
            </a:r>
          </a:p>
          <a:p>
            <a:pPr>
              <a:spcAft>
                <a:spcPts val="1000"/>
              </a:spcAft>
            </a:pPr>
            <a:r>
              <a:rPr b="0" sz="2000"/>
              <a:t>Mwambi: adjusted 1,615,000 − items = statement 706,500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Overdrafts in reconciliations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Overdraft = withdrawals beyond zero balance</a:t>
            </a:r>
          </a:p>
          <a:p>
            <a:pPr>
              <a:spcAft>
                <a:spcPts val="1000"/>
              </a:spcAft>
            </a:pPr>
            <a:r>
              <a:rPr b="0" sz="2000"/>
              <a:t>Cash book: </a:t>
            </a:r>
            <a:r>
              <a:rPr b="1" sz="2000"/>
              <a:t>credit</a:t>
            </a:r>
            <a:r>
              <a:rPr b="0" sz="2000"/>
              <a:t> balance; statement: </a:t>
            </a:r>
            <a:r>
              <a:rPr b="1" sz="2000"/>
              <a:t>debit</a:t>
            </a:r>
            <a:r>
              <a:rPr b="0" sz="2000"/>
              <a:t> balance</a:t>
            </a:r>
          </a:p>
          <a:p>
            <a:pPr>
              <a:spcAft>
                <a:spcPts val="1000"/>
              </a:spcAft>
            </a:pPr>
            <a:r>
              <a:rPr b="0" sz="2000"/>
              <a:t>It is a </a:t>
            </a:r>
            <a:r>
              <a:rPr b="1" sz="2000"/>
              <a:t>current liability</a:t>
            </a:r>
            <a:r>
              <a:rPr b="0" sz="2000"/>
              <a:t> in the statement of financial position</a:t>
            </a:r>
          </a:p>
          <a:p>
            <a:pPr>
              <a:spcAft>
                <a:spcPts val="1000"/>
              </a:spcAft>
            </a:pPr>
            <a:r>
              <a:rPr b="0" sz="2000"/>
              <a:t>Keep the minus sign on the overdrawn side through every line</a:t>
            </a:r>
          </a:p>
          <a:p>
            <a:pPr>
              <a:spcAft>
                <a:spcPts val="1000"/>
              </a:spcAft>
            </a:pPr>
            <a:r>
              <a:rPr b="0" sz="2000"/>
              <a:t>Same two-step procedure per account — signs reversed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Update the cash book FIRST — then reconcile (never one step)</a:t>
            </a:r>
          </a:p>
          <a:p>
            <a:pPr>
              <a:spcAft>
                <a:spcPts val="1000"/>
              </a:spcAft>
            </a:pPr>
            <a:r>
              <a:rPr b="0" sz="2000"/>
              <a:t>Dishonoured cheques go back to the </a:t>
            </a:r>
            <a:r>
              <a:rPr b="1" sz="2000"/>
              <a:t>debtor</a:t>
            </a:r>
            <a:r>
              <a:rPr b="0" sz="2000"/>
              <a:t>, never to sales</a:t>
            </a:r>
          </a:p>
          <a:p>
            <a:pPr>
              <a:spcAft>
                <a:spcPts val="1000"/>
              </a:spcAft>
            </a:pPr>
            <a:r>
              <a:rPr b="0" sz="2000"/>
              <a:t>Bank errors are never adjusted in the cash book</a:t>
            </a:r>
          </a:p>
          <a:p>
            <a:pPr>
              <a:spcAft>
                <a:spcPts val="1000"/>
              </a:spcAft>
            </a:pPr>
            <a:r>
              <a:rPr b="0" sz="2000"/>
              <a:t>Direct items found on the statement → cash book update, then vanish</a:t>
            </a:r>
          </a:p>
          <a:p>
            <a:pPr>
              <a:spcAft>
                <a:spcPts val="1000"/>
              </a:spcAft>
            </a:pPr>
            <a:r>
              <a:rPr b="0" sz="2000"/>
              <a:t>Two workings: 'Updated cash book' then 'Bank reconciliation statement'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