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Statement of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Sole Trader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the statement of financial position and state its purpose</a:t>
            </a:r>
          </a:p>
          <a:p>
            <a:pPr>
              <a:spcAft>
                <a:spcPts val="1000"/>
              </a:spcAft>
            </a:pPr>
            <a:r>
              <a:rPr b="0" sz="2000"/>
              <a:t>Distinguish it from the trial balance — seven points of difference</a:t>
            </a:r>
          </a:p>
          <a:p>
            <a:pPr>
              <a:spcAft>
                <a:spcPts val="1000"/>
              </a:spcAft>
            </a:pPr>
            <a:r>
              <a:rPr b="0" sz="2000"/>
              <a:t>Classify assets: non-current, intangible, current, liquid, fictitious, wasting</a:t>
            </a:r>
          </a:p>
          <a:p>
            <a:pPr>
              <a:spcAft>
                <a:spcPts val="1000"/>
              </a:spcAft>
            </a:pPr>
            <a:r>
              <a:rPr b="0" sz="2000"/>
              <a:t>Classify liabilities into non-current, current and contingent</a:t>
            </a:r>
          </a:p>
          <a:p>
            <a:pPr>
              <a:spcAft>
                <a:spcPts val="1000"/>
              </a:spcAft>
            </a:pPr>
            <a:r>
              <a:rPr b="0" sz="2000"/>
              <a:t>Apply grouping and marshalling in the order of permanence</a:t>
            </a:r>
          </a:p>
          <a:p>
            <a:pPr>
              <a:spcAft>
                <a:spcPts val="1000"/>
              </a:spcAft>
            </a:pPr>
            <a:r>
              <a:rPr b="0" sz="2000"/>
              <a:t>Prepare a SOFP in vertical format with capital properly reconciled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the statement of financial position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Summary of financial balances as at a specific date — a 'snapshot'</a:t>
            </a:r>
          </a:p>
          <a:p>
            <a:pPr>
              <a:spcAft>
                <a:spcPts val="1000"/>
              </a:spcAft>
            </a:pPr>
            <a:r>
              <a:rPr b="0" sz="2000"/>
              <a:t>Lists assets, liabilities and the owner's equity</a:t>
            </a:r>
          </a:p>
          <a:p>
            <a:pPr>
              <a:spcAft>
                <a:spcPts val="1000"/>
              </a:spcAft>
            </a:pPr>
            <a:r>
              <a:rPr b="0" sz="2000"/>
              <a:t>Prepared AFTER the income statement (net profit updates capital)</a:t>
            </a:r>
          </a:p>
          <a:p>
            <a:pPr>
              <a:spcAft>
                <a:spcPts val="1000"/>
              </a:spcAft>
            </a:pPr>
            <a:r>
              <a:rPr b="0" sz="2000"/>
              <a:t>Contains only real and personal accounts not yet squared up</a:t>
            </a:r>
          </a:p>
          <a:p>
            <a:pPr>
              <a:spcAft>
                <a:spcPts val="1000"/>
              </a:spcAft>
            </a:pPr>
            <a:r>
              <a:rPr b="0" sz="2000"/>
              <a:t>Nominal (income/expense) accounts already closed to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Must balance: Total assets = Capital + Liabilities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Trial balance vs statement of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Purpose: checks arithmetical accuracy → reveals the financial position</a:t>
            </a:r>
          </a:p>
          <a:p>
            <a:pPr>
              <a:spcAft>
                <a:spcPts val="1000"/>
              </a:spcAft>
            </a:pPr>
            <a:r>
              <a:rPr b="0" sz="2000"/>
              <a:t>Proves: total debits = total credits → assets = liabilities + equity</a:t>
            </a:r>
          </a:p>
          <a:p>
            <a:pPr>
              <a:spcAft>
                <a:spcPts val="1000"/>
              </a:spcAft>
            </a:pPr>
            <a:r>
              <a:rPr b="0" sz="2000"/>
              <a:t>Timing: prepared before the income statement → prepared after it</a:t>
            </a:r>
          </a:p>
          <a:p>
            <a:pPr>
              <a:spcAft>
                <a:spcPts val="1000"/>
              </a:spcAft>
            </a:pPr>
            <a:r>
              <a:rPr b="0" sz="2000"/>
              <a:t>Closing stock: not included → included on the assets side</a:t>
            </a:r>
          </a:p>
          <a:p>
            <a:pPr>
              <a:spcAft>
                <a:spcPts val="1000"/>
              </a:spcAft>
            </a:pPr>
            <a:r>
              <a:rPr b="0" sz="2000"/>
              <a:t>Accruals/prepayments: do not appear → appear as liabilities/assets</a:t>
            </a:r>
          </a:p>
          <a:p>
            <a:pPr>
              <a:spcAft>
                <a:spcPts val="1000"/>
              </a:spcAft>
            </a:pPr>
            <a:r>
              <a:rPr b="0" sz="2000"/>
              <a:t>Columns: 'debit/credit' → 'assets' and 'liabilities &amp; equity'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Classifying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Non-current: held for use, not resale — land, plant, vehicles (cost less depn)</a:t>
            </a:r>
          </a:p>
          <a:p>
            <a:pPr>
              <a:spcAft>
                <a:spcPts val="1000"/>
              </a:spcAft>
            </a:pPr>
            <a:r>
              <a:rPr b="0" sz="2000"/>
              <a:t>Intangible: no physical existence — goodwill, patents, trademarks</a:t>
            </a:r>
          </a:p>
          <a:p>
            <a:pPr>
              <a:spcAft>
                <a:spcPts val="1000"/>
              </a:spcAft>
            </a:pPr>
            <a:r>
              <a:rPr b="0" sz="2000"/>
              <a:t>Current: convertible to cash within the operating cycle — stock, debtors, bank</a:t>
            </a:r>
          </a:p>
          <a:p>
            <a:pPr>
              <a:spcAft>
                <a:spcPts val="1000"/>
              </a:spcAft>
            </a:pPr>
            <a:r>
              <a:rPr b="0" sz="2000"/>
              <a:t>Liquid (quick): current assets minus stock and prepayments</a:t>
            </a:r>
          </a:p>
          <a:p>
            <a:pPr>
              <a:spcAft>
                <a:spcPts val="1000"/>
              </a:spcAft>
            </a:pPr>
            <a:r>
              <a:rPr b="0" sz="2000"/>
              <a:t>Fictitious: unamortised past costs — preliminary expenses; written off</a:t>
            </a:r>
          </a:p>
          <a:p>
            <a:pPr>
              <a:spcAft>
                <a:spcPts val="1000"/>
              </a:spcAft>
            </a:pPr>
            <a:r>
              <a:rPr b="0" sz="2000"/>
              <a:t>Wasting: natural resources — timber, coal, oil wells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Classifying liabilities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Non-current: not due within the operating cycle — loans, debentures, mortgages</a:t>
            </a:r>
          </a:p>
          <a:p>
            <a:pPr>
              <a:spcAft>
                <a:spcPts val="1000"/>
              </a:spcAft>
            </a:pPr>
            <a:r>
              <a:rPr b="0" sz="2000"/>
              <a:t>Current: payable within the year — creditors, overdraft, accrued expenses</a:t>
            </a:r>
          </a:p>
          <a:p>
            <a:pPr>
              <a:spcAft>
                <a:spcPts val="1000"/>
              </a:spcAft>
            </a:pPr>
            <a:r>
              <a:rPr b="0" sz="2000"/>
              <a:t>Contingent: potential obligations — bills discounted, guarantees, lawsuits</a:t>
            </a:r>
          </a:p>
          <a:p>
            <a:pPr>
              <a:spcAft>
                <a:spcPts val="1000"/>
              </a:spcAft>
            </a:pPr>
            <a:r>
              <a:rPr b="0" sz="2000"/>
              <a:t>Probable and estimable → make a journal entry</a:t>
            </a:r>
          </a:p>
          <a:p>
            <a:pPr>
              <a:spcAft>
                <a:spcPts val="1000"/>
              </a:spcAft>
            </a:pPr>
            <a:r>
              <a:rPr b="0" sz="2000"/>
              <a:t>Merely possible → disclose by note; remote → do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Grouping and marshalling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Grouping: items of a similar nature under one head, e.g. 'Current assets'</a:t>
            </a:r>
          </a:p>
          <a:p>
            <a:pPr>
              <a:spcAft>
                <a:spcPts val="1000"/>
              </a:spcAft>
            </a:pPr>
            <a:r>
              <a:rPr b="0" sz="2000"/>
              <a:t>Marshalling: arrange assets and liabilities in a logical order</a:t>
            </a:r>
          </a:p>
          <a:p>
            <a:pPr>
              <a:spcAft>
                <a:spcPts val="1000"/>
              </a:spcAft>
            </a:pPr>
            <a:r>
              <a:rPr b="0" sz="2000"/>
              <a:t>Order of liquidity: most liquid first (cash → debtors → stock → fixed assets)</a:t>
            </a:r>
          </a:p>
          <a:p>
            <a:pPr>
              <a:spcAft>
                <a:spcPts val="1000"/>
              </a:spcAft>
            </a:pPr>
            <a:r>
              <a:rPr b="0" sz="2000"/>
              <a:t>Order of permanence: the reverse — fixed assets first</a:t>
            </a:r>
          </a:p>
          <a:p>
            <a:pPr>
              <a:spcAft>
                <a:spcPts val="1000"/>
              </a:spcAft>
            </a:pPr>
            <a:r>
              <a:rPr b="0" sz="2000"/>
              <a:t>KASNEB expects the order of permanence — use it always</a:t>
            </a:r>
          </a:p>
          <a:p>
            <a:pPr>
              <a:spcAft>
                <a:spcPts val="1000"/>
              </a:spcAft>
            </a:pPr>
            <a:r>
              <a:rPr b="0" sz="2000"/>
              <a:t>Capital section: opening capital + net profit − drawings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S. Mwangi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 assets at cost less accumulated depreciation → NBV Sh.4,299,200</a:t>
            </a:r>
          </a:p>
          <a:p>
            <a:pPr>
              <a:spcAft>
                <a:spcPts val="1000"/>
              </a:spcAft>
            </a:pPr>
            <a:r>
              <a:rPr b="0" sz="2000"/>
              <a:t>Current assets: stock, debtors less bad-debt provision, bank, prepayments</a:t>
            </a:r>
          </a:p>
          <a:p>
            <a:pPr>
              <a:spcAft>
                <a:spcPts val="1000"/>
              </a:spcAft>
            </a:pPr>
            <a:r>
              <a:rPr b="0" sz="2000"/>
              <a:t>Total assets Sh.8,965,190</a:t>
            </a:r>
          </a:p>
          <a:p>
            <a:pPr>
              <a:spcAft>
                <a:spcPts val="1000"/>
              </a:spcAft>
            </a:pPr>
            <a:r>
              <a:rPr b="0" sz="2000"/>
              <a:t>Capital Sh.5,920,000 + net profit Sh.2,076,190 − drawings Sh.1,200,000</a:t>
            </a:r>
          </a:p>
          <a:p>
            <a:pPr>
              <a:spcAft>
                <a:spcPts val="1000"/>
              </a:spcAft>
            </a:pPr>
            <a:r>
              <a:rPr b="0" sz="2000"/>
              <a:t>Current liabilities: creditors Sh.2,169,000</a:t>
            </a:r>
          </a:p>
          <a:p>
            <a:pPr>
              <a:spcAft>
                <a:spcPts val="1000"/>
              </a:spcAft>
            </a:pPr>
            <a:r>
              <a:rPr b="0" sz="2000"/>
              <a:t>Check: 8,965,190 = 6,796,190 + 2,169,000 ✓ — the statement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Limitations of 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Accounting policy choices (depreciation, stock valuation) change reported profit</a:t>
            </a:r>
          </a:p>
          <a:p>
            <a:pPr>
              <a:spcAft>
                <a:spcPts val="1000"/>
              </a:spcAft>
            </a:pPr>
            <a:r>
              <a:rPr b="0" sz="2000"/>
              <a:t>One set of statements cannot serve all users equally</a:t>
            </a:r>
          </a:p>
          <a:p>
            <a:pPr>
              <a:spcAft>
                <a:spcPts val="1000"/>
              </a:spcAft>
            </a:pPr>
            <a:r>
              <a:rPr b="0" sz="2000"/>
              <a:t>Only monetary items appear — morale, management quality, loyalty omitted</a:t>
            </a:r>
          </a:p>
          <a:p>
            <a:pPr>
              <a:spcAft>
                <a:spcPts val="1000"/>
              </a:spcAft>
            </a:pPr>
            <a:r>
              <a:rPr b="0" sz="2000"/>
              <a:t>Human resources — the most important asset — are never recognised</a:t>
            </a:r>
          </a:p>
          <a:p>
            <a:pPr>
              <a:spcAft>
                <a:spcPts val="1000"/>
              </a:spcAft>
            </a:pPr>
            <a:r>
              <a:rPr b="0" sz="2000"/>
              <a:t>Inflation distorts historical-cost values; profitability can be illusory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Forgetting to add net profit to capital — the SOFP comes after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Adding drawings instead of deducting them from capital</a:t>
            </a:r>
          </a:p>
          <a:p>
            <a:pPr>
              <a:spcAft>
                <a:spcPts val="1000"/>
              </a:spcAft>
            </a:pPr>
            <a:r>
              <a:rPr b="0" sz="2000"/>
              <a:t>Showing accumulated depreciation as a liability — deduct it from cost</a:t>
            </a:r>
          </a:p>
          <a:p>
            <a:pPr>
              <a:spcAft>
                <a:spcPts val="1000"/>
              </a:spcAft>
            </a:pPr>
            <a:r>
              <a:rPr b="0" sz="2000"/>
              <a:t>Including nominal balances (salaries, rent paid) — they belong in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Omitting accruals, prepayments and provisions against debtors</a:t>
            </a:r>
          </a:p>
          <a:p>
            <a:pPr>
              <a:spcAft>
                <a:spcPts val="1000"/>
              </a:spcAft>
            </a:pPr>
            <a:r>
              <a:rPr b="0" sz="2000"/>
              <a:t>Marshalling in liquidity order — KASNEB wants the order of permanence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The SOFP follows the income statement; it holds assets, liabilities and capital only</a:t>
            </a:r>
          </a:p>
          <a:p>
            <a:pPr>
              <a:spcAft>
                <a:spcPts val="1000"/>
              </a:spcAft>
            </a:pPr>
            <a:r>
              <a:rPr b="0" sz="2000"/>
              <a:t>Assets = Capital + Liabilities — use it as your arithmetic check</a:t>
            </a:r>
          </a:p>
          <a:p>
            <a:pPr>
              <a:spcAft>
                <a:spcPts val="1000"/>
              </a:spcAft>
            </a:pPr>
            <a:r>
              <a:rPr b="0" sz="2000"/>
              <a:t>Mark every trial balance item 'IS' or 'SOFP' before writing</a:t>
            </a:r>
          </a:p>
          <a:p>
            <a:pPr>
              <a:spcAft>
                <a:spcPts val="1000"/>
              </a:spcAft>
            </a:pPr>
            <a:r>
              <a:rPr b="0" sz="2000"/>
              <a:t>Show non-current assets as Cost / Accumulated depreciation / NBV</a:t>
            </a:r>
          </a:p>
          <a:p>
            <a:pPr>
              <a:spcAft>
                <a:spcPts val="1000"/>
              </a:spcAft>
            </a:pPr>
            <a:r>
              <a:rPr b="0" sz="2000"/>
              <a:t>Capital always: opening capital + net profit − drawings</a:t>
            </a:r>
          </a:p>
          <a:p>
            <a:pPr>
              <a:spcAft>
                <a:spcPts val="1000"/>
              </a:spcAft>
            </a:pPr>
            <a:r>
              <a:rPr b="0" sz="2000"/>
              <a:t>Memorise the seven TB-vs-SOFP differences — a ready-made 7-mark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