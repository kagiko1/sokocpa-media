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Books of Original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Recording Transactions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journals and special journals exist</a:t>
            </a:r>
          </a:p>
          <a:p>
            <a:pPr>
              <a:spcAft>
                <a:spcPts val="1000"/>
              </a:spcAft>
            </a:pPr>
            <a:r>
              <a:rPr b="0" sz="2000"/>
              <a:t>Record in day books, cash book, petty cash book, general journal</a:t>
            </a:r>
          </a:p>
          <a:p>
            <a:pPr>
              <a:spcAft>
                <a:spcPts val="1000"/>
              </a:spcAft>
            </a:pPr>
            <a:r>
              <a:rPr b="0" sz="2000"/>
              <a:t>Post day-book totals and entries with correct double entries</a:t>
            </a:r>
          </a:p>
          <a:p>
            <a:pPr>
              <a:spcAft>
                <a:spcPts val="1000"/>
              </a:spcAft>
            </a:pPr>
            <a:r>
              <a:rPr b="0" sz="2000"/>
              <a:t>Account for trade/cash discounts, drawings and contra entries</a:t>
            </a:r>
          </a:p>
          <a:p>
            <a:pPr>
              <a:spcAft>
                <a:spcPts val="1000"/>
              </a:spcAft>
            </a:pPr>
            <a:r>
              <a:rPr b="0" sz="2000"/>
              <a:t>Prepare a petty cash book on the </a:t>
            </a:r>
            <a:r>
              <a:rPr b="1" sz="2000"/>
              <a:t>imprest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journals? Why special journals?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First formal record — a 'financial diary' in date order</a:t>
            </a:r>
          </a:p>
          <a:p>
            <a:pPr>
              <a:spcAft>
                <a:spcPts val="1000"/>
              </a:spcAft>
            </a:pPr>
            <a:r>
              <a:rPr b="0" sz="2000"/>
              <a:t>Special journals group like transactions together</a:t>
            </a:r>
          </a:p>
          <a:p>
            <a:pPr>
              <a:spcAft>
                <a:spcPts val="1000"/>
              </a:spcAft>
            </a:pPr>
            <a:r>
              <a:rPr b="0" sz="2000"/>
              <a:t>Totals posted monthly to the ledger — saves time</a:t>
            </a:r>
          </a:p>
          <a:p>
            <a:pPr>
              <a:spcAft>
                <a:spcPts val="1000"/>
              </a:spcAft>
            </a:pPr>
            <a:r>
              <a:rPr b="0" sz="2000"/>
              <a:t>Enables division of labour and stronger internal control</a:t>
            </a:r>
          </a:p>
          <a:p>
            <a:pPr>
              <a:spcAft>
                <a:spcPts val="1000"/>
              </a:spcAft>
            </a:pPr>
            <a:r>
              <a:rPr b="0" sz="2000"/>
              <a:t>Seven books: sales, purchases, returns ×2, cash, petty cash,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Day books: the four postings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Sales journal</a:t>
            </a:r>
            <a:r>
              <a:rPr b="0" sz="2000"/>
              <a:t>: Dr each debtor / Cr Sales (total)</a:t>
            </a:r>
          </a:p>
          <a:p>
            <a:pPr>
              <a:spcAft>
                <a:spcPts val="1000"/>
              </a:spcAft>
            </a:pPr>
            <a:r>
              <a:rPr b="1" sz="2000"/>
              <a:t>Purchases journal</a:t>
            </a:r>
            <a:r>
              <a:rPr b="0" sz="2000"/>
              <a:t>: Dr Purchases (total) / Cr each creditor</a:t>
            </a:r>
          </a:p>
          <a:p>
            <a:pPr>
              <a:spcAft>
                <a:spcPts val="1000"/>
              </a:spcAft>
            </a:pPr>
            <a:r>
              <a:rPr b="1" sz="2000"/>
              <a:t>Returns inwards</a:t>
            </a:r>
            <a:r>
              <a:rPr b="0" sz="2000"/>
              <a:t>: Dr Returns inwards (total) / Cr each debtor</a:t>
            </a:r>
          </a:p>
          <a:p>
            <a:pPr>
              <a:spcAft>
                <a:spcPts val="1000"/>
              </a:spcAft>
            </a:pPr>
            <a:r>
              <a:rPr b="1" sz="2000"/>
              <a:t>Returns outwards</a:t>
            </a:r>
            <a:r>
              <a:rPr b="0" sz="2000"/>
              <a:t>: Dr each creditor / Cr Returns outwards (total)</a:t>
            </a:r>
          </a:p>
          <a:p>
            <a:pPr>
              <a:spcAft>
                <a:spcPts val="1000"/>
              </a:spcAft>
            </a:pPr>
            <a:r>
              <a:rPr b="0" sz="2000"/>
              <a:t>Only </a:t>
            </a:r>
            <a:r>
              <a:rPr b="1" sz="2000"/>
              <a:t>credit</a:t>
            </a:r>
            <a:r>
              <a:rPr b="0" sz="2000"/>
              <a:t> transactions — cash sales never enter day 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Trade discount vs cash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Trade discount</a:t>
            </a:r>
            <a:r>
              <a:rPr b="0" sz="2000"/>
              <a:t> deducted before recording; never in the ledger</a:t>
            </a:r>
          </a:p>
          <a:p>
            <a:pPr>
              <a:spcAft>
                <a:spcPts val="1000"/>
              </a:spcAft>
            </a:pPr>
            <a:r>
              <a:rPr b="0" sz="2000"/>
              <a:t>Moongo example: Sh. 30,000 less 20% → record </a:t>
            </a:r>
            <a:r>
              <a:rPr b="1" sz="2000"/>
              <a:t>Sh. 24,000</a:t>
            </a:r>
          </a:p>
          <a:p>
            <a:pPr>
              <a:spcAft>
                <a:spcPts val="1000"/>
              </a:spcAft>
            </a:pPr>
            <a:r>
              <a:rPr b="0" sz="2000"/>
              <a:t>Sold Sh. 15,000 less 10% → record </a:t>
            </a:r>
            <a:r>
              <a:rPr b="1" sz="2000"/>
              <a:t>Sh. 13,500</a:t>
            </a:r>
          </a:p>
          <a:p>
            <a:pPr>
              <a:spcAft>
                <a:spcPts val="1000"/>
              </a:spcAft>
            </a:pPr>
            <a:r>
              <a:rPr b="0" sz="2000"/>
              <a:t>Trade discount has </a:t>
            </a:r>
            <a:r>
              <a:rPr b="1" sz="2000"/>
              <a:t>no ledger account</a:t>
            </a:r>
          </a:p>
          <a:p>
            <a:pPr>
              <a:spcAft>
                <a:spcPts val="1000"/>
              </a:spcAft>
            </a:pPr>
            <a:r>
              <a:rPr b="0" sz="2000"/>
              <a:t>Cash discount does — discount allowed /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cash book (2- and 3-column)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 side = receipts (cash + bank columns); credit side = payments</a:t>
            </a:r>
          </a:p>
          <a:p>
            <a:pPr>
              <a:spcAft>
                <a:spcPts val="1000"/>
              </a:spcAft>
            </a:pPr>
            <a:r>
              <a:rPr b="0" sz="2000"/>
              <a:t>Third column adds </a:t>
            </a:r>
            <a:r>
              <a:rPr b="1" sz="2000"/>
              <a:t>discount allowed</a:t>
            </a:r>
            <a:r>
              <a:rPr b="0" sz="2000"/>
              <a:t> (Dr) / </a:t>
            </a:r>
            <a:r>
              <a:rPr b="1" sz="2000"/>
              <a:t>discount received</a:t>
            </a:r>
            <a:r>
              <a:rPr b="0" sz="2000"/>
              <a:t> (Cr)</a:t>
            </a:r>
          </a:p>
          <a:p>
            <a:pPr>
              <a:spcAft>
                <a:spcPts val="1000"/>
              </a:spcAft>
            </a:pPr>
            <a:r>
              <a:rPr b="1" sz="2000"/>
              <a:t>Contra entries</a:t>
            </a:r>
            <a:r>
              <a:rPr b="0" sz="2000"/>
              <a:t> (cash↔bank) marked 'C' — not posted to ledger</a:t>
            </a:r>
          </a:p>
          <a:p>
            <a:pPr>
              <a:spcAft>
                <a:spcPts val="1000"/>
              </a:spcAft>
            </a:pPr>
            <a:r>
              <a:rPr b="0" sz="2000"/>
              <a:t>Discount totals posted: allowed → Dr account; received → Cr account</a:t>
            </a:r>
          </a:p>
          <a:p>
            <a:pPr>
              <a:spcAft>
                <a:spcPts val="1000"/>
              </a:spcAft>
            </a:pPr>
            <a:r>
              <a:rPr b="0" sz="2000"/>
              <a:t>Sh. 1,000,000 at 5% discount: Dr Creditor / Cr Bank 950,000, Cr disc. rec. 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Drawings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Goods taken: Dr Drawings / Cr </a:t>
            </a:r>
            <a:r>
              <a:rPr b="1" sz="2000"/>
              <a:t>Purchases</a:t>
            </a:r>
            <a:r>
              <a:rPr b="0" sz="2000"/>
              <a:t> (at cost)</a:t>
            </a:r>
          </a:p>
          <a:p>
            <a:pPr>
              <a:spcAft>
                <a:spcPts val="1000"/>
              </a:spcAft>
            </a:pPr>
            <a:r>
              <a:rPr b="0" sz="2000"/>
              <a:t>Cash/bank withdrawn: Dr Drawings / Cr Cash/Bank</a:t>
            </a:r>
          </a:p>
          <a:p>
            <a:pPr>
              <a:spcAft>
                <a:spcPts val="1000"/>
              </a:spcAft>
            </a:pPr>
            <a:r>
              <a:rPr b="0" sz="2000"/>
              <a:t>Personal expenses paid: Dr Drawings / Cr Expense account</a:t>
            </a:r>
          </a:p>
          <a:p>
            <a:pPr>
              <a:spcAft>
                <a:spcPts val="1000"/>
              </a:spcAft>
            </a:pPr>
            <a:r>
              <a:rPr b="0" sz="2000"/>
              <a:t>Asset taken over: Dr Drawings / Cr the asset account</a:t>
            </a:r>
          </a:p>
          <a:p>
            <a:pPr>
              <a:spcAft>
                <a:spcPts val="1000"/>
              </a:spcAft>
            </a:pPr>
            <a:r>
              <a:rPr b="0" sz="2000"/>
              <a:t>Non-current asset bought on credit → </a:t>
            </a:r>
            <a:r>
              <a:rPr b="1" sz="2000"/>
              <a:t>general journal</a:t>
            </a:r>
            <a:r>
              <a:rPr b="0" sz="2000"/>
              <a:t>, not purchases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Petty cash and the imprest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Fixed </a:t>
            </a:r>
            <a:r>
              <a:rPr b="1" sz="2000"/>
              <a:t>float</a:t>
            </a:r>
            <a:r>
              <a:rPr b="0" sz="2000"/>
              <a:t>; reimbursed exactly what was spent</a:t>
            </a:r>
          </a:p>
          <a:p>
            <a:pPr>
              <a:spcAft>
                <a:spcPts val="1000"/>
              </a:spcAft>
            </a:pPr>
            <a:r>
              <a:rPr b="0" sz="2000"/>
              <a:t>Mmboga: float 300,000 − spent 286,000 → reimburse </a:t>
            </a:r>
            <a:r>
              <a:rPr b="1" sz="2000"/>
              <a:t>286,000</a:t>
            </a:r>
          </a:p>
          <a:p>
            <a:pPr>
              <a:spcAft>
                <a:spcPts val="1000"/>
              </a:spcAft>
            </a:pPr>
            <a:r>
              <a:rPr b="0" sz="2000"/>
              <a:t>Analyse columns: postage, stationery, travelling, motor, cleaning</a:t>
            </a:r>
          </a:p>
          <a:p>
            <a:pPr>
              <a:spcAft>
                <a:spcPts val="1000"/>
              </a:spcAft>
            </a:pPr>
            <a:r>
              <a:rPr b="0" sz="2000"/>
              <a:t>Reimbursement = payments for the period, not the float</a:t>
            </a:r>
          </a:p>
          <a:p>
            <a:pPr>
              <a:spcAft>
                <a:spcPts val="1000"/>
              </a:spcAft>
            </a:pPr>
            <a:r>
              <a:rPr b="0" sz="2000"/>
              <a:t>Over/short: shortage = expense (Dr), overage = revenue (Cr)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general journal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For what fits no special journal: narrations required</a:t>
            </a:r>
          </a:p>
          <a:p>
            <a:pPr>
              <a:spcAft>
                <a:spcPts val="1000"/>
              </a:spcAft>
            </a:pPr>
            <a:r>
              <a:rPr b="0" sz="2000"/>
              <a:t>Credit deals in </a:t>
            </a:r>
            <a:r>
              <a:rPr b="1" sz="2000"/>
              <a:t>non-current assets</a:t>
            </a:r>
            <a:r>
              <a:rPr b="0" sz="2000"/>
              <a:t>, bad debts, corrections, opening entries</a:t>
            </a:r>
          </a:p>
          <a:p>
            <a:pPr>
              <a:spcAft>
                <a:spcPts val="1000"/>
              </a:spcAft>
            </a:pPr>
            <a:r>
              <a:rPr b="0" sz="2000"/>
              <a:t>Narration explains the entry in one line</a:t>
            </a:r>
          </a:p>
          <a:p>
            <a:pPr>
              <a:spcAft>
                <a:spcPts val="1000"/>
              </a:spcAft>
            </a:pPr>
            <a:r>
              <a:rPr b="0" sz="2000"/>
              <a:t>Shows folio/document reference for the audit trail</a:t>
            </a:r>
          </a:p>
          <a:p>
            <a:pPr>
              <a:spcAft>
                <a:spcPts val="1000"/>
              </a:spcAft>
            </a:pPr>
            <a:r>
              <a:rPr b="0" sz="2000"/>
              <a:t>Example: Dr Motor vehicles / Cr Onze Motors Sh. 200,000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Returns inwards = Dr; returns outwards = Cr — reversing loses marks</a:t>
            </a:r>
          </a:p>
          <a:p>
            <a:pPr>
              <a:spcAft>
                <a:spcPts val="1000"/>
              </a:spcAft>
            </a:pPr>
            <a:r>
              <a:rPr b="0" sz="2000"/>
              <a:t>Trade discount: net recorded, no account; cash discount: in ledger</a:t>
            </a:r>
          </a:p>
          <a:p>
            <a:pPr>
              <a:spcAft>
                <a:spcPts val="1000"/>
              </a:spcAft>
            </a:pPr>
            <a:r>
              <a:rPr b="0" sz="2000"/>
              <a:t>Contra entries are *not* posted — double entry completes in cash book</a:t>
            </a:r>
          </a:p>
          <a:p>
            <a:pPr>
              <a:spcAft>
                <a:spcPts val="1000"/>
              </a:spcAft>
            </a:pPr>
            <a:r>
              <a:rPr b="0" sz="2000"/>
              <a:t>Imprest reimbursement = float − balance c/d</a:t>
            </a:r>
          </a:p>
          <a:p>
            <a:pPr>
              <a:spcAft>
                <a:spcPts val="1000"/>
              </a:spcAft>
            </a:pPr>
            <a:r>
              <a:rPr b="0" sz="2000"/>
              <a:t>Day-book question: state the four postings with Dr/Cr — that's the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