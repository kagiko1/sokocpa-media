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Single Entry and the Capital Comparison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Accounts from Incomplete Records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Explain why small businesses keep incomplete records</a:t>
            </a:r>
          </a:p>
          <a:p>
            <a:pPr>
              <a:spcAft>
                <a:spcPts val="1000"/>
              </a:spcAft>
            </a:pPr>
            <a:r>
              <a:rPr b="0" sz="2000"/>
              <a:t>Distinguish pure, simple and quasi single entry</a:t>
            </a:r>
          </a:p>
          <a:p>
            <a:pPr>
              <a:spcAft>
                <a:spcPts val="1000"/>
              </a:spcAft>
            </a:pPr>
            <a:r>
              <a:rPr b="0" sz="2000"/>
              <a:t>Ascertain profit by the capital comparison (net worth) method</a:t>
            </a:r>
          </a:p>
          <a:p>
            <a:pPr>
              <a:spcAft>
                <a:spcPts val="1000"/>
              </a:spcAft>
            </a:pPr>
            <a:r>
              <a:rPr b="0" sz="2000"/>
              <a:t>Adjust for drawings and fresh capital introduced</a:t>
            </a:r>
          </a:p>
          <a:p>
            <a:pPr>
              <a:spcAft>
                <a:spcPts val="1000"/>
              </a:spcAft>
            </a:pPr>
            <a:r>
              <a:rPr b="0" sz="2000"/>
              <a:t>Identify drawings and fresh capital hidden in cash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Why incomplete records exist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Kiosk, salon, agrovet: cash + personal accounts only — no full double entry</a:t>
            </a:r>
          </a:p>
          <a:p>
            <a:pPr>
              <a:spcAft>
                <a:spcPts val="1000"/>
              </a:spcAft>
            </a:pPr>
            <a:r>
              <a:rPr b="0" sz="2000"/>
              <a:t>Cash book mixes business and personal transactions of the owner</a:t>
            </a:r>
          </a:p>
          <a:p>
            <a:pPr>
              <a:spcAft>
                <a:spcPts val="1000"/>
              </a:spcAft>
            </a:pPr>
            <a:r>
              <a:rPr b="0" sz="2000"/>
              <a:t>Features: inaccurate, no nominal/real accounts, no uniformity</a:t>
            </a:r>
          </a:p>
          <a:p>
            <a:pPr>
              <a:spcAft>
                <a:spcPts val="1000"/>
              </a:spcAft>
            </a:pPr>
            <a:r>
              <a:rPr b="0" sz="2000"/>
              <a:t>Profit is only an ESTIMATE; no dependable balance sheet directly</a:t>
            </a:r>
          </a:p>
          <a:p>
            <a:pPr>
              <a:spcAft>
                <a:spcPts val="1000"/>
              </a:spcAft>
            </a:pPr>
            <a:r>
              <a:rPr b="0" sz="2000"/>
              <a:t>"Single entry" is a label for the gaps — there is no such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Three types of incomplete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Pure single entry: personal accounts only — no practical use</a:t>
            </a:r>
          </a:p>
          <a:p>
            <a:pPr>
              <a:spcAft>
                <a:spcPts val="1000"/>
              </a:spcAft>
            </a:pPr>
            <a:r>
              <a:rPr b="0" sz="2000"/>
              <a:t>Simple single entry: personal accounts + cash book; no nominal accounts</a:t>
            </a:r>
          </a:p>
          <a:p>
            <a:pPr>
              <a:spcAft>
                <a:spcPts val="1000"/>
              </a:spcAft>
            </a:pPr>
            <a:r>
              <a:rPr b="0" sz="2000"/>
              <a:t>Quasi single entry: + day books, bills books; some expense information</a:t>
            </a:r>
          </a:p>
          <a:p>
            <a:pPr>
              <a:spcAft>
                <a:spcPts val="1000"/>
              </a:spcAft>
            </a:pPr>
            <a:r>
              <a:rPr b="0" sz="2000"/>
              <a:t>KASNEB examines QUASI single entry — a substitute for double entry</a:t>
            </a:r>
          </a:p>
          <a:p>
            <a:pPr>
              <a:spcAft>
                <a:spcPts val="1000"/>
              </a:spcAft>
            </a:pPr>
            <a:r>
              <a:rPr b="0" sz="2000"/>
              <a:t>Cash-book postings go only to personal accounts in the simpler 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capital comparison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No P&amp;L possible → compare capital (net worth) at two dates</a:t>
            </a:r>
          </a:p>
          <a:p>
            <a:pPr>
              <a:spcAft>
                <a:spcPts val="1000"/>
              </a:spcAft>
            </a:pPr>
            <a:r>
              <a:rPr b="0" sz="2000"/>
              <a:t>Capital = assets − liabilities (from statement of affairs, Lesson 2)</a:t>
            </a:r>
          </a:p>
          <a:p>
            <a:pPr>
              <a:spcAft>
                <a:spcPts val="1000"/>
              </a:spcAft>
            </a:pPr>
            <a:r>
              <a:rPr b="0" sz="2000"/>
              <a:t>Profit = closing capital + drawings − fresh capital − opening capital</a:t>
            </a:r>
          </a:p>
          <a:p>
            <a:pPr>
              <a:spcAft>
                <a:spcPts val="1000"/>
              </a:spcAft>
            </a:pPr>
            <a:r>
              <a:rPr b="0" sz="2000"/>
              <a:t>Drawings reduced closing capital → ADD back</a:t>
            </a:r>
          </a:p>
          <a:p>
            <a:pPr>
              <a:spcAft>
                <a:spcPts val="1000"/>
              </a:spcAft>
            </a:pPr>
            <a:r>
              <a:rPr b="0" sz="2000"/>
              <a:t>Fresh capital inflated closing capital → DEDUCT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Worked example — Wanjiru's boutique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Wanjiru boutique: capital 340,000 → 560,000</a:t>
            </a:r>
          </a:p>
          <a:p>
            <a:pPr>
              <a:spcAft>
                <a:spcPts val="1000"/>
              </a:spcAft>
            </a:pPr>
            <a:r>
              <a:rPr b="0" sz="2000"/>
              <a:t>Drawings 5,000 × 12 = 60,000 added back</a:t>
            </a:r>
          </a:p>
          <a:p>
            <a:pPr>
              <a:spcAft>
                <a:spcPts val="1000"/>
              </a:spcAft>
            </a:pPr>
            <a:r>
              <a:rPr b="0" sz="2000"/>
              <a:t>Fresh capital 100,000 deducted</a:t>
            </a:r>
          </a:p>
          <a:p>
            <a:pPr>
              <a:spcAft>
                <a:spcPts val="1000"/>
              </a:spcAft>
            </a:pPr>
            <a:r>
              <a:rPr b="0" sz="2000"/>
              <a:t>Profit = 560,000 + 60,000 − 100,000 − 340,000 = 180,000</a:t>
            </a:r>
          </a:p>
          <a:p>
            <a:pPr>
              <a:spcAft>
                <a:spcPts val="1000"/>
              </a:spcAft>
            </a:pPr>
            <a:r>
              <a:rPr b="0" sz="2000"/>
              <a:t>Write the pro-forma; never improvise the 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Spotting drawings and fresh capital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Drawings: shared rent/electricity, life premiums, school fees, goods taken</a:t>
            </a:r>
          </a:p>
          <a:p>
            <a:pPr>
              <a:spcAft>
                <a:spcPts val="1000"/>
              </a:spcAft>
            </a:pPr>
            <a:r>
              <a:rPr b="0" sz="2000"/>
              <a:t>Goods taken for personal use = drawings at COST, not selling price</a:t>
            </a:r>
          </a:p>
          <a:p>
            <a:pPr>
              <a:spcAft>
                <a:spcPts val="1000"/>
              </a:spcAft>
            </a:pPr>
            <a:r>
              <a:rPr b="0" sz="2000"/>
              <a:t>Fresh capital: cash injected, matured life policy retained in business</a:t>
            </a:r>
          </a:p>
          <a:p>
            <a:pPr>
              <a:spcAft>
                <a:spcPts val="1000"/>
              </a:spcAft>
            </a:pPr>
            <a:r>
              <a:rPr b="0" sz="2000"/>
              <a:t>Private investment income banked into the business = fresh capital</a:t>
            </a:r>
          </a:p>
          <a:p>
            <a:pPr>
              <a:spcAft>
                <a:spcPts val="1000"/>
              </a:spcAft>
            </a:pPr>
            <a:r>
              <a:rPr b="0" sz="2000"/>
              <a:t>Unidentified items misstate income and break the statement of affairs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Losses and cross-checks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Method is symmetric: negative answer = a LOSS — show brackets</a:t>
            </a:r>
          </a:p>
          <a:p>
            <a:pPr>
              <a:spcAft>
                <a:spcPts val="1000"/>
              </a:spcAft>
            </a:pPr>
            <a:r>
              <a:rPr b="0" sz="2000"/>
              <a:t>Baraka: 750,000 + 120,000 − 900,000 = (30,000) → loss of 30,000</a:t>
            </a:r>
          </a:p>
          <a:p>
            <a:pPr>
              <a:spcAft>
                <a:spcPts val="1000"/>
              </a:spcAft>
            </a:pPr>
            <a:r>
              <a:rPr b="0" sz="2000"/>
              <a:t>Monthly drawings × 12 before adding back</a:t>
            </a:r>
          </a:p>
          <a:p>
            <a:pPr>
              <a:spcAft>
                <a:spcPts val="1000"/>
              </a:spcAft>
            </a:pPr>
            <a:r>
              <a:rPr b="0" sz="2000"/>
              <a:t>Capital comparison also works as a CHECK on full final accounts</a:t>
            </a:r>
          </a:p>
          <a:p>
            <a:pPr>
              <a:spcAft>
                <a:spcPts val="1000"/>
              </a:spcAft>
            </a:pPr>
            <a:r>
              <a:rPr b="0" sz="2000"/>
              <a:t>"Closing bank minus opening bank" is NEVER profit — zero-mark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Compute opening and closing capital first — show both</a:t>
            </a:r>
          </a:p>
          <a:p>
            <a:pPr>
              <a:spcAft>
                <a:spcPts val="1000"/>
              </a:spcAft>
            </a:pPr>
            <a:r>
              <a:rPr b="0" sz="2000"/>
              <a:t>Convert monthly drawings to annual figures (× 12)</a:t>
            </a:r>
          </a:p>
          <a:p>
            <a:pPr>
              <a:spcAft>
                <a:spcPts val="1000"/>
              </a:spcAft>
            </a:pPr>
            <a:r>
              <a:rPr b="0" sz="2000"/>
              <a:t>Life-insurance maturity retained = fresh capital, not income</a:t>
            </a:r>
          </a:p>
          <a:p>
            <a:pPr>
              <a:spcAft>
                <a:spcPts val="1000"/>
              </a:spcAft>
            </a:pPr>
            <a:r>
              <a:rPr b="0" sz="2000"/>
              <a:t>Recheck signs: drawings added, fresh capital deducted</a:t>
            </a:r>
          </a:p>
          <a:p>
            <a:pPr>
              <a:spcAft>
                <a:spcPts val="1000"/>
              </a:spcAft>
            </a:pPr>
            <a:r>
              <a:rPr b="0" sz="2000"/>
              <a:t>State the method's name ("capital comparison / net worth") — knowledge 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