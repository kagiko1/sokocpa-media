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972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C8102E"/>
                </a:solidFill>
              </a:rPr>
              <a:t>CA11  FINANCIAL  ACCOUNTING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88136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/>
              <a:t>The Company Income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9319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6E6E6E"/>
                </a:solidFill>
              </a:rPr>
              <a:t>CA11 Financial Accounting • Financial Statements of a Company</a:t>
            </a:r>
          </a:p>
        </p:txBody>
      </p:sp>
      <p:pic>
        <p:nvPicPr>
          <p:cNvPr id="5" name="Picture 4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512064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7" name="Picture 6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Prepare a company income statement in IAS 1 / KASNEB style</a:t>
            </a:r>
          </a:p>
          <a:p>
            <a:pPr>
              <a:spcAft>
                <a:spcPts val="1000"/>
              </a:spcAft>
            </a:pPr>
            <a:r>
              <a:rPr b="0" sz="2000"/>
              <a:t>Place company-specific expenses: directors' fees, audit fees, debenture interest</a:t>
            </a:r>
          </a:p>
          <a:p>
            <a:pPr>
              <a:spcAft>
                <a:spcPts val="1000"/>
              </a:spcAft>
            </a:pPr>
            <a:r>
              <a:rPr b="0" sz="2000"/>
              <a:t>Account for corporation tax including under/over-provisions</a:t>
            </a:r>
          </a:p>
          <a:p>
            <a:pPr>
              <a:spcAft>
                <a:spcPts val="1000"/>
              </a:spcAft>
            </a:pPr>
            <a:r>
              <a:rPr b="0" sz="2000"/>
              <a:t>Prepare the appropriation section: dividends, reserves, retained profit</a:t>
            </a:r>
          </a:p>
          <a:p>
            <a:pPr>
              <a:spcAft>
                <a:spcPts val="1000"/>
              </a:spcAft>
            </a:pPr>
            <a:r>
              <a:rPr b="0" sz="2000"/>
              <a:t>Explain why proposed dividends are recognised as liabilities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How the company income statement differs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Top half (sales, cost of sales, gross profit) = same as sole trader</a:t>
            </a:r>
          </a:p>
          <a:p>
            <a:pPr>
              <a:spcAft>
                <a:spcPts val="1000"/>
              </a:spcAft>
            </a:pPr>
            <a:r>
              <a:rPr b="0" sz="2000"/>
              <a:t>Directors' salaries/fees = EXPENSE, not appropriation (unlike partners' salaries)</a:t>
            </a:r>
          </a:p>
          <a:p>
            <a:pPr>
              <a:spcAft>
                <a:spcPts val="1000"/>
              </a:spcAft>
            </a:pPr>
            <a:r>
              <a:rPr b="0" sz="2000"/>
              <a:t>Audit fees = expense; all companies must be audited</a:t>
            </a:r>
          </a:p>
          <a:p>
            <a:pPr>
              <a:spcAft>
                <a:spcPts val="1000"/>
              </a:spcAft>
            </a:pPr>
            <a:r>
              <a:rPr b="0" sz="2000"/>
              <a:t>Debenture interest = expense before profit before tax, paid regardless of profit</a:t>
            </a:r>
          </a:p>
          <a:p>
            <a:pPr>
              <a:spcAft>
                <a:spcPts val="1000"/>
              </a:spcAft>
            </a:pPr>
            <a:r>
              <a:rPr b="0" sz="2000"/>
              <a:t>Appropriation section allocates profit AFTER tax: reserves, dividends, retained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The KASNEB format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Profit before tax → less income tax expense → profit after tax</a:t>
            </a:r>
          </a:p>
          <a:p>
            <a:pPr>
              <a:spcAft>
                <a:spcPts val="1000"/>
              </a:spcAft>
            </a:pPr>
            <a:r>
              <a:rPr b="0" sz="2000"/>
              <a:t>Tax = current estimate + prior-year under-provision (or − over-provision)</a:t>
            </a:r>
          </a:p>
          <a:p>
            <a:pPr>
              <a:spcAft>
                <a:spcPts val="1000"/>
              </a:spcAft>
            </a:pPr>
            <a:r>
              <a:rPr b="0" sz="2000"/>
              <a:t>Appropriation order: tax → reserve transfers → preference → ordinary dividends</a:t>
            </a:r>
          </a:p>
          <a:p>
            <a:pPr>
              <a:spcAft>
                <a:spcPts val="1000"/>
              </a:spcAft>
            </a:pPr>
            <a:r>
              <a:rPr b="0" sz="2000"/>
              <a:t>Residue = retained profit for the year; + b/d = retained profit c/d</a:t>
            </a:r>
          </a:p>
          <a:p>
            <a:pPr>
              <a:spcAft>
                <a:spcPts val="1000"/>
              </a:spcAft>
            </a:pPr>
            <a:r>
              <a:rPr b="0" sz="2000"/>
              <a:t>Preference dividends rank AHEAD of ordinary dividends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Worked example — Jitahidi Ltd workings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Depreciation: apply given rates to cost of each asset class (W1)</a:t>
            </a:r>
          </a:p>
          <a:p>
            <a:pPr>
              <a:spcAft>
                <a:spcPts val="1000"/>
              </a:spcAft>
            </a:pPr>
            <a:r>
              <a:rPr b="0" sz="2000"/>
              <a:t>Debenture interest: paid + accrued; cross-check rate × nominal (8% × 1,000)</a:t>
            </a:r>
          </a:p>
          <a:p>
            <a:pPr>
              <a:spcAft>
                <a:spcPts val="1000"/>
              </a:spcAft>
            </a:pPr>
            <a:r>
              <a:rPr b="0" sz="2000"/>
              <a:t>Tax charge: current estimate + under-provision debit b/d (W3)</a:t>
            </a:r>
          </a:p>
          <a:p>
            <a:pPr>
              <a:spcAft>
                <a:spcPts val="1000"/>
              </a:spcAft>
            </a:pPr>
            <a:r>
              <a:rPr b="0" sz="2000"/>
              <a:t>Dividends: preference = rate × nominal capital; ordinary = interim + proposed</a:t>
            </a:r>
          </a:p>
          <a:p>
            <a:pPr>
              <a:spcAft>
                <a:spcPts val="1000"/>
              </a:spcAft>
            </a:pPr>
            <a:r>
              <a:rPr b="0" sz="2000"/>
              <a:t>Appropriation arithmetic: PAT − reserves − dividends = retained for the year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Debenture interest and dividends — the complete treatment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Interim dividend paid = trial balance debit; carry to appropriations only</a:t>
            </a:r>
          </a:p>
          <a:p>
            <a:pPr>
              <a:spcAft>
                <a:spcPts val="1000"/>
              </a:spcAft>
            </a:pPr>
            <a:r>
              <a:rPr b="0" sz="2000"/>
              <a:t>Proposed (final) dividend = appropriation AND current liability (dividends payable)</a:t>
            </a:r>
          </a:p>
          <a:p>
            <a:pPr>
              <a:spcAft>
                <a:spcPts val="1000"/>
              </a:spcAft>
            </a:pPr>
            <a:r>
              <a:rPr b="0" sz="2000"/>
              <a:t>Debenture interest hits 3 places: P&amp;L expense, accrued = current liability</a:t>
            </a:r>
          </a:p>
          <a:p>
            <a:pPr>
              <a:spcAft>
                <a:spcPts val="1000"/>
              </a:spcAft>
            </a:pPr>
            <a:r>
              <a:rPr b="0" sz="2000"/>
              <a:t>Debenture itself = non-current liability</a:t>
            </a:r>
          </a:p>
          <a:p>
            <a:pPr>
              <a:spcAft>
                <a:spcPts val="1000"/>
              </a:spcAft>
            </a:pPr>
            <a:r>
              <a:rPr b="0" sz="2000"/>
              <a:t>Never deduct dividends from profit before tax — they are not expenses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Appropriation ordering — a second mini-example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Over-provision mini-example: charge = 250,000 − 30,000 = 220,000</a:t>
            </a:r>
          </a:p>
          <a:p>
            <a:pPr>
              <a:spcAft>
                <a:spcPts val="1000"/>
              </a:spcAft>
            </a:pPr>
            <a:r>
              <a:rPr b="0" sz="2000"/>
              <a:t>Preference dividend computed in full even if no cash paid (12% × 500,000)</a:t>
            </a:r>
          </a:p>
          <a:p>
            <a:pPr>
              <a:spcAft>
                <a:spcPts val="1000"/>
              </a:spcAft>
            </a:pPr>
            <a:r>
              <a:rPr b="0" sz="2000"/>
              <a:t>Interim paid appears nowhere in SFP — cash already gone</a:t>
            </a:r>
          </a:p>
          <a:p>
            <a:pPr>
              <a:spcAft>
                <a:spcPts val="1000"/>
              </a:spcAft>
            </a:pPr>
            <a:r>
              <a:rPr b="0" sz="2000"/>
              <a:t>Proposed dividends (ordinary final + preference) = dividends payable total</a:t>
            </a:r>
          </a:p>
          <a:p>
            <a:pPr>
              <a:spcAft>
                <a:spcPts val="1000"/>
              </a:spcAft>
            </a:pPr>
            <a:r>
              <a:rPr b="0" sz="2000"/>
              <a:t>Retained for year = PAT − reserve transfer − pref. − ord. dividends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Key takeaways / exam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Build top-down in KASNEB format — markers scan for standard lines</a:t>
            </a:r>
          </a:p>
          <a:p>
            <a:pPr>
              <a:spcAft>
                <a:spcPts val="1000"/>
              </a:spcAft>
            </a:pPr>
            <a:r>
              <a:rPr b="0" sz="2000"/>
              <a:t>Compute dividends from nominal capital × rate; show workings</a:t>
            </a:r>
          </a:p>
          <a:p>
            <a:pPr>
              <a:spcAft>
                <a:spcPts val="1000"/>
              </a:spcAft>
            </a:pPr>
            <a:r>
              <a:rPr b="0" sz="2000"/>
              <a:t>Cross-check debenture interest: rate × nominal debentures</a:t>
            </a:r>
          </a:p>
          <a:p>
            <a:pPr>
              <a:spcAft>
                <a:spcPts val="1000"/>
              </a:spcAft>
            </a:pPr>
            <a:r>
              <a:rPr b="0" sz="2000"/>
              <a:t>PAT − appropriations must equal retained profit for the year</a:t>
            </a:r>
          </a:p>
          <a:p>
            <a:pPr>
              <a:spcAft>
                <a:spcPts val="1000"/>
              </a:spcAft>
            </a:pPr>
            <a:r>
              <a:rPr b="0" sz="2000"/>
              <a:t>Secure easy marks first: gross profit, tax line, dividends, retained c/d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