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Liabilities — Payables, Loans, Accruals and Prepayments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Accounting for Assets and Liabilities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liabilities; classify current vs non-current</a:t>
            </a:r>
          </a:p>
          <a:p>
            <a:pPr>
              <a:spcAft>
                <a:spcPts val="1000"/>
              </a:spcAft>
            </a:pPr>
            <a:r>
              <a:rPr b="0" sz="2000"/>
              <a:t>Explain bank overdrafts and their causes</a:t>
            </a:r>
          </a:p>
          <a:p>
            <a:pPr>
              <a:spcAft>
                <a:spcPts val="1000"/>
              </a:spcAft>
            </a:pPr>
            <a:r>
              <a:rPr b="0" sz="2000"/>
              <a:t>Maintain trade payables control accounts incl. contras and bills</a:t>
            </a:r>
          </a:p>
          <a:p>
            <a:pPr>
              <a:spcAft>
                <a:spcPts val="1000"/>
              </a:spcAft>
            </a:pPr>
            <a:r>
              <a:rPr b="0" sz="2000"/>
              <a:t>Account for loan receipt, interest accrual and repayment</a:t>
            </a:r>
          </a:p>
          <a:p>
            <a:pPr>
              <a:spcAft>
                <a:spcPts val="1000"/>
              </a:spcAft>
            </a:pPr>
            <a:r>
              <a:rPr b="0" sz="2000"/>
              <a:t>Account for accruals and prepayments in P&amp;L and SOFP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Nature and classification of liabilities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Present obligation from past events; settled by outflow of resources</a:t>
            </a:r>
          </a:p>
          <a:p>
            <a:pPr>
              <a:spcAft>
                <a:spcPts val="1000"/>
              </a:spcAft>
            </a:pPr>
            <a:r>
              <a:rPr b="1" sz="2000"/>
              <a:t>Trade payables</a:t>
            </a:r>
            <a:r>
              <a:rPr b="0" sz="2000"/>
              <a:t>: short-term (≤12 months) vs long-term (&gt;12 months)</a:t>
            </a:r>
          </a:p>
          <a:p>
            <a:pPr>
              <a:spcAft>
                <a:spcPts val="1000"/>
              </a:spcAft>
            </a:pPr>
            <a:r>
              <a:rPr b="0" sz="2000"/>
              <a:t>Others: bank overdrafts, loans, accruals, prepaid income</a:t>
            </a:r>
          </a:p>
          <a:p>
            <a:pPr>
              <a:spcAft>
                <a:spcPts val="1000"/>
              </a:spcAft>
            </a:pPr>
            <a:r>
              <a:rPr b="0" sz="2000"/>
              <a:t>Overdraft = credit balance in cash book; current liability in SOFP</a:t>
            </a:r>
          </a:p>
          <a:p>
            <a:pPr>
              <a:spcAft>
                <a:spcPts val="1000"/>
              </a:spcAft>
            </a:pPr>
            <a:r>
              <a:rPr b="0" sz="2000"/>
              <a:t>Causes: short-term borrowing, inaccurate registers, bounced deposits,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Trade payables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Mirror image of the receivables control (Lesson 4)</a:t>
            </a:r>
          </a:p>
          <a:p>
            <a:pPr>
              <a:spcAft>
                <a:spcPts val="1000"/>
              </a:spcAft>
            </a:pPr>
            <a:r>
              <a:rPr b="0" sz="2000"/>
              <a:t>Dr: cash paid, discounts received, returns outwards, allowances, contras</a:t>
            </a:r>
          </a:p>
          <a:p>
            <a:pPr>
              <a:spcAft>
                <a:spcPts val="1000"/>
              </a:spcAft>
            </a:pPr>
            <a:r>
              <a:rPr b="0" sz="2000"/>
              <a:t>Cr: credit purchases, refunds from suppliers</a:t>
            </a:r>
          </a:p>
          <a:p>
            <a:pPr>
              <a:spcAft>
                <a:spcPts val="1000"/>
              </a:spcAft>
            </a:pPr>
            <a:r>
              <a:rPr b="0" sz="2000"/>
              <a:t>Closing balance (credit) = amount owed to suppliers</a:t>
            </a:r>
          </a:p>
          <a:p>
            <a:pPr>
              <a:spcAft>
                <a:spcPts val="1000"/>
              </a:spcAft>
            </a:pPr>
            <a:r>
              <a:rPr b="0" sz="2000"/>
              <a:t>XML Ltd: balances at Sh. 10,406,500; closing credit </a:t>
            </a:r>
            <a:r>
              <a:rPr b="1" sz="2000"/>
              <a:t>Sh. 4,355,000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Bills of exchange and contras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Bills payable accepted: Dr Creditor / Cr Bills payable</a:t>
            </a:r>
          </a:p>
          <a:p>
            <a:pPr>
              <a:spcAft>
                <a:spcPts val="1000"/>
              </a:spcAft>
            </a:pPr>
            <a:r>
              <a:rPr b="0" sz="2000"/>
              <a:t>On dishonour: Dr Bills payable / Cr Creditor (plus charges)</a:t>
            </a:r>
          </a:p>
          <a:p>
            <a:pPr>
              <a:spcAft>
                <a:spcPts val="1000"/>
              </a:spcAft>
            </a:pPr>
            <a:r>
              <a:rPr b="0" sz="2000"/>
              <a:t>Contra where X is both customer and supplier</a:t>
            </a:r>
          </a:p>
          <a:p>
            <a:pPr>
              <a:spcAft>
                <a:spcPts val="1000"/>
              </a:spcAft>
            </a:pPr>
            <a:r>
              <a:rPr b="0" sz="2000"/>
              <a:t>Sales-ledger contras appear on the purchases control Dr side</a:t>
            </a:r>
          </a:p>
          <a:p>
            <a:pPr>
              <a:spcAft>
                <a:spcPts val="1000"/>
              </a:spcAft>
            </a:pPr>
            <a:r>
              <a:rPr b="0" sz="2000"/>
              <a:t>Bills and contras are the classic 'twist'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Loans: principal vs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Loan receipt and repayment are </a:t>
            </a:r>
            <a:r>
              <a:rPr b="1" sz="2000"/>
              <a:t>SOFP</a:t>
            </a:r>
            <a:r>
              <a:rPr b="0" sz="2000"/>
              <a:t> movements, never revenue/expense</a:t>
            </a:r>
          </a:p>
          <a:p>
            <a:pPr>
              <a:spcAft>
                <a:spcPts val="1000"/>
              </a:spcAft>
            </a:pPr>
            <a:r>
              <a:rPr b="0" sz="2000"/>
              <a:t>Receipt: Dr Cash / Cr Loan; repayment: Dr Loan / Cr Cash</a:t>
            </a:r>
          </a:p>
          <a:p>
            <a:pPr>
              <a:spcAft>
                <a:spcPts val="1000"/>
              </a:spcAft>
            </a:pPr>
            <a:r>
              <a:rPr b="0" sz="2000"/>
              <a:t>Only </a:t>
            </a:r>
            <a:r>
              <a:rPr b="1" sz="2000"/>
              <a:t>interest</a:t>
            </a:r>
            <a:r>
              <a:rPr b="0" sz="2000"/>
              <a:t> touches profit or loss</a:t>
            </a:r>
          </a:p>
          <a:p>
            <a:pPr>
              <a:spcAft>
                <a:spcPts val="1000"/>
              </a:spcAft>
            </a:pPr>
            <a:r>
              <a:rPr b="0" sz="2000"/>
              <a:t>Unpaid interest at year-end: Dr Interest expense / Cr Interest payable</a:t>
            </a:r>
          </a:p>
          <a:p>
            <a:pPr>
              <a:spcAft>
                <a:spcPts val="1000"/>
              </a:spcAft>
            </a:pPr>
            <a:r>
              <a:rPr b="0" sz="2000"/>
              <a:t>Exam trap: principal never hits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Loan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Biashara Ltd: Sh. 1,200,000, 12% p.a., 12 monthly instalments</a:t>
            </a:r>
          </a:p>
          <a:p>
            <a:pPr>
              <a:spcAft>
                <a:spcPts val="1000"/>
              </a:spcAft>
            </a:pPr>
            <a:r>
              <a:rPr b="0" sz="2000"/>
              <a:t>Year 1: principal repaid 600,000; interest paid 57,000</a:t>
            </a:r>
          </a:p>
          <a:p>
            <a:pPr>
              <a:spcAft>
                <a:spcPts val="1000"/>
              </a:spcAft>
            </a:pPr>
            <a:r>
              <a:rPr b="0" sz="2000"/>
              <a:t>SOFP: loan liability </a:t>
            </a:r>
            <a:r>
              <a:rPr b="1" sz="2000"/>
              <a:t>Sh. 600,000</a:t>
            </a:r>
            <a:r>
              <a:rPr b="0" sz="2000"/>
              <a:t> (current — due within 12 months)</a:t>
            </a:r>
          </a:p>
          <a:p>
            <a:pPr>
              <a:spcAft>
                <a:spcPts val="1000"/>
              </a:spcAft>
            </a:pPr>
            <a:r>
              <a:rPr b="0" sz="2000"/>
              <a:t>P&amp;L: interest expense </a:t>
            </a:r>
            <a:r>
              <a:rPr b="1" sz="2000"/>
              <a:t>Sh. 57,000</a:t>
            </a:r>
          </a:p>
          <a:p>
            <a:pPr>
              <a:spcAft>
                <a:spcPts val="1000"/>
              </a:spcAft>
            </a:pPr>
            <a:r>
              <a:rPr b="0" sz="2000"/>
              <a:t>Split every instalment into principal and interest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accruals 2×2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Accrued expense</a:t>
            </a:r>
            <a:r>
              <a:rPr b="0" sz="2000"/>
              <a:t> = owed, unpaid → current liability (Dr Expense / Cr Accrual)</a:t>
            </a:r>
          </a:p>
          <a:p>
            <a:pPr>
              <a:spcAft>
                <a:spcPts val="1000"/>
              </a:spcAft>
            </a:pPr>
            <a:r>
              <a:rPr b="1" sz="2000"/>
              <a:t>Prepaid expense</a:t>
            </a:r>
            <a:r>
              <a:rPr b="0" sz="2000"/>
              <a:t> = paid in advance → current asset</a:t>
            </a:r>
          </a:p>
          <a:p>
            <a:pPr>
              <a:spcAft>
                <a:spcPts val="1000"/>
              </a:spcAft>
            </a:pPr>
            <a:r>
              <a:rPr b="1" sz="2000"/>
              <a:t>Accrued income</a:t>
            </a:r>
            <a:r>
              <a:rPr b="0" sz="2000"/>
              <a:t> = earned, not received → current asset</a:t>
            </a:r>
          </a:p>
          <a:p>
            <a:pPr>
              <a:spcAft>
                <a:spcPts val="1000"/>
              </a:spcAft>
            </a:pPr>
            <a:r>
              <a:rPr b="1" sz="2000"/>
              <a:t>Prepaid income</a:t>
            </a:r>
            <a:r>
              <a:rPr b="0" sz="2000"/>
              <a:t> = received in advance → 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Draw the 2×2 grid in the exam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Fwamba Enterprises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Insurance paid 32,000 → prepaid 7,500; P&amp;L charge 24,500</a:t>
            </a:r>
          </a:p>
          <a:p>
            <a:pPr>
              <a:spcAft>
                <a:spcPts val="1000"/>
              </a:spcAft>
            </a:pPr>
            <a:r>
              <a:rPr b="0" sz="2000"/>
              <a:t>Commission: received 10,000 + accrued 5,000 → P&amp;L income 15,000</a:t>
            </a:r>
          </a:p>
          <a:p>
            <a:pPr>
              <a:spcAft>
                <a:spcPts val="1000"/>
              </a:spcAft>
            </a:pPr>
            <a:r>
              <a:rPr b="0" sz="2000"/>
              <a:t>Rent &amp; rates: cash 65,000 + closing accrual 16,000 − opening accrual 13,000…</a:t>
            </a:r>
          </a:p>
          <a:p>
            <a:pPr>
              <a:spcAft>
                <a:spcPts val="1000"/>
              </a:spcAft>
            </a:pPr>
            <a:r>
              <a:rPr b="0" sz="2000"/>
              <a:t>…+ opening prepayment 4,500 − closing prepayment 2,500 → P&amp;L </a:t>
            </a:r>
            <a:r>
              <a:rPr b="1" sz="2000"/>
              <a:t>70,000</a:t>
            </a:r>
          </a:p>
          <a:p>
            <a:pPr>
              <a:spcAft>
                <a:spcPts val="1000"/>
              </a:spcAft>
            </a:pPr>
            <a:r>
              <a:rPr b="0" sz="2000"/>
              <a:t>SOFP: accrued rent liability 16,000; prepaid rates asset 2,500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Master formula: P&amp;L = cash ± opening/closing accruals &amp; prepayments</a:t>
            </a:r>
          </a:p>
          <a:p>
            <a:pPr>
              <a:spcAft>
                <a:spcPts val="1000"/>
              </a:spcAft>
            </a:pPr>
            <a:r>
              <a:rPr b="0" sz="2000"/>
              <a:t>For expenses: add closing accruals &amp; opening prepayments…</a:t>
            </a:r>
          </a:p>
          <a:p>
            <a:pPr>
              <a:spcAft>
                <a:spcPts val="1000"/>
              </a:spcAft>
            </a:pPr>
            <a:r>
              <a:rPr b="0" sz="2000"/>
              <a:t>…subtract opening accruals &amp; closing prepayments</a:t>
            </a:r>
          </a:p>
          <a:p>
            <a:pPr>
              <a:spcAft>
                <a:spcPts val="1000"/>
              </a:spcAft>
            </a:pPr>
            <a:r>
              <a:rPr b="0" sz="2000"/>
              <a:t>Rent received in advance is </a:t>
            </a:r>
            <a:r>
              <a:rPr b="1" sz="2000"/>
              <a:t>not</a:t>
            </a:r>
            <a:r>
              <a:rPr b="0" sz="2000"/>
              <a:t> income — a liability until earned</a:t>
            </a:r>
          </a:p>
          <a:p>
            <a:pPr>
              <a:spcAft>
                <a:spcPts val="1000"/>
              </a:spcAft>
            </a:pPr>
            <a:r>
              <a:rPr b="0" sz="2000"/>
              <a:t>Time-apportion insurance/rates premiums by months before and after year-end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