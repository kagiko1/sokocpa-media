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972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C8102E"/>
                </a:solidFill>
              </a:rPr>
              <a:t>CA11  FINANCIAL  ACCOUNTING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88136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/>
              <a:t>Profitability and Liquidity Ratios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9319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6E6E6E"/>
                </a:solidFill>
              </a:rPr>
              <a:t>CA11 Financial Accounting • Analysing Financial Statements</a:t>
            </a:r>
          </a:p>
        </p:txBody>
      </p:sp>
      <p:pic>
        <p:nvPicPr>
          <p:cNvPr id="5" name="Picture 4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512064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7" name="Picture 6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State the five ratio categories and who uses each</a:t>
            </a:r>
          </a:p>
          <a:p>
            <a:pPr>
              <a:spcAft>
                <a:spcPts val="1000"/>
              </a:spcAft>
            </a:pPr>
            <a:r>
              <a:rPr b="0" sz="2000"/>
              <a:t>Compute and interpret all profitability ratios (Tumaini Traders)</a:t>
            </a:r>
          </a:p>
          <a:p>
            <a:pPr>
              <a:spcAft>
                <a:spcPts val="1000"/>
              </a:spcAft>
            </a:pPr>
            <a:r>
              <a:rPr b="0" sz="2000"/>
              <a:t>Compute and interpret liquidity ratios</a:t>
            </a:r>
          </a:p>
          <a:p>
            <a:pPr>
              <a:spcAft>
                <a:spcPts val="1000"/>
              </a:spcAft>
            </a:pPr>
            <a:r>
              <a:rPr b="0" sz="2000"/>
              <a:t>Match each ratio to its correct profit numerator</a:t>
            </a:r>
          </a:p>
          <a:p>
            <a:pPr>
              <a:spcAft>
                <a:spcPts val="1000"/>
              </a:spcAft>
            </a:pPr>
            <a:r>
              <a:rPr b="0" sz="2000"/>
              <a:t>Comment on results — not just calculate them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Why ratios? Who uses them?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Ratios enable COMPARISON: prior years, budgets, competitors</a:t>
            </a:r>
          </a:p>
          <a:p>
            <a:pPr>
              <a:spcAft>
                <a:spcPts val="1000"/>
              </a:spcAft>
            </a:pPr>
            <a:r>
              <a:rPr b="0" sz="2000"/>
              <a:t>Profitability → shareholders, management, investors</a:t>
            </a:r>
          </a:p>
          <a:p>
            <a:pPr>
              <a:spcAft>
                <a:spcPts val="1000"/>
              </a:spcAft>
            </a:pPr>
            <a:r>
              <a:rPr b="0" sz="2000"/>
              <a:t>Liquidity → suppliers, creditors. Efficiency → purchasers, rivals</a:t>
            </a:r>
          </a:p>
          <a:p>
            <a:pPr>
              <a:spcAft>
                <a:spcPts val="1000"/>
              </a:spcAft>
            </a:pPr>
            <a:r>
              <a:rPr b="0" sz="2000"/>
              <a:t>Gearing → lenders. Shareholder ratios → investors</a:t>
            </a:r>
          </a:p>
          <a:p>
            <a:pPr>
              <a:spcAft>
                <a:spcPts val="1000"/>
              </a:spcAft>
            </a:pPr>
            <a:r>
              <a:rPr b="0" sz="2000"/>
              <a:t>This lesson: profitability + liquidity (Tumaini Traders Ltd)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Running example — Tumaini Traders (Sh.'000)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Sales 2,400; gross profit 960; EBIT 480; PAT 294</a:t>
            </a:r>
          </a:p>
          <a:p>
            <a:pPr>
              <a:spcAft>
                <a:spcPts val="1000"/>
              </a:spcAft>
            </a:pPr>
            <a:r>
              <a:rPr b="0" sz="2000"/>
              <a:t>Capital employed = 2,360 − 300 = 2,060; equity = 1,660</a:t>
            </a:r>
          </a:p>
          <a:p>
            <a:pPr>
              <a:spcAft>
                <a:spcPts val="1000"/>
              </a:spcAft>
            </a:pPr>
            <a:r>
              <a:rPr b="0" sz="2000"/>
              <a:t>Current assets 760; inventory 300; current liabilities 300</a:t>
            </a:r>
          </a:p>
          <a:p>
            <a:pPr>
              <a:spcAft>
                <a:spcPts val="1000"/>
              </a:spcAft>
            </a:pPr>
            <a:r>
              <a:rPr b="0" sz="2000"/>
              <a:t>Balance check: 1,660 + 400 + 240 + 60 = 2,360 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ROCE — the primary profitability ratio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ROCE = operating profit ÷ capital employed × 100</a:t>
            </a:r>
          </a:p>
          <a:p>
            <a:pPr>
              <a:spcAft>
                <a:spcPts val="1000"/>
              </a:spcAft>
            </a:pPr>
            <a:r>
              <a:rPr b="0" sz="2000"/>
              <a:t>480 ÷ 2,060 × 100 = 23.3%</a:t>
            </a:r>
          </a:p>
          <a:p>
            <a:pPr>
              <a:spcAft>
                <a:spcPts val="1000"/>
              </a:spcAft>
            </a:pPr>
            <a:r>
              <a:rPr b="0" sz="2000"/>
              <a:t>Use EBIT: interest is a financing decision, not operating efficiency</a:t>
            </a:r>
          </a:p>
          <a:p>
            <a:pPr>
              <a:spcAft>
                <a:spcPts val="1000"/>
              </a:spcAft>
            </a:pPr>
            <a:r>
              <a:rPr b="0" sz="2000"/>
              <a:t>DuPont: ROCE = operating margin × net assets turnover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Margin ratios — Tumaini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Gross profit margin = 960 ÷ 2,400 × 100 = 40.0%</a:t>
            </a:r>
          </a:p>
          <a:p>
            <a:pPr>
              <a:spcAft>
                <a:spcPts val="1000"/>
              </a:spcAft>
            </a:pPr>
            <a:r>
              <a:rPr b="0" sz="2000"/>
              <a:t>Operating profit margin = 480 ÷ 2,400 × 100 = 20.0%</a:t>
            </a:r>
          </a:p>
          <a:p>
            <a:pPr>
              <a:spcAft>
                <a:spcPts val="1000"/>
              </a:spcAft>
            </a:pPr>
            <a:r>
              <a:rPr b="0" sz="2000"/>
              <a:t>Net profit margin = 294 ÷ 2,400 × 100 = 12.25%</a:t>
            </a:r>
          </a:p>
          <a:p>
            <a:pPr>
              <a:spcAft>
                <a:spcPts val="1000"/>
              </a:spcAft>
            </a:pPr>
            <a:r>
              <a:rPr b="0" sz="2000"/>
              <a:t>ROE = 294 ÷ 1,660 × 100 = 17.7%; net assets turnover = 1.16 times</a:t>
            </a:r>
          </a:p>
          <a:p>
            <a:pPr>
              <a:spcAft>
                <a:spcPts val="1000"/>
              </a:spcAft>
            </a:pPr>
            <a:r>
              <a:rPr b="0" sz="2000"/>
              <a:t>Exam trap: gross/operating/net numerators are different on purpose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Liquidity ratios — Tumaini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Current ratio = 760 ÷ 300 = 2.53 times — comfortable</a:t>
            </a:r>
          </a:p>
          <a:p>
            <a:pPr>
              <a:spcAft>
                <a:spcPts val="1000"/>
              </a:spcAft>
            </a:pPr>
            <a:r>
              <a:rPr b="0" sz="2000"/>
              <a:t>Quick ratio = (760 − 300) ÷ 300 = 1.53 times — healthy (≥1:1)</a:t>
            </a:r>
          </a:p>
          <a:p>
            <a:pPr>
              <a:spcAft>
                <a:spcPts val="1000"/>
              </a:spcAft>
            </a:pPr>
            <a:r>
              <a:rPr b="0" sz="2000"/>
              <a:t>Cash ratio = 60 ÷ 300 = 0.20 times — strictest test</a:t>
            </a:r>
          </a:p>
          <a:p>
            <a:pPr>
              <a:spcAft>
                <a:spcPts val="1000"/>
              </a:spcAft>
            </a:pPr>
            <a:r>
              <a:rPr b="0" sz="2000"/>
              <a:t>Working capital to assets = (760−300) ÷ 2,360 × 100 = 19.5%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Interpretation pointers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ROCE 23.3% &gt; 10% borrowing cost → POSITIVE gearing for shareholders</a:t>
            </a:r>
          </a:p>
          <a:p>
            <a:pPr>
              <a:spcAft>
                <a:spcPts val="1000"/>
              </a:spcAft>
            </a:pPr>
            <a:r>
              <a:rPr b="0" sz="2000"/>
              <a:t>Current 2.53× vs quick 1.53×: gap = heavy inventory (Sh.300,000)</a:t>
            </a:r>
          </a:p>
          <a:p>
            <a:pPr>
              <a:spcAft>
                <a:spcPts val="1000"/>
              </a:spcAft>
            </a:pPr>
            <a:r>
              <a:rPr b="0" sz="2000"/>
              <a:t>High current ratio can also mean INEFFICIENT assets — bloated stock</a:t>
            </a:r>
          </a:p>
          <a:p>
            <a:pPr>
              <a:spcAft>
                <a:spcPts val="1000"/>
              </a:spcAft>
            </a:pPr>
            <a:r>
              <a:rPr b="0" sz="2000"/>
              <a:t>Always compare: prior year, industry, target — a ratio alone is just a number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Key takeaways / exam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Write the FORMULA first — formula marks even with wrong numbers</a:t>
            </a:r>
          </a:p>
          <a:p>
            <a:pPr>
              <a:spcAft>
                <a:spcPts val="1000"/>
              </a:spcAft>
            </a:pPr>
            <a:r>
              <a:rPr b="0" sz="2000"/>
              <a:t>State units: %, times, or days — '2.53' alone loses the mark</a:t>
            </a:r>
          </a:p>
          <a:p>
            <a:pPr>
              <a:spcAft>
                <a:spcPts val="1000"/>
              </a:spcAft>
            </a:pPr>
            <a:r>
              <a:rPr b="0" sz="2000"/>
              <a:t>Never include inventory in the quick ratio numerator</a:t>
            </a:r>
          </a:p>
          <a:p>
            <a:pPr>
              <a:spcAft>
                <a:spcPts val="1000"/>
              </a:spcAft>
            </a:pPr>
            <a:r>
              <a:rPr b="0" sz="2000"/>
              <a:t>Margin × turnover ≈ ROCE — use it to catch arithmetic slips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