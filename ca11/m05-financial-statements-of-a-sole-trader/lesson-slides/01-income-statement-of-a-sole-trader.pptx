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Income Statement of a Sole Trader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Sole Trader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a sole trader and explain the purpose of the income statement</a:t>
            </a:r>
          </a:p>
          <a:p>
            <a:pPr>
              <a:spcAft>
                <a:spcPts val="1000"/>
              </a:spcAft>
            </a:pPr>
            <a:r>
              <a:rPr b="0" sz="2000"/>
              <a:t>Distinguish the trading section (gross profit) from the P&amp;L section (net profit)</a:t>
            </a:r>
          </a:p>
          <a:p>
            <a:pPr>
              <a:spcAft>
                <a:spcPts val="1000"/>
              </a:spcAft>
            </a:pPr>
            <a:r>
              <a:rPr b="0" sz="2000"/>
              <a:t>Compute cost of sales from opening stock, purchases, returns and carriage inwards</a:t>
            </a:r>
          </a:p>
          <a:p>
            <a:pPr>
              <a:spcAft>
                <a:spcPts val="1000"/>
              </a:spcAft>
            </a:pPr>
            <a:r>
              <a:rPr b="0" sz="2000"/>
              <a:t>Classify items correctly between the trading account and the profit and loss account</a:t>
            </a:r>
          </a:p>
          <a:p>
            <a:pPr>
              <a:spcAft>
                <a:spcPts val="1000"/>
              </a:spcAft>
            </a:pPr>
            <a:r>
              <a:rPr b="0" sz="2000"/>
              <a:t>Prepare a trading and profit and loss account in vertical format</a:t>
            </a:r>
          </a:p>
          <a:p>
            <a:pPr>
              <a:spcAft>
                <a:spcPts val="1000"/>
              </a:spcAft>
            </a:pPr>
            <a:r>
              <a:rPr b="0" sz="2000"/>
              <a:t>Treat special items correctly: abnormal losses, approval goods, free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sole trader and the need for 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Sole trader: one individual owns and runs the business; no legal distinction</a:t>
            </a:r>
          </a:p>
          <a:p>
            <a:pPr>
              <a:spcAft>
                <a:spcPts val="1000"/>
              </a:spcAft>
            </a:pPr>
            <a:r>
              <a:rPr b="0" sz="2000"/>
              <a:t>The owner is entitled to all the profit — and bears all the risk</a:t>
            </a:r>
          </a:p>
          <a:p>
            <a:pPr>
              <a:spcAft>
                <a:spcPts val="1000"/>
              </a:spcAft>
            </a:pPr>
            <a:r>
              <a:rPr b="0" sz="2000"/>
              <a:t>End-of-year question: did we make a profit or a loss?</a:t>
            </a:r>
          </a:p>
          <a:p>
            <a:pPr>
              <a:spcAft>
                <a:spcPts val="1000"/>
              </a:spcAft>
            </a:pPr>
            <a:r>
              <a:rPr b="0" sz="2000"/>
              <a:t>Stage 1: gross profit, in the trading account section</a:t>
            </a:r>
          </a:p>
          <a:p>
            <a:pPr>
              <a:spcAft>
                <a:spcPts val="1000"/>
              </a:spcAft>
            </a:pPr>
            <a:r>
              <a:rPr b="0" sz="2000"/>
              <a:t>Stage 2: net profit, in the profit and loss account section</a:t>
            </a:r>
          </a:p>
          <a:p>
            <a:pPr>
              <a:spcAft>
                <a:spcPts val="1000"/>
              </a:spcAft>
            </a:pPr>
            <a:r>
              <a:rPr b="0" sz="2000"/>
              <a:t>The trial balance feeds both sections; combined report = income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Stage 1: the cost side (debits)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Opening stock: last year's closing stock becomes this year's opening</a:t>
            </a:r>
          </a:p>
          <a:p>
            <a:pPr>
              <a:spcAft>
                <a:spcPts val="1000"/>
              </a:spcAft>
            </a:pPr>
            <a:r>
              <a:rPr b="0" sz="2000"/>
              <a:t>Purchases: goods for resale; deduct capital items wrongly included</a:t>
            </a:r>
          </a:p>
          <a:p>
            <a:pPr>
              <a:spcAft>
                <a:spcPts val="1000"/>
              </a:spcAft>
            </a:pPr>
            <a:r>
              <a:rPr b="0" sz="2000"/>
              <a:t>Goods for personal use (drawings) excluded from purchases</a:t>
            </a:r>
          </a:p>
          <a:p>
            <a:pPr>
              <a:spcAft>
                <a:spcPts val="1000"/>
              </a:spcAft>
            </a:pPr>
            <a:r>
              <a:rPr b="0" sz="2000"/>
              <a:t>Exclude goods in transit, consignment and approval goods</a:t>
            </a:r>
          </a:p>
          <a:p>
            <a:pPr>
              <a:spcAft>
                <a:spcPts val="1000"/>
              </a:spcAft>
            </a:pPr>
            <a:r>
              <a:rPr b="0" sz="2000"/>
              <a:t>Returns outwards reduce purchases (net them off)</a:t>
            </a:r>
          </a:p>
          <a:p>
            <a:pPr>
              <a:spcAft>
                <a:spcPts val="1000"/>
              </a:spcAft>
            </a:pPr>
            <a:r>
              <a:rPr b="0" sz="2000"/>
              <a:t>Direct expenses added: carriage inwards belongs above gross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Stage 1: the revenue side (credits)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Sales: cash and credit sales of the business's own goods</a:t>
            </a:r>
          </a:p>
          <a:p>
            <a:pPr>
              <a:spcAft>
                <a:spcPts val="1000"/>
              </a:spcAft>
            </a:pPr>
            <a:r>
              <a:rPr b="0" sz="2000"/>
              <a:t>Exclude: old fixed-asset sales, approval goods, free samples, sales tax</a:t>
            </a:r>
          </a:p>
          <a:p>
            <a:pPr>
              <a:spcAft>
                <a:spcPts val="1000"/>
              </a:spcAft>
            </a:pPr>
            <a:r>
              <a:rPr b="0" sz="2000"/>
              <a:t>Returns inwards deducted from sales → net sales</a:t>
            </a:r>
          </a:p>
          <a:p>
            <a:pPr>
              <a:spcAft>
                <a:spcPts val="1000"/>
              </a:spcAft>
            </a:pPr>
            <a:r>
              <a:rPr b="0" sz="2000"/>
              <a:t>Abnormal stock loss: credit the trading account in full (normal conditions only)</a:t>
            </a:r>
          </a:p>
          <a:p>
            <a:pPr>
              <a:spcAft>
                <a:spcPts val="1000"/>
              </a:spcAft>
            </a:pPr>
            <a:r>
              <a:rPr b="0" sz="2000"/>
              <a:t>Closing stock: valued at cost or market price, whichever is lower</a:t>
            </a:r>
          </a:p>
          <a:p>
            <a:pPr>
              <a:spcAft>
                <a:spcPts val="1000"/>
              </a:spcAft>
            </a:pPr>
            <a:r>
              <a:rPr b="0" sz="2000"/>
              <a:t>Closing stock brought in: Dr Closing stock / Cr Income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cost-of-sales formula (memorise this)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Opening stock + Purchases + Carriage inwards − Returns outwards</a:t>
            </a:r>
          </a:p>
          <a:p>
            <a:pPr>
              <a:spcAft>
                <a:spcPts val="1000"/>
              </a:spcAft>
            </a:pPr>
            <a:r>
              <a:rPr b="0" sz="2000"/>
              <a:t>= Cost of goods available for sale − Closing stock</a:t>
            </a:r>
          </a:p>
          <a:p>
            <a:pPr>
              <a:spcAft>
                <a:spcPts val="1000"/>
              </a:spcAft>
            </a:pPr>
            <a:r>
              <a:rPr b="0" sz="2000"/>
              <a:t>= COST OF SALES</a:t>
            </a:r>
          </a:p>
          <a:p>
            <a:pPr>
              <a:spcAft>
                <a:spcPts val="1000"/>
              </a:spcAft>
            </a:pPr>
            <a:r>
              <a:rPr b="0" sz="2000"/>
              <a:t>Net sales (sales − returns inwards) − Cost of sales = GROSS PROFIT</a:t>
            </a:r>
          </a:p>
          <a:p>
            <a:pPr>
              <a:spcAft>
                <a:spcPts val="1000"/>
              </a:spcAft>
            </a:pPr>
            <a:r>
              <a:rPr b="0" sz="2000"/>
              <a:t>Worked example: Mr Karanja — net sales Sh.7,570,400</a:t>
            </a:r>
          </a:p>
          <a:p>
            <a:pPr>
              <a:spcAft>
                <a:spcPts val="1000"/>
              </a:spcAft>
            </a:pPr>
            <a:r>
              <a:rPr b="0" sz="2000"/>
              <a:t>Cost of sales Sh.5,203,800 → gross profit Sh.2,366,600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Stage 2: determining net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Debit: admin expenses — office salaries, rent, stationery, telephone</a:t>
            </a:r>
          </a:p>
          <a:p>
            <a:pPr>
              <a:spcAft>
                <a:spcPts val="1000"/>
              </a:spcAft>
            </a:pPr>
            <a:r>
              <a:rPr b="0" sz="2000"/>
              <a:t>Debit: selling expenses — salesmen's salaries, advertising, carriage outwards</a:t>
            </a:r>
          </a:p>
          <a:p>
            <a:pPr>
              <a:spcAft>
                <a:spcPts val="1000"/>
              </a:spcAft>
            </a:pPr>
            <a:r>
              <a:rPr b="0" sz="2000"/>
              <a:t>Debit: maintenance, financial (bank charges, discount allowed), depreciation</a:t>
            </a:r>
          </a:p>
          <a:p>
            <a:pPr>
              <a:spcAft>
                <a:spcPts val="1000"/>
              </a:spcAft>
            </a:pPr>
            <a:r>
              <a:rPr b="0" sz="2000"/>
              <a:t>Debit: abnormal losses — fire/theft stock loss, loss on sale of machinery</a:t>
            </a:r>
          </a:p>
          <a:p>
            <a:pPr>
              <a:spcAft>
                <a:spcPts val="1000"/>
              </a:spcAft>
            </a:pPr>
            <a:r>
              <a:rPr b="0" sz="2000"/>
              <a:t>Credit: gross profit brought down plus all other income</a:t>
            </a:r>
          </a:p>
          <a:p>
            <a:pPr>
              <a:spcAft>
                <a:spcPts val="1000"/>
              </a:spcAft>
            </a:pPr>
            <a:r>
              <a:rPr b="0" sz="2000"/>
              <a:t>Credit: discount received, commission received, rent of let 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Special treatments examiners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Carriage inwards = direct (trading); carriage outwards = selling (P&amp;L)</a:t>
            </a:r>
          </a:p>
          <a:p>
            <a:pPr>
              <a:spcAft>
                <a:spcPts val="1000"/>
              </a:spcAft>
            </a:pPr>
            <a:r>
              <a:rPr b="0" sz="2000"/>
              <a:t>Returns: inwards reduce sales; outwards reduce purchases — never add</a:t>
            </a:r>
          </a:p>
          <a:p>
            <a:pPr>
              <a:spcAft>
                <a:spcPts val="1000"/>
              </a:spcAft>
            </a:pPr>
            <a:r>
              <a:rPr b="0" sz="2000"/>
              <a:t>Abnormal loss: credit trading account, then charge P&amp;L; claim = asset</a:t>
            </a:r>
          </a:p>
          <a:p>
            <a:pPr>
              <a:spcAft>
                <a:spcPts val="1000"/>
              </a:spcAft>
            </a:pPr>
            <a:r>
              <a:rPr b="0" sz="2000"/>
              <a:t>Approval goods: not a sale until approved — cancel sale, add stock at cost</a:t>
            </a:r>
          </a:p>
          <a:p>
            <a:pPr>
              <a:spcAft>
                <a:spcPts val="1000"/>
              </a:spcAft>
            </a:pPr>
            <a:r>
              <a:rPr b="0" sz="2000"/>
              <a:t>Free samples: Dr Advertisement / Cr Purchases, charged to P&amp;L</a:t>
            </a:r>
          </a:p>
          <a:p>
            <a:pPr>
              <a:spcAft>
                <a:spcPts val="1000"/>
              </a:spcAft>
            </a:pPr>
            <a:r>
              <a:rPr b="0" sz="2000"/>
              <a:t>Drawings in kind: Dr Drawings / Cr Purchases at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Common exam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Confusing carriage inwards with carriage outwards — the top mark-loser</a:t>
            </a:r>
          </a:p>
          <a:p>
            <a:pPr>
              <a:spcAft>
                <a:spcPts val="1000"/>
              </a:spcAft>
            </a:pPr>
            <a:r>
              <a:rPr b="0" sz="2000"/>
              <a:t>Adding returns instead of deducting them from sales and purchases</a:t>
            </a:r>
          </a:p>
          <a:p>
            <a:pPr>
              <a:spcAft>
                <a:spcPts val="1000"/>
              </a:spcAft>
            </a:pPr>
            <a:r>
              <a:rPr b="0" sz="2000"/>
              <a:t>Closing stock already in the trial balance goes to the SOFP only</a:t>
            </a:r>
          </a:p>
          <a:p>
            <a:pPr>
              <a:spcAft>
                <a:spcPts val="1000"/>
              </a:spcAft>
            </a:pPr>
            <a:r>
              <a:rPr b="0" sz="2000"/>
              <a:t>Indirect expenses (salaries, rent, depreciation) never sit above gross profit</a:t>
            </a:r>
          </a:p>
          <a:p>
            <a:pPr>
              <a:spcAft>
                <a:spcPts val="1000"/>
              </a:spcAft>
            </a:pPr>
            <a:r>
              <a:rPr b="0" sz="2000"/>
              <a:t>Selling an old van is not 'sales' — profit/loss goes to P&amp;L separately</a:t>
            </a:r>
          </a:p>
          <a:p>
            <a:pPr>
              <a:spcAft>
                <a:spcPts val="1000"/>
              </a:spcAft>
            </a:pPr>
            <a:r>
              <a:rPr b="0" sz="2000"/>
              <a:t>Abnormal losses are credited out of the trading account, charged below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Two stages: gross profit (trading), then net profit (P&amp;L)</a:t>
            </a:r>
          </a:p>
          <a:p>
            <a:pPr>
              <a:spcAft>
                <a:spcPts val="1000"/>
              </a:spcAft>
            </a:pPr>
            <a:r>
              <a:rPr b="0" sz="2000"/>
              <a:t>Memorise the cost-of-sales formula; write it at the top of your answer</a:t>
            </a:r>
          </a:p>
          <a:p>
            <a:pPr>
              <a:spcAft>
                <a:spcPts val="1000"/>
              </a:spcAft>
            </a:pPr>
            <a:r>
              <a:rPr b="0" sz="2000"/>
              <a:t>Compute net sales and net purchases first — the rest is mechanical</a:t>
            </a:r>
          </a:p>
          <a:p>
            <a:pPr>
              <a:spcAft>
                <a:spcPts val="1000"/>
              </a:spcAft>
            </a:pPr>
            <a:r>
              <a:rPr b="0" sz="2000"/>
              <a:t>Only direct items above gross profit; everything else below it</a:t>
            </a:r>
          </a:p>
          <a:p>
            <a:pPr>
              <a:spcAft>
                <a:spcPts val="1000"/>
              </a:spcAft>
            </a:pPr>
            <a:r>
              <a:rPr b="0" sz="2000"/>
              <a:t>Draw a clear gross-profit subtotal — examiners award presentation marks</a:t>
            </a:r>
          </a:p>
          <a:p>
            <a:pPr>
              <a:spcAft>
                <a:spcPts val="1000"/>
              </a:spcAft>
            </a:pPr>
            <a:r>
              <a:rPr b="0" sz="2000"/>
              <a:t>Show workings for every adjustment — method marks are generous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