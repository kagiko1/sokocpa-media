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Partnership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Partnership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a partnership and identify its four key elements</a:t>
            </a:r>
          </a:p>
          <a:p>
            <a:pPr>
              <a:spcAft>
                <a:spcPts val="1000"/>
              </a:spcAft>
            </a:pPr>
            <a:r>
              <a:rPr b="0" sz="2000"/>
              <a:t>Distinguish a general partnership from a limited partnership</a:t>
            </a:r>
          </a:p>
          <a:p>
            <a:pPr>
              <a:spcAft>
                <a:spcPts val="1000"/>
              </a:spcAft>
            </a:pPr>
            <a:r>
              <a:rPr b="0" sz="2000"/>
              <a:t>State the essential contents of a partnership agreement</a:t>
            </a:r>
          </a:p>
          <a:p>
            <a:pPr>
              <a:spcAft>
                <a:spcPts val="1000"/>
              </a:spcAft>
            </a:pPr>
            <a:r>
              <a:rPr b="0" sz="2000"/>
              <a:t>Apply the five default rules when there is no agreement</a:t>
            </a:r>
          </a:p>
          <a:p>
            <a:pPr>
              <a:spcAft>
                <a:spcPts val="1000"/>
              </a:spcAft>
            </a:pPr>
            <a:r>
              <a:rPr b="0" sz="2000"/>
              <a:t>Explain how partnership accounting differs from sole-trader accounting</a:t>
            </a:r>
          </a:p>
          <a:p>
            <a:pPr>
              <a:spcAft>
                <a:spcPts val="1000"/>
              </a:spcAft>
            </a:pPr>
            <a:r>
              <a:rPr b="0" sz="2000"/>
              <a:t>List partners' rights and the liability rules for incoming, retiring and minor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is a partnership?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Kenya Partnership Act 1962: persons carrying on business in common for profit</a:t>
            </a:r>
          </a:p>
          <a:p>
            <a:pPr>
              <a:spcAft>
                <a:spcPts val="1000"/>
              </a:spcAft>
            </a:pPr>
            <a:r>
              <a:rPr b="0" sz="2000"/>
              <a:t>Four elements: two or more people, a business, profit motive, unincorporated</a:t>
            </a:r>
          </a:p>
          <a:p>
            <a:pPr>
              <a:spcAft>
                <a:spcPts val="1000"/>
              </a:spcAft>
            </a:pPr>
            <a:r>
              <a:rPr b="0" sz="2000"/>
              <a:t>Maximum 20 partners under Kenyan law</a:t>
            </a:r>
          </a:p>
          <a:p>
            <a:pPr>
              <a:spcAft>
                <a:spcPts val="1000"/>
              </a:spcAft>
            </a:pPr>
            <a:r>
              <a:rPr b="0" sz="2000"/>
              <a:t>Business-entity principle: the partnership is separate from the partners</a:t>
            </a:r>
          </a:p>
          <a:p>
            <a:pPr>
              <a:spcAft>
                <a:spcPts val="1000"/>
              </a:spcAft>
            </a:pPr>
            <a:r>
              <a:rPr b="0" sz="2000"/>
              <a:t>Unlimited liability: personal assets can be called on to clear firm debts</a:t>
            </a:r>
          </a:p>
          <a:p>
            <a:pPr>
              <a:spcAft>
                <a:spcPts val="1000"/>
              </a:spcAft>
            </a:pPr>
            <a:r>
              <a:rPr b="0" sz="2000"/>
              <a:t>Loans, shared returns and common property do NOT create a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General vs limited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General (Partnership Act 1962, Cap 29): all partners manage; all unlimited</a:t>
            </a:r>
          </a:p>
          <a:p>
            <a:pPr>
              <a:spcAft>
                <a:spcPts val="1000"/>
              </a:spcAft>
            </a:pPr>
            <a:r>
              <a:rPr b="0" sz="2000"/>
              <a:t>Limited (Limited Partnership Act, Cap 30): general + limited partners</a:t>
            </a:r>
          </a:p>
          <a:p>
            <a:pPr>
              <a:spcAft>
                <a:spcPts val="1000"/>
              </a:spcAft>
            </a:pPr>
            <a:r>
              <a:rPr b="0" sz="2000"/>
              <a:t>A limited partner's liability is capped at the capital they contributed</a:t>
            </a:r>
          </a:p>
          <a:p>
            <a:pPr>
              <a:spcAft>
                <a:spcPts val="1000"/>
              </a:spcAft>
            </a:pPr>
            <a:r>
              <a:rPr b="0" sz="2000"/>
              <a:t>A limited partner may NOT manage — doing so makes liability unlimited</a:t>
            </a:r>
          </a:p>
          <a:p>
            <a:pPr>
              <a:spcAft>
                <a:spcPts val="1000"/>
              </a:spcAft>
            </a:pPr>
            <a:r>
              <a:rPr b="0" sz="2000"/>
              <a:t>Limited partnerships give passive investors limited liability</a:t>
            </a:r>
          </a:p>
          <a:p>
            <a:pPr>
              <a:spcAft>
                <a:spcPts val="1000"/>
              </a:spcAft>
            </a:pPr>
            <a:r>
              <a:rPr b="0" sz="2000"/>
              <a:t>Few exist in practice — a private company achieves the same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Partnership vs sole trader vs limited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Owners: one individual → two or more persons (max 20) → shareholders</a:t>
            </a:r>
          </a:p>
          <a:p>
            <a:pPr>
              <a:spcAft>
                <a:spcPts val="1000"/>
              </a:spcAft>
            </a:pPr>
            <a:r>
              <a:rPr b="0" sz="2000"/>
              <a:t>Legal personality: none → none → separate legal person</a:t>
            </a:r>
          </a:p>
          <a:p>
            <a:pPr>
              <a:spcAft>
                <a:spcPts val="1000"/>
              </a:spcAft>
            </a:pPr>
            <a:r>
              <a:rPr b="0" sz="2000"/>
              <a:t>Liability: unlimited → unlimited (general partners) → limited to shares</a:t>
            </a:r>
          </a:p>
          <a:p>
            <a:pPr>
              <a:spcAft>
                <a:spcPts val="1000"/>
              </a:spcAft>
            </a:pPr>
            <a:r>
              <a:rPr b="0" sz="2000"/>
              <a:t>Profit sharing: owner keeps all → agreed ratio (equal by default) → dividends</a:t>
            </a:r>
          </a:p>
          <a:p>
            <a:pPr>
              <a:spcAft>
                <a:spcPts val="1000"/>
              </a:spcAft>
            </a:pPr>
            <a:r>
              <a:rPr b="0" sz="2000"/>
              <a:t>Continuity: ends with the owner → ends on change unless agreed → perpetual</a:t>
            </a:r>
          </a:p>
          <a:p>
            <a:pPr>
              <a:spcAft>
                <a:spcPts val="1000"/>
              </a:spcAft>
            </a:pPr>
            <a:r>
              <a:rPr b="0" sz="2000"/>
              <a:t>Accounts: IS + SOFP → plus appropriation account → full statutory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partnership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 partnership can form with no legal formalities — written, verbal, even inferred</a:t>
            </a:r>
          </a:p>
          <a:p>
            <a:pPr>
              <a:spcAft>
                <a:spcPts val="1000"/>
              </a:spcAft>
            </a:pPr>
            <a:r>
              <a:rPr b="0" sz="2000"/>
              <a:t>But a written agreement is strongly recommended — money and memory fail</a:t>
            </a:r>
          </a:p>
          <a:p>
            <a:pPr>
              <a:spcAft>
                <a:spcPts val="1000"/>
              </a:spcAft>
            </a:pPr>
            <a:r>
              <a:rPr b="0" sz="2000"/>
              <a:t>Covers: firm name, nature of business, capital each partner contributes</a:t>
            </a:r>
          </a:p>
          <a:p>
            <a:pPr>
              <a:spcAft>
                <a:spcPts val="1000"/>
              </a:spcAft>
            </a:pPr>
            <a:r>
              <a:rPr b="0" sz="2000"/>
              <a:t>Profit ratios; interest on capital and on drawings</a:t>
            </a:r>
          </a:p>
          <a:p>
            <a:pPr>
              <a:spcAft>
                <a:spcPts val="1000"/>
              </a:spcAft>
            </a:pPr>
            <a:r>
              <a:rPr b="0" sz="2000"/>
              <a:t>Salaries, commissions or bonuses for partners</a:t>
            </a:r>
          </a:p>
          <a:p>
            <a:pPr>
              <a:spcAft>
                <a:spcPts val="1000"/>
              </a:spcAft>
            </a:pPr>
            <a:r>
              <a:rPr b="0" sz="2000"/>
              <a:t>Admission/retirement rules, dispute method, duration, account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Rights and liabilities of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Rights: take part in management, be consulted, access books, share profits</a:t>
            </a:r>
          </a:p>
          <a:p>
            <a:pPr>
              <a:spcAft>
                <a:spcPts val="1000"/>
              </a:spcAft>
            </a:pPr>
            <a:r>
              <a:rPr b="0" sz="2000"/>
              <a:t>Incoming partner: not liable for pre-admission debts unless agreed</a:t>
            </a:r>
          </a:p>
          <a:p>
            <a:pPr>
              <a:spcAft>
                <a:spcPts val="1000"/>
              </a:spcAft>
            </a:pPr>
            <a:r>
              <a:rPr b="0" sz="2000"/>
              <a:t>Retiring partner: liable for pre-retirement debts; must give public notice</a:t>
            </a:r>
          </a:p>
          <a:p>
            <a:pPr>
              <a:spcAft>
                <a:spcPts val="1000"/>
              </a:spcAft>
            </a:pPr>
            <a:r>
              <a:rPr b="0" sz="2000"/>
              <a:t>Minor: admitted to benefits with consent; share liable, person not liable</a:t>
            </a:r>
          </a:p>
          <a:p>
            <a:pPr>
              <a:spcAft>
                <a:spcPts val="1000"/>
              </a:spcAft>
            </a:pPr>
            <a:r>
              <a:rPr b="0" sz="2000"/>
              <a:t>Within six months of majority, the minor must elect to continue or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five default rules — no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1. No partner has the right to a salary</a:t>
            </a:r>
          </a:p>
          <a:p>
            <a:pPr>
              <a:spcAft>
                <a:spcPts val="1000"/>
              </a:spcAft>
            </a:pPr>
            <a:r>
              <a:rPr b="0" sz="2000"/>
              <a:t>2. No interest allowed on capital</a:t>
            </a:r>
          </a:p>
          <a:p>
            <a:pPr>
              <a:spcAft>
                <a:spcPts val="1000"/>
              </a:spcAft>
            </a:pPr>
            <a:r>
              <a:rPr b="0" sz="2000"/>
              <a:t>3. No interest charged on drawings</a:t>
            </a:r>
          </a:p>
          <a:p>
            <a:pPr>
              <a:spcAft>
                <a:spcPts val="1000"/>
              </a:spcAft>
            </a:pPr>
            <a:r>
              <a:rPr b="0" sz="2000"/>
              <a:t>4. 6% per annum on a partner's loan to the firm</a:t>
            </a:r>
          </a:p>
          <a:p>
            <a:pPr>
              <a:spcAft>
                <a:spcPts val="1000"/>
              </a:spcAft>
            </a:pPr>
            <a:r>
              <a:rPr b="0" sz="2000"/>
              <a:t>5. Profits and losses shared equally</a:t>
            </a:r>
          </a:p>
          <a:p>
            <a:pPr>
              <a:spcAft>
                <a:spcPts val="1000"/>
              </a:spcAft>
            </a:pPr>
            <a:r>
              <a:rPr b="0" sz="2000"/>
              <a:t>A favourite KASNEB short question — memorise all five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Partnership accounting vs sole-trader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The income statement is prepared the usual way (Module 5)</a:t>
            </a:r>
          </a:p>
          <a:p>
            <a:pPr>
              <a:spcAft>
                <a:spcPts val="1000"/>
              </a:spcAft>
            </a:pPr>
            <a:r>
              <a:rPr b="0" sz="2000"/>
              <a:t>A new section is added: the appropriation account, which shares net profit</a:t>
            </a:r>
          </a:p>
          <a:p>
            <a:pPr>
              <a:spcAft>
                <a:spcPts val="1000"/>
              </a:spcAft>
            </a:pPr>
            <a:r>
              <a:rPr b="0" sz="2000"/>
              <a:t>Each partner has a separate capital account and separate current account</a:t>
            </a:r>
          </a:p>
          <a:p>
            <a:pPr>
              <a:spcAft>
                <a:spcPts val="1000"/>
              </a:spcAft>
            </a:pPr>
            <a:r>
              <a:rPr b="0" sz="2000"/>
              <a:t>Partner-loan interest is a business expense (debit the income statement)</a:t>
            </a:r>
          </a:p>
          <a:p>
            <a:pPr>
              <a:spcAft>
                <a:spcPts val="1000"/>
              </a:spcAft>
            </a:pPr>
            <a:r>
              <a:rPr b="0" sz="2000"/>
              <a:t>In the SOFP, each partner's interest is shown separately</a:t>
            </a:r>
          </a:p>
          <a:p>
            <a:pPr>
              <a:spcAft>
                <a:spcPts val="1000"/>
              </a:spcAft>
            </a:pPr>
            <a:r>
              <a:rPr b="0" sz="2000"/>
              <a:t>A partner's loan is shown separately under non-current liabilities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 partner's salary is an appropriation of profit — not a business expense</a:t>
            </a:r>
          </a:p>
          <a:p>
            <a:pPr>
              <a:spcAft>
                <a:spcPts val="1000"/>
              </a:spcAft>
            </a:pPr>
            <a:r>
              <a:rPr b="0" sz="2000"/>
              <a:t>No interest on capital without an agreement; never above available profit</a:t>
            </a:r>
          </a:p>
          <a:p>
            <a:pPr>
              <a:spcAft>
                <a:spcPts val="1000"/>
              </a:spcAft>
            </a:pPr>
            <a:r>
              <a:rPr b="0" sz="2000"/>
              <a:t>A partner's loan is a liability — never merge it into capital</a:t>
            </a:r>
          </a:p>
          <a:p>
            <a:pPr>
              <a:spcAft>
                <a:spcPts val="1000"/>
              </a:spcAft>
            </a:pPr>
            <a:r>
              <a:rPr b="0" sz="2000"/>
              <a:t>Forgetting the 20-partner maximum under the Kenya Partnership Act 1962</a:t>
            </a:r>
          </a:p>
          <a:p>
            <a:pPr>
              <a:spcAft>
                <a:spcPts val="1000"/>
              </a:spcAft>
            </a:pPr>
            <a:r>
              <a:rPr b="0" sz="2000"/>
              <a:t>A lender is not a partner — loans do not create partnerships</a:t>
            </a:r>
          </a:p>
          <a:p>
            <a:pPr>
              <a:spcAft>
                <a:spcPts val="1000"/>
              </a:spcAft>
            </a:pPr>
            <a:r>
              <a:rPr b="0" sz="2000"/>
              <a:t>A limited partner who manages the firm becomes unlimitedly liable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Partnership = unincorporated, 2–20 persons, business for profit, unlimited liability</a:t>
            </a:r>
          </a:p>
          <a:p>
            <a:pPr>
              <a:spcAft>
                <a:spcPts val="1000"/>
              </a:spcAft>
            </a:pPr>
            <a:r>
              <a:rPr b="0" sz="2000"/>
              <a:t>A written agreement settles capital, ratios, interest, salaries, exits — prevents disputes</a:t>
            </a:r>
          </a:p>
          <a:p>
            <a:pPr>
              <a:spcAft>
                <a:spcPts val="1000"/>
              </a:spcAft>
            </a:pPr>
            <a:r>
              <a:rPr b="0" sz="2000"/>
              <a:t>No agreement → defaults: no salary, no interest on capital, 6% on loans, equal sharing</a:t>
            </a:r>
          </a:p>
          <a:p>
            <a:pPr>
              <a:spcAft>
                <a:spcPts val="1000"/>
              </a:spcAft>
            </a:pPr>
            <a:r>
              <a:rPr b="0" sz="2000"/>
              <a:t>Appropriations (salary, interest on capital) are not expenses (loan interest is)</a:t>
            </a:r>
          </a:p>
          <a:p>
            <a:pPr>
              <a:spcAft>
                <a:spcPts val="1000"/>
              </a:spcAft>
            </a:pPr>
            <a:r>
              <a:rPr b="0" sz="2000"/>
              <a:t>Cite the Kenya Partnership Act 1962 and the 20-partner maximum in theory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