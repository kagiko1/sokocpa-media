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0972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C8102E"/>
                </a:solidFill>
              </a:rPr>
              <a:t>CA11  FINANCIAL  ACCOUNTING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88136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/>
              <a:t>Current vs. Fixed Capital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93192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6E6E6E"/>
                </a:solidFill>
              </a:rPr>
              <a:t>CA11 Financial Accounting • Financial Statements of a Partnership</a:t>
            </a:r>
          </a:p>
        </p:txBody>
      </p:sp>
      <p:pic>
        <p:nvPicPr>
          <p:cNvPr id="5" name="Picture 4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512064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7" name="Picture 6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Distinguish a partner's capital account from their current account</a:t>
            </a:r>
          </a:p>
          <a:p>
            <a:pPr>
              <a:spcAft>
                <a:spcPts val="1000"/>
              </a:spcAft>
            </a:pPr>
            <a:r>
              <a:rPr b="0" sz="2000"/>
              <a:t>State which entries go to each account under fixed and fluctuating systems</a:t>
            </a:r>
          </a:p>
          <a:p>
            <a:pPr>
              <a:spcAft>
                <a:spcPts val="1000"/>
              </a:spcAft>
            </a:pPr>
            <a:r>
              <a:rPr b="0" sz="2000"/>
              <a:t>Prepare partners' current accounts in T-account format</a:t>
            </a:r>
          </a:p>
          <a:p>
            <a:pPr>
              <a:spcAft>
                <a:spcPts val="1000"/>
              </a:spcAft>
            </a:pPr>
            <a:r>
              <a:rPr b="0" sz="2000"/>
              <a:t>Prepare fixed capital accounts showing goodwill and revaluation entries</a:t>
            </a:r>
          </a:p>
          <a:p>
            <a:pPr>
              <a:spcAft>
                <a:spcPts val="1000"/>
              </a:spcAft>
            </a:pPr>
            <a:r>
              <a:rPr b="0" sz="2000"/>
              <a:t>Present the equity section of a partnership statement of financial position</a:t>
            </a:r>
          </a:p>
          <a:p>
            <a:pPr>
              <a:spcAft>
                <a:spcPts val="1000"/>
              </a:spcAft>
            </a:pPr>
            <a:r>
              <a:rPr b="0" sz="2000"/>
              <a:t>Account for a partner's loan as a non-current liability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The distinction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Total capital = capital account + current account</a:t>
            </a:r>
          </a:p>
          <a:p>
            <a:pPr>
              <a:spcAft>
                <a:spcPts val="1000"/>
              </a:spcAft>
            </a:pPr>
            <a:r>
              <a:rPr b="0" sz="2000"/>
              <a:t>Capital account: what the partner invested — fixed at the deed figure</a:t>
            </a:r>
          </a:p>
          <a:p>
            <a:pPr>
              <a:spcAft>
                <a:spcPts val="1000"/>
              </a:spcAft>
            </a:pPr>
            <a:r>
              <a:rPr b="0" sz="2000"/>
              <a:t>Current account: what the partner earned — appropriations plus profit share</a:t>
            </a:r>
          </a:p>
          <a:p>
            <a:pPr>
              <a:spcAft>
                <a:spcPts val="1000"/>
              </a:spcAft>
            </a:pPr>
            <a:r>
              <a:rPr b="0" sz="2000"/>
              <a:t>Current account less: drawings and interest on drawings</a:t>
            </a:r>
          </a:p>
          <a:p>
            <a:pPr>
              <a:spcAft>
                <a:spcPts val="1000"/>
              </a:spcAft>
            </a:pPr>
            <a:r>
              <a:rPr b="0" sz="2000"/>
              <a:t>KASNEB examination questions normally use the fixed-capital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Fluctuating vs fixed capital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Fluctuating: every entry passes through capital — the balance changes yearly</a:t>
            </a:r>
          </a:p>
          <a:p>
            <a:pPr>
              <a:spcAft>
                <a:spcPts val="1000"/>
              </a:spcAft>
            </a:pPr>
            <a:r>
              <a:rPr b="0" sz="2000"/>
              <a:t>Fixed: a separate current account carries the year's entries</a:t>
            </a:r>
          </a:p>
          <a:p>
            <a:pPr>
              <a:spcAft>
                <a:spcPts val="1000"/>
              </a:spcAft>
            </a:pPr>
            <a:r>
              <a:rPr b="0" sz="2000"/>
              <a:t>Fixed capital moves only for permanent changes: new capital, withdrawals</a:t>
            </a:r>
          </a:p>
          <a:p>
            <a:pPr>
              <a:spcAft>
                <a:spcPts val="1000"/>
              </a:spcAft>
            </a:pPr>
            <a:r>
              <a:rPr b="0" sz="2000"/>
              <a:t>Goodwill and revaluation adjustments also touch the capital account</a:t>
            </a:r>
          </a:p>
          <a:p>
            <a:pPr>
              <a:spcAft>
                <a:spcPts val="1000"/>
              </a:spcAft>
            </a:pPr>
            <a:r>
              <a:rPr b="0" sz="2000"/>
              <a:t>Salaries, interest, drawings and profit shares NEVER touch fixed capital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Current account format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Debits: opening debit balance, interest on drawings, drawings, closing credit balance</a:t>
            </a:r>
          </a:p>
          <a:p>
            <a:pPr>
              <a:spcAft>
                <a:spcPts val="1000"/>
              </a:spcAft>
            </a:pPr>
            <a:r>
              <a:rPr b="0" sz="2000"/>
              <a:t>Credits: opening credit balance, interest on capital, salaries, profit share</a:t>
            </a:r>
          </a:p>
          <a:p>
            <a:pPr>
              <a:spcAft>
                <a:spcPts val="1000"/>
              </a:spcAft>
            </a:pPr>
            <a:r>
              <a:rPr b="0" sz="2000"/>
              <a:t>Loan interest credited to the partner also appears on the credit side</a:t>
            </a:r>
          </a:p>
          <a:p>
            <a:pPr>
              <a:spcAft>
                <a:spcPts val="1000"/>
              </a:spcAft>
            </a:pPr>
            <a:r>
              <a:rPr b="0" sz="2000"/>
              <a:t>Balance c/d on the smaller side; balance b/d brought down on the correct side</a:t>
            </a:r>
          </a:p>
          <a:p>
            <a:pPr>
              <a:spcAft>
                <a:spcPts val="1000"/>
              </a:spcAft>
            </a:pPr>
            <a:r>
              <a:rPr b="0" sz="2000"/>
              <a:t>Cross-check: current-account profit-share credits must match the appropriation</a:t>
            </a:r>
          </a:p>
          <a:p>
            <a:pPr>
              <a:spcAft>
                <a:spcPts val="1000"/>
              </a:spcAft>
            </a:pPr>
            <a:r>
              <a:rPr b="0" sz="2000"/>
              <a:t>Wachira: credits 1,860 + 2,000 + 10,500 = 14,360 = debits 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Fixed capital account format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Debits: loss on revaluation, goodwill written off, closing balance</a:t>
            </a:r>
          </a:p>
          <a:p>
            <a:pPr>
              <a:spcAft>
                <a:spcPts val="1000"/>
              </a:spcAft>
            </a:pPr>
            <a:r>
              <a:rPr b="0" sz="2000"/>
              <a:t>Credits: opening balance, gains on revaluation, additional capital</a:t>
            </a:r>
          </a:p>
          <a:p>
            <a:pPr>
              <a:spcAft>
                <a:spcPts val="1000"/>
              </a:spcAft>
            </a:pPr>
            <a:r>
              <a:rPr b="0" sz="2000"/>
              <a:t>Credits also: goodwill raised and retained in the books</a:t>
            </a:r>
          </a:p>
          <a:p>
            <a:pPr>
              <a:spcAft>
                <a:spcPts val="1000"/>
              </a:spcAft>
            </a:pPr>
            <a:r>
              <a:rPr b="0" sz="2000"/>
              <a:t>A: 300,000 + 50,000 + 36,000 + 60,000 = Sh.446,000 ✓</a:t>
            </a:r>
          </a:p>
          <a:p>
            <a:pPr>
              <a:spcAft>
                <a:spcPts val="1000"/>
              </a:spcAft>
            </a:pPr>
            <a:r>
              <a:rPr b="0" sz="2000"/>
              <a:t>B: 200,000 + 24,000 + 40,000 = Sh.264,000 ✓</a:t>
            </a:r>
          </a:p>
          <a:p>
            <a:pPr>
              <a:spcAft>
                <a:spcPts val="1000"/>
              </a:spcAft>
            </a:pPr>
            <a:r>
              <a:rPr b="0" sz="2000"/>
              <a:t>No appropriation ever passes through here — only permanent adjustments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Worked example: current accounts (Wachira, Phylis, Hamisi)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Opening current balances credited: Wachira 1,860; Phylis 946; Hamisi 717</a:t>
            </a:r>
          </a:p>
          <a:p>
            <a:pPr>
              <a:spcAft>
                <a:spcPts val="1000"/>
              </a:spcAft>
            </a:pPr>
            <a:r>
              <a:rPr b="0" sz="2000"/>
              <a:t>Interest on capital credited: 2,000 / 1,500 / 900</a:t>
            </a:r>
          </a:p>
          <a:p>
            <a:pPr>
              <a:spcAft>
                <a:spcPts val="1000"/>
              </a:spcAft>
            </a:pPr>
            <a:r>
              <a:rPr b="0" sz="2000"/>
              <a:t>Salaries credited: Phylis 2,000; Hamisi 3,500</a:t>
            </a:r>
          </a:p>
          <a:p>
            <a:pPr>
              <a:spcAft>
                <a:spcPts val="1000"/>
              </a:spcAft>
            </a:pPr>
            <a:r>
              <a:rPr b="0" sz="2000"/>
              <a:t>Profit shares credited: 10,500 / 6,300 / 4,200</a:t>
            </a:r>
          </a:p>
          <a:p>
            <a:pPr>
              <a:spcAft>
                <a:spcPts val="1000"/>
              </a:spcAft>
            </a:pPr>
            <a:r>
              <a:rPr b="0" sz="2000"/>
              <a:t>Debits: interest on drawings 240/180/130; drawings 9,200/7,100/6,900</a:t>
            </a:r>
          </a:p>
          <a:p>
            <a:pPr>
              <a:spcAft>
                <a:spcPts val="1000"/>
              </a:spcAft>
            </a:pPr>
            <a:r>
              <a:rPr b="0" sz="2000"/>
              <a:t>Closing balances: 4,920 / 3,466 / 2,287 — every account balances 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Equity section of the SOFP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Each partner's capital account shown SEPARATELY</a:t>
            </a:r>
          </a:p>
          <a:p>
            <a:pPr>
              <a:spcAft>
                <a:spcPts val="1000"/>
              </a:spcAft>
            </a:pPr>
            <a:r>
              <a:rPr b="0" sz="2000"/>
              <a:t>Each partner's current account shown SEPARATELY — debit balances in brackets</a:t>
            </a:r>
          </a:p>
          <a:p>
            <a:pPr>
              <a:spcAft>
                <a:spcPts val="1000"/>
              </a:spcAft>
            </a:pPr>
            <a:r>
              <a:rPr b="0" sz="2000"/>
              <a:t>Example: capitals A 446,000 + B 264,000; currents A 38,500, B (12,000)</a:t>
            </a:r>
          </a:p>
          <a:p>
            <a:pPr>
              <a:spcAft>
                <a:spcPts val="1000"/>
              </a:spcAft>
            </a:pPr>
            <a:r>
              <a:rPr b="0" sz="2000"/>
              <a:t>A partner's loan is NEVER merged into capital — separate non-current liability</a:t>
            </a:r>
          </a:p>
          <a:p>
            <a:pPr>
              <a:spcAft>
                <a:spcPts val="1000"/>
              </a:spcAft>
            </a:pPr>
            <a:r>
              <a:rPr b="0" sz="2000"/>
              <a:t>Label it with the partner's name: '10% loan from B Sh.100,000'</a:t>
            </a:r>
          </a:p>
          <a:p>
            <a:pPr>
              <a:spcAft>
                <a:spcPts val="1000"/>
              </a:spcAft>
            </a:pPr>
            <a:r>
              <a:rPr b="0" sz="2000"/>
              <a:t>A debit current balance reduces total equity — the partner is living off the firm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Partner loans in detail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A loan is NOT part of the partner's capital</a:t>
            </a:r>
          </a:p>
          <a:p>
            <a:pPr>
              <a:spcAft>
                <a:spcPts val="1000"/>
              </a:spcAft>
            </a:pPr>
            <a:r>
              <a:rPr b="0" sz="2000"/>
              <a:t>Created: Dr Bank / Cr Loan account — or Dr Capital / Cr Loan (converted)</a:t>
            </a:r>
          </a:p>
          <a:p>
            <a:pPr>
              <a:spcAft>
                <a:spcPts val="1000"/>
              </a:spcAft>
            </a:pPr>
            <a:r>
              <a:rPr b="0" sz="2000"/>
              <a:t>Interest is a business expense: Dr IS / Cr partner's current account</a:t>
            </a:r>
          </a:p>
          <a:p>
            <a:pPr>
              <a:spcAft>
                <a:spcPts val="1000"/>
              </a:spcAft>
            </a:pPr>
            <a:r>
              <a:rPr b="0" sz="2000"/>
              <a:t>Default rate 6% per annum when the agreement is silent</a:t>
            </a:r>
          </a:p>
          <a:p>
            <a:pPr>
              <a:spcAft>
                <a:spcPts val="1000"/>
              </a:spcAft>
            </a:pPr>
            <a:r>
              <a:rPr b="0" sz="2000"/>
              <a:t>SOFP: non-current liabilities, labelled 'Loan from B'</a:t>
            </a:r>
          </a:p>
          <a:p>
            <a:pPr>
              <a:spcAft>
                <a:spcPts val="1000"/>
              </a:spcAft>
            </a:pPr>
            <a:r>
              <a:rPr b="0" sz="2000"/>
              <a:t>A retiring partner who leaves funds behind becomes a lender — same treatment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Common exam traps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Appropriations through fixed capital — salaries/interest go to current accounts</a:t>
            </a:r>
          </a:p>
          <a:p>
            <a:pPr>
              <a:spcAft>
                <a:spcPts val="1000"/>
              </a:spcAft>
            </a:pPr>
            <a:r>
              <a:rPr b="0" sz="2000"/>
              <a:t>A loan buried in capital — it is always a separate non-current liability</a:t>
            </a:r>
          </a:p>
          <a:p>
            <a:pPr>
              <a:spcAft>
                <a:spcPts val="1000"/>
              </a:spcAft>
            </a:pPr>
            <a:r>
              <a:rPr b="0" sz="2000"/>
              <a:t>Loan interest to the appropriation account — it is an IS expense</a:t>
            </a:r>
          </a:p>
          <a:p>
            <a:pPr>
              <a:spcAft>
                <a:spcPts val="1000"/>
              </a:spcAft>
            </a:pPr>
            <a:r>
              <a:rPr b="0" sz="2000"/>
              <a:t>Netting current accounts together — show each separately, brackets for debits</a:t>
            </a:r>
          </a:p>
          <a:p>
            <a:pPr>
              <a:spcAft>
                <a:spcPts val="1000"/>
              </a:spcAft>
            </a:pPr>
            <a:r>
              <a:rPr b="0" sz="2000"/>
              <a:t>Forgetting the balance b/d — bring it down on the correct side</a:t>
            </a:r>
          </a:p>
          <a:p>
            <a:pPr>
              <a:spcAft>
                <a:spcPts val="1000"/>
              </a:spcAft>
            </a:pPr>
            <a:r>
              <a:rPr b="0" sz="2000"/>
              <a:t>Terminology: 'drawings account' = current account in some textbooks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Key takeaways / exam 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Sort every item first: current account vs capital account</a:t>
            </a:r>
          </a:p>
          <a:p>
            <a:pPr>
              <a:spcAft>
                <a:spcPts val="1000"/>
              </a:spcAft>
            </a:pPr>
            <a:r>
              <a:rPr b="0" sz="2000"/>
              <a:t>Current: salary, interest, drawings, profit share; capital: goodwill, revaluation</a:t>
            </a:r>
          </a:p>
          <a:p>
            <a:pPr>
              <a:spcAft>
                <a:spcPts val="1000"/>
              </a:spcAft>
            </a:pPr>
            <a:r>
              <a:rPr b="0" sz="2000"/>
              <a:t>Balance each current account and cross-check against the appropriation</a:t>
            </a:r>
          </a:p>
          <a:p>
            <a:pPr>
              <a:spcAft>
                <a:spcPts val="1000"/>
              </a:spcAft>
            </a:pPr>
            <a:r>
              <a:rPr b="0" sz="2000"/>
              <a:t>Label loans clearly in non-current liabilities — examiners penalise buried loans</a:t>
            </a:r>
          </a:p>
          <a:p>
            <a:pPr>
              <a:spcAft>
                <a:spcPts val="1000"/>
              </a:spcAft>
            </a:pPr>
            <a:r>
              <a:rPr b="0" sz="2000"/>
              <a:t>Interest rewards credit current balances; it is never paid on a debit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