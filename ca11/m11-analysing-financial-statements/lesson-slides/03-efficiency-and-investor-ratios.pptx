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Efficiency and Investor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Analysing Financial Statements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Compute debtors, creditors and inventory turnovers and day-periods</a:t>
            </a:r>
          </a:p>
          <a:p>
            <a:pPr>
              <a:spcAft>
                <a:spcPts val="1000"/>
              </a:spcAft>
            </a:pPr>
            <a:r>
              <a:rPr b="0" sz="2000"/>
              <a:t>Build the working capital (cash) operating cycle — incl. manufacturers</a:t>
            </a:r>
          </a:p>
          <a:p>
            <a:pPr>
              <a:spcAft>
                <a:spcPts val="1000"/>
              </a:spcAft>
            </a:pPr>
            <a:r>
              <a:rPr b="0" sz="2000"/>
              <a:t>Compute EPS, DPS, payout, cover, yields and the P/E ratio</a:t>
            </a:r>
          </a:p>
          <a:p>
            <a:pPr>
              <a:spcAft>
                <a:spcPts val="1000"/>
              </a:spcAft>
            </a:pPr>
            <a:r>
              <a:rPr b="0" sz="2000"/>
              <a:t>Link efficiency ratios to liquidity and profitability</a:t>
            </a:r>
          </a:p>
          <a:p>
            <a:pPr>
              <a:spcAft>
                <a:spcPts val="1000"/>
              </a:spcAft>
            </a:pPr>
            <a:r>
              <a:rPr b="0" sz="2000"/>
              <a:t>Avoid denominator errors: sales vs cost of sales vs purchases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Efficiency ratios — Tumaini (365 days, averages)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Debtors turnover = 2,400 ÷ 370 = 6.49×; collection period = 56.3 days</a:t>
            </a:r>
          </a:p>
          <a:p>
            <a:pPr>
              <a:spcAft>
                <a:spcPts val="1000"/>
              </a:spcAft>
            </a:pPr>
            <a:r>
              <a:rPr b="0" sz="2000"/>
              <a:t>Creditors: 1,440 ÷ 225 = 6.40×; deferral period = 57.0 days</a:t>
            </a:r>
          </a:p>
          <a:p>
            <a:pPr>
              <a:spcAft>
                <a:spcPts val="1000"/>
              </a:spcAft>
            </a:pPr>
            <a:r>
              <a:rPr b="0" sz="2000"/>
              <a:t>Inventory: 1,440 ÷ 280 = 5.14×; holding period = 71.0 days</a:t>
            </a:r>
          </a:p>
          <a:p>
            <a:pPr>
              <a:spcAft>
                <a:spcPts val="1000"/>
              </a:spcAft>
            </a:pPr>
            <a:r>
              <a:rPr b="0" sz="2000"/>
              <a:t>Right numerators: debtors→credit sales; inventory→COST OF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Working capital cycle — Tumaini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Collection 56.3 + inventory 71.0 − deferral 57.0 = 70.3 days</a:t>
            </a:r>
          </a:p>
          <a:p>
            <a:pPr>
              <a:spcAft>
                <a:spcPts val="1000"/>
              </a:spcAft>
            </a:pPr>
            <a:r>
              <a:rPr b="0" sz="2000"/>
              <a:t>Cash tied up over two months per cycle — needs financing</a:t>
            </a:r>
          </a:p>
          <a:p>
            <a:pPr>
              <a:spcAft>
                <a:spcPts val="1000"/>
              </a:spcAft>
            </a:pPr>
            <a:r>
              <a:rPr b="0" sz="2000"/>
              <a:t>Cash turnover = 365 ÷ 70.3 = 5.19 times per year</a:t>
            </a:r>
          </a:p>
          <a:p>
            <a:pPr>
              <a:spcAft>
                <a:spcPts val="1000"/>
              </a:spcAft>
            </a:pPr>
            <a:r>
              <a:rPr b="0" sz="2000"/>
              <a:t>Fewer days = cash released = interest saved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Manufacturing cycle — Mutongoi Ltd (Sh.'000)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Raw material: 1,200 ÷ 6,500 × 365 = 67 days</a:t>
            </a:r>
          </a:p>
          <a:p>
            <a:pPr>
              <a:spcAft>
                <a:spcPts val="1000"/>
              </a:spcAft>
            </a:pPr>
            <a:r>
              <a:rPr b="0" sz="2000"/>
              <a:t>WIP: 1,000 ÷ 18,000 × 365 = 20 days; finished goods = 43 days</a:t>
            </a:r>
          </a:p>
          <a:p>
            <a:pPr>
              <a:spcAft>
                <a:spcPts val="1000"/>
              </a:spcAft>
            </a:pPr>
            <a:r>
              <a:rPr b="0" sz="2000"/>
              <a:t>Inventory 130 + debtors 69 − creditors 76 = 123-day net cycle</a:t>
            </a:r>
          </a:p>
          <a:p>
            <a:pPr>
              <a:spcAft>
                <a:spcPts val="1000"/>
              </a:spcAft>
            </a:pPr>
            <a:r>
              <a:rPr b="0" sz="2000"/>
              <a:t>Denominators: usage → raw mat; cost of sales → WIP &amp; finished goods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EPS, DPS, payout and cover — Tumaini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EPS = 294,000 ÷ 200,000 shares = Sh.1.47</a:t>
            </a:r>
          </a:p>
          <a:p>
            <a:pPr>
              <a:spcAft>
                <a:spcPts val="1000"/>
              </a:spcAft>
            </a:pPr>
            <a:r>
              <a:rPr b="0" sz="2000"/>
              <a:t>DPS = 100,000 ÷ 200,000 = Sh.0.50</a:t>
            </a:r>
          </a:p>
          <a:p>
            <a:pPr>
              <a:spcAft>
                <a:spcPts val="1000"/>
              </a:spcAft>
            </a:pPr>
            <a:r>
              <a:rPr b="0" sz="2000"/>
              <a:t>Payout = 100 ÷ 294 × 100 = 34.0%; retention = 66%</a:t>
            </a:r>
          </a:p>
          <a:p>
            <a:pPr>
              <a:spcAft>
                <a:spcPts val="1000"/>
              </a:spcAft>
            </a:pPr>
            <a:r>
              <a:rPr b="0" sz="2000"/>
              <a:t>Dividend cover = 1.47 ÷ 0.50 = 2.94 times — sustainable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Yields, P/E and market-to-book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Earnings yield = 1.47 ÷ 32 × 100 = 4.6%</a:t>
            </a:r>
          </a:p>
          <a:p>
            <a:pPr>
              <a:spcAft>
                <a:spcPts val="1000"/>
              </a:spcAft>
            </a:pPr>
            <a:r>
              <a:rPr b="0" sz="2000"/>
              <a:t>Dividend yield = 0.50 ÷ 32 × 100 = 1.56%</a:t>
            </a:r>
          </a:p>
          <a:p>
            <a:pPr>
              <a:spcAft>
                <a:spcPts val="1000"/>
              </a:spcAft>
            </a:pPr>
            <a:r>
              <a:rPr b="0" sz="2000"/>
              <a:t>P/E = 32 ÷ 1.47 = 21.8 times — growth expectations priced in</a:t>
            </a:r>
          </a:p>
          <a:p>
            <a:pPr>
              <a:spcAft>
                <a:spcPts val="1000"/>
              </a:spcAft>
            </a:pPr>
            <a:r>
              <a:rPr b="0" sz="2000"/>
              <a:t>Market-to-book = 32 ÷ 8.30 = 3.86 times — market values it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How the pieces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Efficiency → liquidity: 71-day stock explains the quick-ratio gap</a:t>
            </a:r>
          </a:p>
          <a:p>
            <a:pPr>
              <a:spcAft>
                <a:spcPts val="1000"/>
              </a:spcAft>
            </a:pPr>
            <a:r>
              <a:rPr b="0" sz="2000"/>
              <a:t>Efficiency → profitability: DuPont — asset sweat drives ROCE</a:t>
            </a:r>
          </a:p>
          <a:p>
            <a:pPr>
              <a:spcAft>
                <a:spcPts val="1000"/>
              </a:spcAft>
            </a:pPr>
            <a:r>
              <a:rPr b="0" sz="2000"/>
              <a:t>Investor ratios → policy: 34% payout, 2.94× cover = growth company</a:t>
            </a:r>
          </a:p>
          <a:p>
            <a:pPr>
              <a:spcAft>
                <a:spcPts val="1000"/>
              </a:spcAft>
            </a:pPr>
            <a:r>
              <a:rPr b="0" sz="2000"/>
              <a:t>Use AVERAGES when opening and closing balances are given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Inventory numerator = cost of sales; creditors = credit purchases</a:t>
            </a:r>
          </a:p>
          <a:p>
            <a:pPr>
              <a:spcAft>
                <a:spcPts val="1000"/>
              </a:spcAft>
            </a:pPr>
            <a:r>
              <a:rPr b="0" sz="2000"/>
              <a:t>Dividend cover (times) vs payout ratio (%): don't confuse them</a:t>
            </a:r>
          </a:p>
          <a:p>
            <a:pPr>
              <a:spcAft>
                <a:spcPts val="1000"/>
              </a:spcAft>
            </a:pPr>
            <a:r>
              <a:rPr b="0" sz="2000"/>
              <a:t>Comment against market context, not just the arithmetic</a:t>
            </a:r>
          </a:p>
          <a:p>
            <a:pPr>
              <a:spcAft>
                <a:spcPts val="1000"/>
              </a:spcAft>
            </a:pPr>
            <a:r>
              <a:rPr b="0" sz="2000"/>
              <a:t>Each day saved in the cycle is real cash released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