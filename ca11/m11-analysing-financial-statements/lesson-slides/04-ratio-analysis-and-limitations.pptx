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Ratio Analysis in Practice — Interpretation, Gearing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Analysing Financial Statements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Compute and interpret gearing ratios: debt, cover and cash cover</a:t>
            </a:r>
          </a:p>
          <a:p>
            <a:pPr>
              <a:spcAft>
                <a:spcPts val="1000"/>
              </a:spcAft>
            </a:pPr>
            <a:r>
              <a:rPr b="0" sz="2000"/>
              <a:t>Structure answers: calculate → interpret → compare → conclude</a:t>
            </a:r>
          </a:p>
          <a:p>
            <a:pPr>
              <a:spcAft>
                <a:spcPts val="1000"/>
              </a:spcAft>
            </a:pPr>
            <a:r>
              <a:rPr b="0" sz="2000"/>
              <a:t>Advise lenders, investors, suppliers and management</a:t>
            </a:r>
          </a:p>
          <a:p>
            <a:pPr>
              <a:spcAft>
                <a:spcPts val="1000"/>
              </a:spcAft>
            </a:pPr>
            <a:r>
              <a:rPr b="0" sz="2000"/>
              <a:t>Explain the limitations of ratio analysis with effects</a:t>
            </a:r>
          </a:p>
          <a:p>
            <a:pPr>
              <a:spcAft>
                <a:spcPts val="1000"/>
              </a:spcAft>
            </a:pPr>
            <a:r>
              <a:rPr b="0" sz="2000"/>
              <a:t>Avoid window dressing and presentation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Gearing ratios — Tumaini (Sh.'000)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Debt ratio = 400 ÷ 2,060 × 100 = 19.4% — low-geared (high is &gt;50%)</a:t>
            </a:r>
          </a:p>
          <a:p>
            <a:pPr>
              <a:spcAft>
                <a:spcPts val="1000"/>
              </a:spcAft>
            </a:pPr>
            <a:r>
              <a:rPr b="0" sz="2000"/>
              <a:t>Debt-equity = 400 ÷ 1,660 = 0.24 times (24%)</a:t>
            </a:r>
          </a:p>
          <a:p>
            <a:pPr>
              <a:spcAft>
                <a:spcPts val="1000"/>
              </a:spcAft>
            </a:pPr>
            <a:r>
              <a:rPr b="0" sz="2000"/>
              <a:t>Interest cover = 480 ÷ 60 = 8.0 times — lenders comfortable</a:t>
            </a:r>
          </a:p>
          <a:p>
            <a:pPr>
              <a:spcAft>
                <a:spcPts val="1000"/>
              </a:spcAft>
            </a:pPr>
            <a:r>
              <a:rPr b="0" sz="2000"/>
              <a:t>Cash coverage = (480 + 120) ÷ 60 = 10.0 times — depreciation added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gearing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Low debt + 8× interest cover + ROCE 23.3% &gt; 10% cost of debt</a:t>
            </a:r>
          </a:p>
          <a:p>
            <a:pPr>
              <a:spcAft>
                <a:spcPts val="1000"/>
              </a:spcAft>
            </a:pPr>
            <a:r>
              <a:rPr b="0" sz="2000"/>
              <a:t>= SAFE, positive gearing — borrowing builds shareholder value</a:t>
            </a:r>
          </a:p>
          <a:p>
            <a:pPr>
              <a:spcAft>
                <a:spcPts val="1000"/>
              </a:spcAft>
            </a:pPr>
            <a:r>
              <a:rPr b="0" sz="2000"/>
              <a:t>The firm could prudently borrow more to fund growth</a:t>
            </a:r>
          </a:p>
          <a:p>
            <a:pPr>
              <a:spcAft>
                <a:spcPts val="1000"/>
              </a:spcAft>
            </a:pPr>
            <a:r>
              <a:rPr b="0" sz="2000"/>
              <a:t>Higher gearing = higher financial risk — lenders' core concern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Structure every exam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1. CALCULATE — formula, substitution, result with unit (% / times / days)</a:t>
            </a:r>
          </a:p>
          <a:p>
            <a:pPr>
              <a:spcAft>
                <a:spcPts val="1000"/>
              </a:spcAft>
            </a:pPr>
            <a:r>
              <a:rPr b="0" sz="2000"/>
              <a:t>2. INTERPRET — plain words: 'Sh.12.25 per Sh.100 of sales remains'</a:t>
            </a:r>
          </a:p>
          <a:p>
            <a:pPr>
              <a:spcAft>
                <a:spcPts val="1000"/>
              </a:spcAft>
            </a:pPr>
            <a:r>
              <a:rPr b="0" sz="2000"/>
              <a:t>3. COMPARE — last year, budget, industry average; direction matters</a:t>
            </a:r>
          </a:p>
          <a:p>
            <a:pPr>
              <a:spcAft>
                <a:spcPts val="1000"/>
              </a:spcAft>
            </a:pPr>
            <a:r>
              <a:rPr b="0" sz="2000"/>
              <a:t>4. CONCLUDE — so what? Advise management, lender or investor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Model answer skeletons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Profitability: margin + ROCE vs borrowing cost + industry average</a:t>
            </a:r>
          </a:p>
          <a:p>
            <a:pPr>
              <a:spcAft>
                <a:spcPts val="1000"/>
              </a:spcAft>
            </a:pPr>
            <a:r>
              <a:rPr b="0" sz="2000"/>
              <a:t>Liquidity: current 2.53×, quick 1.53× — but stock-heavy, watch selling</a:t>
            </a:r>
          </a:p>
          <a:p>
            <a:pPr>
              <a:spcAft>
                <a:spcPts val="1000"/>
              </a:spcAft>
            </a:pPr>
            <a:r>
              <a:rPr b="0" sz="2000"/>
              <a:t>Efficiency: 56-day collection vs 30-day terms; 70.3-day cycle needs funding</a:t>
            </a:r>
          </a:p>
          <a:p>
            <a:pPr>
              <a:spcAft>
                <a:spcPts val="1000"/>
              </a:spcAft>
            </a:pPr>
            <a:r>
              <a:rPr b="0" sz="2000"/>
              <a:t>Investor: P/E 21.8× = growth-priced; 34% payout, 2.94× cover sustainable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Advising different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Lender: gearing 24%, cover 8×, cash cover 10× → safe proposition</a:t>
            </a:r>
          </a:p>
          <a:p>
            <a:pPr>
              <a:spcAft>
                <a:spcPts val="1000"/>
              </a:spcAft>
            </a:pPr>
            <a:r>
              <a:rPr b="0" sz="2000"/>
              <a:t>Investor: ROE 17.7%, EPS Sh.1.47, P/E 21.8× → growth, check the rating</a:t>
            </a:r>
          </a:p>
          <a:p>
            <a:pPr>
              <a:spcAft>
                <a:spcPts val="1000"/>
              </a:spcAft>
            </a:pPr>
            <a:r>
              <a:rPr b="0" sz="2000"/>
              <a:t>Supplier: quick ratio 1.53, pays in ~57 days → set limits accordingly</a:t>
            </a:r>
          </a:p>
          <a:p>
            <a:pPr>
              <a:spcAft>
                <a:spcPts val="1000"/>
              </a:spcAft>
            </a:pPr>
            <a:r>
              <a:rPr b="0" sz="2000"/>
              <a:t>Management: fix 56-day collection and 71-day stockholding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Limitations — explain the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Different policies (depreciation, FIFO) → comparisons meaningless</a:t>
            </a:r>
          </a:p>
          <a:p>
            <a:pPr>
              <a:spcAft>
                <a:spcPts val="1000"/>
              </a:spcAft>
            </a:pPr>
            <a:r>
              <a:rPr b="0" sz="2000"/>
              <a:t>Inflation: historical cost distorts assets and profits</a:t>
            </a:r>
          </a:p>
          <a:p>
            <a:pPr>
              <a:spcAft>
                <a:spcPts val="1000"/>
              </a:spcAft>
            </a:pPr>
            <a:r>
              <a:rPr b="0" sz="2000"/>
              <a:t>One-off gains flatter performance — normalise before comparing</a:t>
            </a:r>
          </a:p>
          <a:p>
            <a:pPr>
              <a:spcAft>
                <a:spcPts val="1000"/>
              </a:spcAft>
            </a:pPr>
            <a:r>
              <a:rPr b="0" sz="2000"/>
              <a:t>Window dressing: year-end games (delayed purchases) flatter ratios</a:t>
            </a:r>
          </a:p>
          <a:p>
            <a:pPr>
              <a:spcAft>
                <a:spcPts val="1000"/>
              </a:spcAft>
            </a:pPr>
            <a:r>
              <a:rPr b="0" sz="2000"/>
              <a:t>Ratios flag SYMPTOMS (falling margin), not causes — investigate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Presentation errors that lose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Omitting units: %, times, days — every single time</a:t>
            </a:r>
          </a:p>
          <a:p>
            <a:pPr>
              <a:spcAft>
                <a:spcPts val="1000"/>
              </a:spcAft>
            </a:pPr>
            <a:r>
              <a:rPr b="0" sz="2000"/>
              <a:t>Using unadjusted figures when the question gives extra information</a:t>
            </a:r>
          </a:p>
          <a:p>
            <a:pPr>
              <a:spcAft>
                <a:spcPts val="1000"/>
              </a:spcAft>
            </a:pPr>
            <a:r>
              <a:rPr b="0" sz="2000"/>
              <a:t>Sales where cost of sales or credit purchases belongs</a:t>
            </a:r>
          </a:p>
          <a:p>
            <a:pPr>
              <a:spcAft>
                <a:spcPts val="1000"/>
              </a:spcAft>
            </a:pPr>
            <a:r>
              <a:rPr b="0" sz="2000"/>
              <a:t>Commenting without comparing — 'current ratio is 2.53' earns little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Spend half your time on interpretation — that's where the marks are</a:t>
            </a:r>
          </a:p>
          <a:p>
            <a:pPr>
              <a:spcAft>
                <a:spcPts val="1000"/>
              </a:spcAft>
            </a:pPr>
            <a:r>
              <a:rPr b="0" sz="2000"/>
              <a:t>Use EVERY industry average given — each comparison is a marking point</a:t>
            </a:r>
          </a:p>
          <a:p>
            <a:pPr>
              <a:spcAft>
                <a:spcPts val="1000"/>
              </a:spcAft>
            </a:pPr>
            <a:r>
              <a:rPr b="0" sz="2000"/>
              <a:t>End with an overall verdict: profitable, liquid, but weak on working capital</a:t>
            </a:r>
          </a:p>
          <a:p>
            <a:pPr>
              <a:spcAft>
                <a:spcPts val="1000"/>
              </a:spcAft>
            </a:pPr>
            <a:r>
              <a:rPr b="0" sz="2000"/>
              <a:t>Five-sentence shape: verdict → evidence → diagnosis →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