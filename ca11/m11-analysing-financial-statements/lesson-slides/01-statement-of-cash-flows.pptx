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The Statement of Cash Flows (IAS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Analysing Financial Statements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Classify cash flows as operating, investing or financing per IAS 7</a:t>
            </a:r>
          </a:p>
          <a:p>
            <a:pPr>
              <a:spcAft>
                <a:spcPts val="1000"/>
              </a:spcAft>
            </a:pPr>
            <a:r>
              <a:rPr b="0" sz="2000"/>
              <a:t>Prepare a statement of cash flows using the indirect method</a:t>
            </a:r>
          </a:p>
          <a:p>
            <a:pPr>
              <a:spcAft>
                <a:spcPts val="1000"/>
              </a:spcAft>
            </a:pPr>
            <a:r>
              <a:rPr b="0" sz="2000"/>
              <a:t>Apply direct-method workings: customers, suppliers, tax, interest</a:t>
            </a:r>
          </a:p>
          <a:p>
            <a:pPr>
              <a:spcAft>
                <a:spcPts val="1000"/>
              </a:spcAft>
            </a:pPr>
            <a:r>
              <a:rPr b="0" sz="2000"/>
              <a:t>Treat disposals, dividends, tax paid and non-cash transactions</a:t>
            </a:r>
          </a:p>
          <a:p>
            <a:pPr>
              <a:spcAft>
                <a:spcPts val="1000"/>
              </a:spcAft>
            </a:pPr>
            <a:r>
              <a:rPr b="0" sz="2000"/>
              <a:t>Explain why the cash flow statement guards against creative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three IAS 7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Operating: principal revenue-producing activities (customers, suppliers)</a:t>
            </a:r>
          </a:p>
          <a:p>
            <a:pPr>
              <a:spcAft>
                <a:spcPts val="1000"/>
              </a:spcAft>
            </a:pPr>
            <a:r>
              <a:rPr b="0" sz="2000"/>
              <a:t>Investing: acquisition and disposal of LONG-TERM assets and investments</a:t>
            </a:r>
          </a:p>
          <a:p>
            <a:pPr>
              <a:spcAft>
                <a:spcPts val="1000"/>
              </a:spcAft>
            </a:pPr>
            <a:r>
              <a:rPr b="0" sz="2000"/>
              <a:t>Financing: changes in equity capital and borrowings</a:t>
            </a:r>
          </a:p>
          <a:p>
            <a:pPr>
              <a:spcAft>
                <a:spcPts val="1000"/>
              </a:spcAft>
            </a:pPr>
            <a:r>
              <a:rPr b="0" sz="2000"/>
              <a:t>Interest/dividends: disclosed separately, classified consistently</a:t>
            </a:r>
          </a:p>
          <a:p>
            <a:pPr>
              <a:spcAft>
                <a:spcPts val="1000"/>
              </a:spcAft>
            </a:pPr>
            <a:r>
              <a:rPr b="0" sz="2000"/>
              <a:t>Income tax: disclosed separately; normally OPERATING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Direction rules and IAS 7 must-quotes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Increase in liability = cash inflow; decrease in liability = outflow</a:t>
            </a:r>
          </a:p>
          <a:p>
            <a:pPr>
              <a:spcAft>
                <a:spcPts val="1000"/>
              </a:spcAft>
            </a:pPr>
            <a:r>
              <a:rPr b="0" sz="2000"/>
              <a:t>Increase in asset = outflow; decrease in asset = inflow</a:t>
            </a:r>
          </a:p>
          <a:p>
            <a:pPr>
              <a:spcAft>
                <a:spcPts val="1000"/>
              </a:spcAft>
            </a:pPr>
            <a:r>
              <a:rPr b="0" sz="2000"/>
              <a:t>Non-cash transactions (finance leases, equity issues) are EXCLUDED</a:t>
            </a:r>
          </a:p>
          <a:p>
            <a:pPr>
              <a:spcAft>
                <a:spcPts val="1000"/>
              </a:spcAft>
            </a:pPr>
            <a:r>
              <a:rPr b="0" sz="2000"/>
              <a:t>Disclose cash equivalents and reconcile to the SFP cash balance</a:t>
            </a:r>
          </a:p>
          <a:p>
            <a:pPr>
              <a:spcAft>
                <a:spcPts val="1000"/>
              </a:spcAft>
            </a:pPr>
            <a:r>
              <a:rPr b="0" sz="2000"/>
              <a:t>Direct method is ENCOURAGED by IAS 7 — know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Direct vs indirect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Direct: gross cash receipts and payments from operations</a:t>
            </a:r>
          </a:p>
          <a:p>
            <a:pPr>
              <a:spcAft>
                <a:spcPts val="1000"/>
              </a:spcAft>
            </a:pPr>
            <a:r>
              <a:rPr b="0" sz="2000"/>
              <a:t>Indirect: profit before tax ± non-cash items ± working capital changes</a:t>
            </a:r>
          </a:p>
          <a:p>
            <a:pPr>
              <a:spcAft>
                <a:spcPts val="1000"/>
              </a:spcAft>
            </a:pPr>
            <a:r>
              <a:rPr b="0" sz="2000"/>
              <a:t>Investing and financing sections are IDENTICAL under both methods</a:t>
            </a:r>
          </a:p>
          <a:p>
            <a:pPr>
              <a:spcAft>
                <a:spcPts val="1000"/>
              </a:spcAft>
            </a:pPr>
            <a:r>
              <a:rPr b="0" sz="2000"/>
              <a:t>Indirect adjustments: + depreciation, − profit on disposal, + interest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Mawingu Ltd — key workings (Sh.'000)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Tax paid: 55 + 45 − 70 = 30. Dividends paid: 60 + 60 − 80 = 40</a:t>
            </a:r>
          </a:p>
          <a:p>
            <a:pPr>
              <a:spcAft>
                <a:spcPts val="1000"/>
              </a:spcAft>
            </a:pPr>
            <a:r>
              <a:rPr b="0" sz="2000"/>
              <a:t>Asset additions: 900 − (760 − 110 − 30) = 280</a:t>
            </a:r>
          </a:p>
          <a:p>
            <a:pPr>
              <a:spcAft>
                <a:spcPts val="1000"/>
              </a:spcAft>
            </a:pPr>
            <a:r>
              <a:rPr b="0" sz="2000"/>
              <a:t>Shares issued: (520−420)+(120−80) = 140; debentures issued = 20</a:t>
            </a:r>
          </a:p>
          <a:p>
            <a:pPr>
              <a:spcAft>
                <a:spcPts val="1000"/>
              </a:spcAft>
            </a:pPr>
            <a:r>
              <a:rPr b="0" sz="2000"/>
              <a:t>Always label these workings — they are the most error-prone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Mawingu — statement of cash flows (Sh.'000)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Operating: PBT 120 + 120 adjustments − 40 working capital − 50 = 150</a:t>
            </a:r>
          </a:p>
          <a:p>
            <a:pPr>
              <a:spcAft>
                <a:spcPts val="1000"/>
              </a:spcAft>
            </a:pPr>
            <a:r>
              <a:rPr b="0" sz="2000"/>
              <a:t>Investing: (280) additions + 40 proceeds = net (240)</a:t>
            </a:r>
          </a:p>
          <a:p>
            <a:pPr>
              <a:spcAft>
                <a:spcPts val="1000"/>
              </a:spcAft>
            </a:pPr>
            <a:r>
              <a:rPr b="0" sz="2000"/>
              <a:t>Financing: 140 + 20 − 40 dividends = 120</a:t>
            </a:r>
          </a:p>
          <a:p>
            <a:pPr>
              <a:spcAft>
                <a:spcPts val="1000"/>
              </a:spcAft>
            </a:pPr>
            <a:r>
              <a:rPr b="0" sz="2000"/>
              <a:t>Net increase 30 + opening 40 = closing 50 ✓ — always reconcile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Direct method key workings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Cash from customers = sales + receivables b/d − receivables c/d</a:t>
            </a:r>
          </a:p>
          <a:p>
            <a:pPr>
              <a:spcAft>
                <a:spcPts val="1000"/>
              </a:spcAft>
            </a:pPr>
            <a:r>
              <a:rPr b="0" sz="2000"/>
              <a:t>Cash paid to suppliers = cost of sales ± payables and inventory moves</a:t>
            </a:r>
          </a:p>
          <a:p>
            <a:pPr>
              <a:spcAft>
                <a:spcPts val="1000"/>
              </a:spcAft>
            </a:pPr>
            <a:r>
              <a:rPr b="0" sz="2000"/>
              <a:t>Cash paid to employees = wages ± accrued wages balances</a:t>
            </a:r>
          </a:p>
          <a:p>
            <a:pPr>
              <a:spcAft>
                <a:spcPts val="1000"/>
              </a:spcAft>
            </a:pPr>
            <a:r>
              <a:rPr b="0" sz="2000"/>
              <a:t>Interest and tax paid stay as SEPARATE lines — never net them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Importance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Explains why cash is poor despite profits — applications of cash</a:t>
            </a:r>
          </a:p>
          <a:p>
            <a:pPr>
              <a:spcAft>
                <a:spcPts val="1000"/>
              </a:spcAft>
            </a:pPr>
            <a:r>
              <a:rPr b="0" sz="2000"/>
              <a:t>Guards against creative accounting: cash cannot be fabricated</a:t>
            </a:r>
          </a:p>
          <a:p>
            <a:pPr>
              <a:spcAft>
                <a:spcPts val="1000"/>
              </a:spcAft>
            </a:pPr>
            <a:r>
              <a:rPr b="0" sz="2000"/>
              <a:t>Shows whether short-term paying capacity is improving or declining</a:t>
            </a:r>
          </a:p>
          <a:p>
            <a:pPr>
              <a:spcAft>
                <a:spcPts val="1000"/>
              </a:spcAft>
            </a:pPr>
            <a:r>
              <a:rPr b="0" sz="2000"/>
              <a:t>Limitation: cash basis ignores accruals — not a profitability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Deduct profit on disposal in operating — proceeds sit under investing</a:t>
            </a:r>
          </a:p>
          <a:p>
            <a:pPr>
              <a:spcAft>
                <a:spcPts val="1000"/>
              </a:spcAft>
            </a:pPr>
            <a:r>
              <a:rPr b="0" sz="2000"/>
              <a:t>Proposed dividends: use the payable T-account, not the given figure</a:t>
            </a:r>
          </a:p>
          <a:p>
            <a:pPr>
              <a:spcAft>
                <a:spcPts val="1000"/>
              </a:spcAft>
            </a:pPr>
            <a:r>
              <a:rPr b="0" sz="2000"/>
              <a:t>Exclude non-cash items (bonus issues, credit acquisitions) — note them</a:t>
            </a:r>
          </a:p>
          <a:p>
            <a:pPr>
              <a:spcAft>
                <a:spcPts val="1000"/>
              </a:spcAft>
            </a:pPr>
            <a:r>
              <a:rPr b="0" sz="2000"/>
              <a:t>Finish with the SFP reconciliation — your built-in error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