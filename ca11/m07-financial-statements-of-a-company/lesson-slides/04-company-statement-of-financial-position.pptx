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The Company Statement of Financial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Financial Statements of a Company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Prepare a company SFP from a trial balance with adjustments</a:t>
            </a:r>
          </a:p>
          <a:p>
            <a:pPr>
              <a:spcAft>
                <a:spcPts val="1000"/>
              </a:spcAft>
            </a:pPr>
            <a:r>
              <a:rPr b="0" sz="2000"/>
              <a:t>Present share capital, reserves and retained earnings in equity</a:t>
            </a:r>
          </a:p>
          <a:p>
            <a:pPr>
              <a:spcAft>
                <a:spcPts val="1000"/>
              </a:spcAft>
            </a:pPr>
            <a:r>
              <a:rPr b="0" sz="2000"/>
              <a:t>Classify debentures, tax payable, dividends payable, accrued interest</a:t>
            </a:r>
          </a:p>
          <a:p>
            <a:pPr>
              <a:spcAft>
                <a:spcPts val="1000"/>
              </a:spcAft>
            </a:pPr>
            <a:r>
              <a:rPr b="0" sz="2000"/>
              <a:t>List the complete IAS 1 set of published financial statements</a:t>
            </a:r>
          </a:p>
          <a:p>
            <a:pPr>
              <a:spcAft>
                <a:spcPts val="1000"/>
              </a:spcAft>
            </a:pPr>
            <a:r>
              <a:rPr b="0" sz="2000"/>
              <a:t>Reconcile the SFP to the income statement via retained 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SFP format for a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Equity section is richer: share capital, capital reserves, revenue reserves</a:t>
            </a:r>
          </a:p>
          <a:p>
            <a:pPr>
              <a:spcAft>
                <a:spcPts val="1000"/>
              </a:spcAft>
            </a:pPr>
            <a:r>
              <a:rPr b="0" sz="2000"/>
              <a:t>Capital reserves → share premium, revaluation reserve, CRR</a:t>
            </a:r>
          </a:p>
          <a:p>
            <a:pPr>
              <a:spcAft>
                <a:spcPts val="1000"/>
              </a:spcAft>
            </a:pPr>
            <a:r>
              <a:rPr b="0" sz="2000"/>
              <a:t>Revenue reserves → general reserve, retained earnings (P&amp;L balance)</a:t>
            </a:r>
          </a:p>
          <a:p>
            <a:pPr>
              <a:spcAft>
                <a:spcPts val="1000"/>
              </a:spcAft>
            </a:pPr>
            <a:r>
              <a:rPr b="0" sz="2000"/>
              <a:t>Show issued and fully paid capital (shares × nominal); authorised for info only</a:t>
            </a:r>
          </a:p>
          <a:p>
            <a:pPr>
              <a:spcAft>
                <a:spcPts val="1000"/>
              </a:spcAft>
            </a:pPr>
            <a:r>
              <a:rPr b="0" sz="2000"/>
              <a:t>Deferred tax sits with/near non-current liabilities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complete set of financial statements (IAS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IAS 1 published accounts comprise FIVE components</a:t>
            </a:r>
          </a:p>
          <a:p>
            <a:pPr>
              <a:spcAft>
                <a:spcPts val="1000"/>
              </a:spcAft>
            </a:pPr>
            <a:r>
              <a:rPr b="0" sz="2000"/>
              <a:t>Statement of financial position — assets, liabilities, equity at date</a:t>
            </a:r>
          </a:p>
          <a:p>
            <a:pPr>
              <a:spcAft>
                <a:spcPts val="1000"/>
              </a:spcAft>
            </a:pPr>
            <a:r>
              <a:rPr b="0" sz="2000"/>
              <a:t>Statement of comprehensive income — P&amp;L plus OCI (e.g. revaluation gains)</a:t>
            </a:r>
          </a:p>
          <a:p>
            <a:pPr>
              <a:spcAft>
                <a:spcPts val="1000"/>
              </a:spcAft>
            </a:pPr>
            <a:r>
              <a:rPr b="0" sz="2000"/>
              <a:t>Statement of changes in equity; statement of cash flows (IAS 7)</a:t>
            </a:r>
          </a:p>
          <a:p>
            <a:pPr>
              <a:spcAft>
                <a:spcPts val="1000"/>
              </a:spcAft>
            </a:pPr>
            <a:r>
              <a:rPr b="0" sz="2000"/>
              <a:t>Notes: accounting policies and explanatory detail (incl. tax reconciliation)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 — Jitahidi Ltd SFP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Non-current assets: cost less accumulated depreciation = NBV</a:t>
            </a:r>
          </a:p>
          <a:p>
            <a:pPr>
              <a:spcAft>
                <a:spcPts val="1000"/>
              </a:spcAft>
            </a:pPr>
            <a:r>
              <a:rPr b="0" sz="2000"/>
              <a:t>Current liabilities → trade payables, interest accrued, current tax payable</a:t>
            </a:r>
          </a:p>
          <a:p>
            <a:pPr>
              <a:spcAft>
                <a:spcPts val="1000"/>
              </a:spcAft>
            </a:pPr>
            <a:r>
              <a:rPr b="0" sz="2000"/>
              <a:t>Dividends payable = proposed only (preference 100 + final ordinary 200)</a:t>
            </a:r>
          </a:p>
          <a:p>
            <a:pPr>
              <a:spcAft>
                <a:spcPts val="1000"/>
              </a:spcAft>
            </a:pPr>
            <a:r>
              <a:rPr b="0" sz="2000"/>
              <a:t>Interim paid (240) does NOT appear in SFP — cash is gone</a:t>
            </a:r>
          </a:p>
          <a:p>
            <a:pPr>
              <a:spcAft>
                <a:spcPts val="1000"/>
              </a:spcAft>
            </a:pPr>
            <a:r>
              <a:rPr b="0" sz="2000"/>
              <a:t>Balance check: equity + liabilities = total assets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Share capital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Authorised: maximum issuable; shown for information only, never in totals</a:t>
            </a:r>
          </a:p>
          <a:p>
            <a:pPr>
              <a:spcAft>
                <a:spcPts val="1000"/>
              </a:spcAft>
            </a:pPr>
            <a:r>
              <a:rPr b="0" sz="2000"/>
              <a:t>Issued: shares actually allotted; called-up: payment demanded</a:t>
            </a:r>
          </a:p>
          <a:p>
            <a:pPr>
              <a:spcAft>
                <a:spcPts val="1000"/>
              </a:spcAft>
            </a:pPr>
            <a:r>
              <a:rPr b="0" sz="2000"/>
              <a:t>Paid-up: payment received; SFP shows "issued and fully paid"</a:t>
            </a:r>
          </a:p>
          <a:p>
            <a:pPr>
              <a:spcAft>
                <a:spcPts val="1000"/>
              </a:spcAft>
            </a:pPr>
            <a:r>
              <a:rPr b="0" sz="2000"/>
              <a:t>Share premium sits directly below share capital in capital reserves</a:t>
            </a:r>
          </a:p>
          <a:p>
            <a:pPr>
              <a:spcAft>
                <a:spcPts val="1000"/>
              </a:spcAft>
            </a:pPr>
            <a:r>
              <a:rPr b="0" sz="2000"/>
              <a:t>Forfeited shares = capital reserve, not income (rarely examined)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Reading the company SFP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Working capital = current assets − current liabilities (liquidity check)</a:t>
            </a:r>
          </a:p>
          <a:p>
            <a:pPr>
              <a:spcAft>
                <a:spcPts val="1000"/>
              </a:spcAft>
            </a:pPr>
            <a:r>
              <a:rPr b="0" sz="2000"/>
              <a:t>Gearing = debentures ÷ equity; low gearing = financed mainly by shareholders</a:t>
            </a:r>
          </a:p>
          <a:p>
            <a:pPr>
              <a:spcAft>
                <a:spcPts val="1000"/>
              </a:spcAft>
            </a:pPr>
            <a:r>
              <a:rPr b="0" sz="2000"/>
              <a:t>Dividend cover = PAT ÷ total dividends; Jitahidi ≈ 3.3 times</a:t>
            </a:r>
          </a:p>
          <a:p>
            <a:pPr>
              <a:spcAft>
                <a:spcPts val="1000"/>
              </a:spcAft>
            </a:pPr>
            <a:r>
              <a:rPr b="0" sz="2000"/>
              <a:t>Dividends only from distributable (revenue) reserves — never share capital</a:t>
            </a:r>
          </a:p>
          <a:p>
            <a:pPr>
              <a:spcAft>
                <a:spcPts val="1000"/>
              </a:spcAft>
            </a:pPr>
            <a:r>
              <a:rPr b="0" sz="2000"/>
              <a:t>SFP tells a story, not just a balancing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Always do the balance check first — catches missing accruals/dividends</a:t>
            </a:r>
          </a:p>
          <a:p>
            <a:pPr>
              <a:spcAft>
                <a:spcPts val="1000"/>
              </a:spcAft>
            </a:pPr>
            <a:r>
              <a:rPr b="0" sz="2000"/>
              <a:t>Carry retained c/d from income statement character for character</a:t>
            </a:r>
          </a:p>
          <a:p>
            <a:pPr>
              <a:spcAft>
                <a:spcPts val="1000"/>
              </a:spcAft>
            </a:pPr>
            <a:r>
              <a:rPr b="0" sz="2000"/>
              <a:t>Show share capital as "X shares of Sh.Y each, fully paid"</a:t>
            </a:r>
          </a:p>
          <a:p>
            <a:pPr>
              <a:spcAft>
                <a:spcPts val="1000"/>
              </a:spcAft>
            </a:pPr>
            <a:r>
              <a:rPr b="0" sz="2000"/>
              <a:t>Separate debentures (non-current) from debenture interest accrued (current)</a:t>
            </a:r>
          </a:p>
          <a:p>
            <a:pPr>
              <a:spcAft>
                <a:spcPts val="1000"/>
              </a:spcAft>
            </a:pPr>
            <a:r>
              <a:rPr b="0" sz="2000"/>
              <a:t>Statements articulate via retained earnings — examiners check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