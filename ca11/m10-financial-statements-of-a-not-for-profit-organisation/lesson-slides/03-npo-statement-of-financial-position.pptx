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8102E"/>
                </a:solidFill>
              </a:rPr>
              <a:t>CA11  FINANCIAL  ACCOUNTING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/>
              <a:t>Statement of Financial Position of a Not-for-Profit Organisation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6E6E6E"/>
                </a:solidFill>
              </a:rPr>
              <a:t>CA11 Financial Accounting • Financial Statements of a Not-for-Profit Organisation</a:t>
            </a:r>
          </a:p>
        </p:txBody>
      </p:sp>
      <p:pic>
        <p:nvPicPr>
          <p:cNvPr id="5" name="Picture 4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512064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7" name="Picture 6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Describe the NPO statement of financial position layout and capital fund</a:t>
            </a:r>
          </a:p>
          <a:p>
            <a:pPr>
              <a:spcAft>
                <a:spcPts val="1000"/>
              </a:spcAft>
            </a:pPr>
            <a:r>
              <a:rPr b="0" sz="2000"/>
              <a:t>Compute the opening capital fund via a statement of affairs</a:t>
            </a:r>
          </a:p>
          <a:p>
            <a:pPr>
              <a:spcAft>
                <a:spcPts val="1000"/>
              </a:spcAft>
            </a:pPr>
            <a:r>
              <a:rPr b="0" sz="2000"/>
              <a:t>Place special items correctly: funds, arrears, prepayments, stocks</a:t>
            </a:r>
          </a:p>
          <a:p>
            <a:pPr>
              <a:spcAft>
                <a:spcPts val="1000"/>
              </a:spcAft>
            </a:pPr>
            <a:r>
              <a:rPr b="0" sz="2000"/>
              <a:t>Account for asset disposals within the NPO framework</a:t>
            </a:r>
          </a:p>
          <a:p>
            <a:pPr>
              <a:spcAft>
                <a:spcPts val="1000"/>
              </a:spcAft>
            </a:pPr>
            <a:r>
              <a:rPr b="0" sz="2000"/>
              <a:t>Prepare a complete, balanced statement of financial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Layout and the capital fund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No share capital, no retained earnings — instead: the CAPITAL FUND</a:t>
            </a:r>
          </a:p>
          <a:p>
            <a:pPr>
              <a:spcAft>
                <a:spcPts val="1000"/>
              </a:spcAft>
            </a:pPr>
            <a:r>
              <a:rPr b="0" sz="2000"/>
              <a:t>Assets: NCA at NBV, arrears (asset), prepayments, stocks, cash</a:t>
            </a:r>
          </a:p>
          <a:p>
            <a:pPr>
              <a:spcAft>
                <a:spcPts val="1000"/>
              </a:spcAft>
            </a:pPr>
            <a:r>
              <a:rPr b="0" sz="2000"/>
              <a:t>Liabilities: capital fund, special funds, outstanding expenses, advances</a:t>
            </a:r>
          </a:p>
          <a:p>
            <a:pPr>
              <a:spcAft>
                <a:spcPts val="1000"/>
              </a:spcAft>
            </a:pPr>
            <a:r>
              <a:rPr b="0" sz="2000"/>
              <a:t>Surplus is ADDED to the capital fund; a deficit is deducted</a:t>
            </a:r>
          </a:p>
          <a:p>
            <a:pPr>
              <a:spcAft>
                <a:spcPts val="1000"/>
              </a:spcAft>
            </a:pPr>
            <a:r>
              <a:rPr b="0" sz="2000"/>
              <a:t>Capital fund = accumulated net assets built from surpluses and gifts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Computing the opening capital fund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Use a STATEMENT OF AFFAIRS: assets minus liabilities at opening date</a:t>
            </a:r>
          </a:p>
          <a:p>
            <a:pPr>
              <a:spcAft>
                <a:spcPts val="1000"/>
              </a:spcAft>
            </a:pPr>
            <a:r>
              <a:rPr b="0" sz="2000"/>
              <a:t>Jabari 1 Jan 2025: assets 1,852,000 − salaries owed 20,000 = 1,832,000</a:t>
            </a:r>
          </a:p>
          <a:p>
            <a:pPr>
              <a:spcAft>
                <a:spcPts val="1000"/>
              </a:spcAft>
            </a:pPr>
            <a:r>
              <a:rPr b="0" sz="2000"/>
              <a:t>Include EVERYTHING: arrears, advance subs, stocks, outstandings</a:t>
            </a:r>
          </a:p>
          <a:p>
            <a:pPr>
              <a:spcAft>
                <a:spcPts val="1000"/>
              </a:spcAft>
            </a:pPr>
            <a:r>
              <a:rPr b="0" sz="2000"/>
              <a:t>The capital fund is the balancing figure — then everything balances</a:t>
            </a:r>
          </a:p>
          <a:p>
            <a:pPr>
              <a:spcAft>
                <a:spcPts val="1000"/>
              </a:spcAft>
            </a:pPr>
            <a:r>
              <a:rPr b="0" sz="2000"/>
              <a:t>Missing one opening item unbalances all downstream statements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Where special items 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Specific donations/grants: liability side as a FUND; deduct usage from it</a:t>
            </a:r>
          </a:p>
          <a:p>
            <a:pPr>
              <a:spcAft>
                <a:spcPts val="1000"/>
              </a:spcAft>
            </a:pPr>
            <a:r>
              <a:rPr b="0" sz="2000"/>
              <a:t>Legacies, large donations, life fees: added to the capital fund</a:t>
            </a:r>
          </a:p>
          <a:p>
            <a:pPr>
              <a:spcAft>
                <a:spcPts val="1000"/>
              </a:spcAft>
            </a:pPr>
            <a:r>
              <a:rPr b="0" sz="2000"/>
              <a:t>Subscriptions in arrears → current asset; in advance → current liability</a:t>
            </a:r>
          </a:p>
          <a:p>
            <a:pPr>
              <a:spcAft>
                <a:spcPts val="1000"/>
              </a:spcAft>
            </a:pPr>
            <a:r>
              <a:rPr b="0" sz="2000"/>
              <a:t>Outstanding expenses → liabilities; prepaid expenses → assets</a:t>
            </a:r>
          </a:p>
          <a:p>
            <a:pPr>
              <a:spcAft>
                <a:spcPts val="1000"/>
              </a:spcAft>
            </a:pPr>
            <a:r>
              <a:rPr b="0" sz="2000"/>
              <a:t>Special purpose funds: adjust the fund directly — never via I&amp;E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Asset disposal working — Jabari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Equipment cost: 200,000 + 85,000 additions − 50,000 sold = 235,000</a:t>
            </a:r>
          </a:p>
          <a:p>
            <a:pPr>
              <a:spcAft>
                <a:spcPts val="1000"/>
              </a:spcAft>
            </a:pPr>
            <a:r>
              <a:rPr b="0" sz="2000"/>
              <a:t>Accumulated depreciation: 60,000 − 20,000 on sold + 20,000 = 60,000</a:t>
            </a:r>
          </a:p>
          <a:p>
            <a:pPr>
              <a:spcAft>
                <a:spcPts val="1000"/>
              </a:spcAft>
            </a:pPr>
            <a:r>
              <a:rPr b="0" sz="2000"/>
              <a:t>Equipment NBV = 235,000 − 60,000 = Sh.175,000</a:t>
            </a:r>
          </a:p>
          <a:p>
            <a:pPr>
              <a:spcAft>
                <a:spcPts val="1000"/>
              </a:spcAft>
            </a:pPr>
            <a:r>
              <a:rPr b="0" sz="2000"/>
              <a:t>Buildings: 1,500,000 − 30,000 depreciation = 1,470,000 NBV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Worked statement — balances at Sh.2,073,000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Non-current assets 1,645,000 + current assets 428,000 = 2,073,000</a:t>
            </a:r>
          </a:p>
          <a:p>
            <a:pPr>
              <a:spcAft>
                <a:spcPts val="1000"/>
              </a:spcAft>
            </a:pPr>
            <a:r>
              <a:rPr b="0" sz="2000"/>
              <a:t>Capital fund: 1,832,000 + surplus 150,000 = 1,982,000</a:t>
            </a:r>
          </a:p>
          <a:p>
            <a:pPr>
              <a:spcAft>
                <a:spcPts val="1000"/>
              </a:spcAft>
            </a:pPr>
            <a:r>
              <a:rPr b="0" sz="2000"/>
              <a:t>Current liabilities: salaries 30,000 + electricity 6,000 + advance 55,000</a:t>
            </a:r>
          </a:p>
          <a:p>
            <a:pPr>
              <a:spcAft>
                <a:spcPts val="1000"/>
              </a:spcAft>
            </a:pPr>
            <a:r>
              <a:rPr b="0" sz="2000"/>
              <a:t>Both sides total 2,073,000 ✓ — closing cash 380,000 appears here too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Common exam traps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Surplus goes ONLY to the capital fund — nowhere else</a:t>
            </a:r>
          </a:p>
          <a:p>
            <a:pPr>
              <a:spcAft>
                <a:spcPts val="1000"/>
              </a:spcAft>
            </a:pPr>
            <a:r>
              <a:rPr b="0" sz="2000"/>
              <a:t>On disposal remove BOTH cost and accumulated depreciation</a:t>
            </a:r>
          </a:p>
          <a:p>
            <a:pPr>
              <a:spcAft>
                <a:spcPts val="1000"/>
              </a:spcAft>
            </a:pPr>
            <a:r>
              <a:rPr b="0" sz="2000"/>
              <a:t>Specific donations are NOT income — liability side until used</a:t>
            </a:r>
          </a:p>
          <a:p>
            <a:pPr>
              <a:spcAft>
                <a:spcPts val="1000"/>
              </a:spcAft>
            </a:pPr>
            <a:r>
              <a:rPr b="0" sz="2000"/>
              <a:t>Closing cash must match the R&amp;P balance c/d exactly (380,000)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Key takeaways / 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Capital fund not given? Compute it FIRST via a statement of affairs</a:t>
            </a:r>
          </a:p>
          <a:p>
            <a:pPr>
              <a:spcAft>
                <a:spcPts val="1000"/>
              </a:spcAft>
            </a:pPr>
            <a:r>
              <a:rPr b="0" sz="2000"/>
              <a:t>Decide capital vs revenue for every special receipt BEFORE writing</a:t>
            </a:r>
          </a:p>
          <a:p>
            <a:pPr>
              <a:spcAft>
                <a:spcPts val="1000"/>
              </a:spcAft>
            </a:pPr>
            <a:r>
              <a:rPr b="0" sz="2000"/>
              <a:t>Self-check: closing cash identical in R&amp;P account and SFP</a:t>
            </a:r>
          </a:p>
          <a:p>
            <a:pPr>
              <a:spcAft>
                <a:spcPts val="1000"/>
              </a:spcAft>
            </a:pPr>
            <a:r>
              <a:rPr b="0" sz="2000"/>
              <a:t>If it doesn't balance: re-scan for a missing accrual or capital item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