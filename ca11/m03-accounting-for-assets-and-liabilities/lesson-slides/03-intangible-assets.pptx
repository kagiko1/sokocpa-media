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Intangible Assets (IAS 38)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Accounting for Assets and Liabilities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Define an intangible asset and the identifiability criterion</a:t>
            </a:r>
          </a:p>
          <a:p>
            <a:pPr>
              <a:spcAft>
                <a:spcPts val="1000"/>
              </a:spcAft>
            </a:pPr>
            <a:r>
              <a:rPr b="0" sz="2000"/>
              <a:t>Apply the recognition criteria</a:t>
            </a:r>
          </a:p>
          <a:p>
            <a:pPr>
              <a:spcAft>
                <a:spcPts val="1000"/>
              </a:spcAft>
            </a:pPr>
            <a:r>
              <a:rPr b="0" sz="2000"/>
              <a:t>Measure separately acquired and business-combination intangibles</a:t>
            </a:r>
          </a:p>
          <a:p>
            <a:pPr>
              <a:spcAft>
                <a:spcPts val="1000"/>
              </a:spcAft>
            </a:pPr>
            <a:r>
              <a:rPr b="0" sz="2000"/>
              <a:t>Distinguish research from development — the six conditions</a:t>
            </a:r>
          </a:p>
          <a:p>
            <a:pPr>
              <a:spcAft>
                <a:spcPts val="1000"/>
              </a:spcAft>
            </a:pPr>
            <a:r>
              <a:rPr b="0" sz="2000"/>
              <a:t>Explain amortisation, impairment and the revaluation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Definition and identifiability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Identifiable non-monetary asset without physical substance</a:t>
            </a:r>
            <a:r>
              <a:rPr b="0" sz="2000"/>
              <a:t> (IAS 38)</a:t>
            </a:r>
          </a:p>
          <a:p>
            <a:pPr>
              <a:spcAft>
                <a:spcPts val="1000"/>
              </a:spcAft>
            </a:pPr>
            <a:r>
              <a:rPr b="0" sz="2000"/>
              <a:t>Examples: software licences, patents, copyrights, franchises</a:t>
            </a:r>
          </a:p>
          <a:p>
            <a:pPr>
              <a:spcAft>
                <a:spcPts val="1000"/>
              </a:spcAft>
            </a:pPr>
            <a:r>
              <a:rPr b="1" sz="2000"/>
              <a:t>Identifiable</a:t>
            </a:r>
            <a:r>
              <a:rPr b="0" sz="2000"/>
              <a:t> = separable (can be sold/licensed alone)</a:t>
            </a:r>
          </a:p>
          <a:p>
            <a:pPr>
              <a:spcAft>
                <a:spcPts val="1000"/>
              </a:spcAft>
            </a:pPr>
            <a:r>
              <a:rPr b="0" sz="2000"/>
              <a:t>…or arises from </a:t>
            </a:r>
            <a:r>
              <a:rPr b="1" sz="2000"/>
              <a:t>contractual/legal rights</a:t>
            </a:r>
          </a:p>
          <a:p>
            <a:pPr>
              <a:spcAft>
                <a:spcPts val="1000"/>
              </a:spcAft>
            </a:pPr>
            <a:r>
              <a:rPr b="0" sz="2000"/>
              <a:t>Both recognition criteria must be met: probable benefits + measurable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Initial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Separately acquired cost = price + duties/taxes − discounts + direct costs</a:t>
            </a:r>
          </a:p>
          <a:p>
            <a:pPr>
              <a:spcAft>
                <a:spcPts val="1000"/>
              </a:spcAft>
            </a:pPr>
            <a:r>
              <a:rPr b="0" sz="2000"/>
              <a:t>E.g. legal fees to register a patent are capitalised</a:t>
            </a:r>
          </a:p>
          <a:p>
            <a:pPr>
              <a:spcAft>
                <a:spcPts val="1000"/>
              </a:spcAft>
            </a:pPr>
            <a:r>
              <a:rPr b="0" sz="2000"/>
              <a:t>Business combination (IFRS 3): cost = </a:t>
            </a:r>
            <a:r>
              <a:rPr b="1" sz="2000"/>
              <a:t>fair value</a:t>
            </a:r>
            <a:r>
              <a:rPr b="0" sz="2000"/>
              <a:t> at acquisition date</a:t>
            </a:r>
          </a:p>
          <a:p>
            <a:pPr>
              <a:spcAft>
                <a:spcPts val="1000"/>
              </a:spcAft>
            </a:pPr>
            <a:r>
              <a:rPr b="0" sz="2000"/>
              <a:t>Probability of benefits always considered satisfied for these two</a:t>
            </a:r>
          </a:p>
          <a:p>
            <a:pPr>
              <a:spcAft>
                <a:spcPts val="1000"/>
              </a:spcAft>
            </a:pPr>
            <a:r>
              <a:rPr b="0" sz="2000"/>
              <a:t>Purchased goodwill (IFRS 3) is recognised; internally generated is </a:t>
            </a:r>
            <a:r>
              <a:rPr b="1" sz="2000"/>
              <a:t>never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Internally generated: research vs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Research: NEVER capitalised</a:t>
            </a:r>
            <a:r>
              <a:rPr b="0" sz="2000"/>
              <a:t> — always expensed</a:t>
            </a:r>
          </a:p>
          <a:p>
            <a:pPr>
              <a:spcAft>
                <a:spcPts val="1000"/>
              </a:spcAft>
            </a:pPr>
            <a:r>
              <a:rPr b="0" sz="2000"/>
              <a:t>Development: capitalise iff </a:t>
            </a:r>
            <a:r>
              <a:rPr b="1" sz="2000"/>
              <a:t>all six</a:t>
            </a:r>
            <a:r>
              <a:rPr b="0" sz="2000"/>
              <a:t> conditions met</a:t>
            </a:r>
          </a:p>
          <a:p>
            <a:pPr>
              <a:spcAft>
                <a:spcPts val="1000"/>
              </a:spcAft>
            </a:pPr>
            <a:r>
              <a:rPr b="0" sz="2000"/>
              <a:t>Technical feasibility; intention to complete; ability to use/sell</a:t>
            </a:r>
          </a:p>
          <a:p>
            <a:pPr>
              <a:spcAft>
                <a:spcPts val="1000"/>
              </a:spcAft>
            </a:pPr>
            <a:r>
              <a:rPr b="0" sz="2000"/>
              <a:t>Probable future benefits; adequate resources; reliable measurement</a:t>
            </a:r>
          </a:p>
          <a:p>
            <a:pPr>
              <a:spcAft>
                <a:spcPts val="1000"/>
              </a:spcAft>
            </a:pPr>
            <a:r>
              <a:rPr b="0" sz="2000"/>
              <a:t>Anything else — and brands, mastheads, customer lists — expensed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Worked example: Savanna 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Savanna Soft's MshaharaPro payroll app: research 1,800,000 → expense</a:t>
            </a:r>
          </a:p>
          <a:p>
            <a:pPr>
              <a:spcAft>
                <a:spcPts val="1000"/>
              </a:spcAft>
            </a:pPr>
            <a:r>
              <a:rPr b="0" sz="2000"/>
              <a:t>Prototype before criteria met: 900,000 → expense, </a:t>
            </a:r>
            <a:r>
              <a:rPr b="1" sz="2000"/>
              <a:t>never reinstated</a:t>
            </a:r>
          </a:p>
          <a:p>
            <a:pPr>
              <a:spcAft>
                <a:spcPts val="1000"/>
              </a:spcAft>
            </a:pPr>
            <a:r>
              <a:rPr b="0" sz="2000"/>
              <a:t>Development after criteria met: 3,600,000 → </a:t>
            </a:r>
            <a:r>
              <a:rPr b="1" sz="2000"/>
              <a:t>capitalise</a:t>
            </a:r>
          </a:p>
          <a:p>
            <a:pPr>
              <a:spcAft>
                <a:spcPts val="1000"/>
              </a:spcAft>
            </a:pPr>
            <a:r>
              <a:rPr b="0" sz="2000"/>
              <a:t>Staff training 400,000 → expense</a:t>
            </a:r>
          </a:p>
          <a:p>
            <a:pPr>
              <a:spcAft>
                <a:spcPts val="1000"/>
              </a:spcAft>
            </a:pPr>
            <a:r>
              <a:rPr b="0" sz="2000"/>
              <a:t>Entry: Dr Intangible asset 3,600,000 / Cr Cash/Payables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Amortisation and useful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Assess life: </a:t>
            </a:r>
            <a:r>
              <a:rPr b="1" sz="2000"/>
              <a:t>finite</a:t>
            </a:r>
            <a:r>
              <a:rPr b="0" sz="2000"/>
              <a:t> or </a:t>
            </a:r>
            <a:r>
              <a:rPr b="1" sz="2000"/>
              <a:t>indefinite</a:t>
            </a:r>
            <a:r>
              <a:rPr b="0" sz="2000"/>
              <a:t> (no foreseeable limit to cash inflows)</a:t>
            </a:r>
          </a:p>
          <a:p>
            <a:pPr>
              <a:spcAft>
                <a:spcPts val="1000"/>
              </a:spcAft>
            </a:pPr>
            <a:r>
              <a:rPr b="0" sz="2000"/>
              <a:t>Finite: amortise systematically over useful life; begin when available for use</a:t>
            </a:r>
          </a:p>
          <a:p>
            <a:pPr>
              <a:spcAft>
                <a:spcPts val="1000"/>
              </a:spcAft>
            </a:pPr>
            <a:r>
              <a:rPr b="0" sz="2000"/>
              <a:t>Capped at the </a:t>
            </a:r>
            <a:r>
              <a:rPr b="1" sz="2000"/>
              <a:t>legal/contractual</a:t>
            </a:r>
            <a:r>
              <a:rPr b="0" sz="2000"/>
              <a:t> life (renewal only with evidence)</a:t>
            </a:r>
          </a:p>
          <a:p>
            <a:pPr>
              <a:spcAft>
                <a:spcPts val="1000"/>
              </a:spcAft>
            </a:pPr>
            <a:r>
              <a:rPr b="1" sz="2000"/>
              <a:t>Residual value defaults to zero</a:t>
            </a:r>
          </a:p>
          <a:p>
            <a:pPr>
              <a:spcAft>
                <a:spcPts val="1000"/>
              </a:spcAft>
            </a:pPr>
            <a:r>
              <a:rPr b="0" sz="2000"/>
              <a:t>Indefinite: </a:t>
            </a:r>
            <a:r>
              <a:rPr b="1" sz="2000"/>
              <a:t>not amortised</a:t>
            </a:r>
            <a:r>
              <a:rPr b="0" sz="2000"/>
              <a:t> — impairment test </a:t>
            </a:r>
            <a:r>
              <a:rPr b="1" sz="2000"/>
              <a:t>annually</a:t>
            </a:r>
            <a:r>
              <a:rPr b="0" sz="2000"/>
              <a:t> (IAS 36)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Amortisation and impairment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Patent 3,600,000, useful life 6 years → amortisation 600,000 p.a.</a:t>
            </a:r>
          </a:p>
          <a:p>
            <a:pPr>
              <a:spcAft>
                <a:spcPts val="1000"/>
              </a:spcAft>
            </a:pPr>
            <a:r>
              <a:rPr b="0" sz="2000"/>
              <a:t>Dr Amortisation expense / Cr Accumulated amortisation</a:t>
            </a:r>
          </a:p>
          <a:p>
            <a:pPr>
              <a:spcAft>
                <a:spcPts val="1000"/>
              </a:spcAft>
            </a:pPr>
            <a:r>
              <a:rPr b="0" sz="2000"/>
              <a:t>PesaTech: capitalise 4,800,000 post-feasibility → amortise over 4 years</a:t>
            </a:r>
          </a:p>
          <a:p>
            <a:pPr>
              <a:spcAft>
                <a:spcPts val="1000"/>
              </a:spcAft>
            </a:pPr>
            <a:r>
              <a:rPr b="0" sz="2000"/>
              <a:t>Market collapses: recoverable 1,500,000 &lt; carrying 3,600,000</a:t>
            </a:r>
          </a:p>
          <a:p>
            <a:pPr>
              <a:spcAft>
                <a:spcPts val="1000"/>
              </a:spcAft>
            </a:pPr>
            <a:r>
              <a:rPr b="0" sz="2000"/>
              <a:t>Impairment loss </a:t>
            </a:r>
            <a:r>
              <a:rPr b="1" sz="2000"/>
              <a:t>2,100,000</a:t>
            </a:r>
            <a:r>
              <a:rPr b="0" sz="2000"/>
              <a:t> → Dr P&amp;L / Cr Intangible asset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Revaluation and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Revaluation model only with an </a:t>
            </a:r>
            <a:r>
              <a:rPr b="1" sz="2000"/>
              <a:t>active market</a:t>
            </a:r>
            <a:r>
              <a:rPr b="0" sz="2000"/>
              <a:t> (rare for intangibles)</a:t>
            </a:r>
          </a:p>
          <a:p>
            <a:pPr>
              <a:spcAft>
                <a:spcPts val="1000"/>
              </a:spcAft>
            </a:pPr>
            <a:r>
              <a:rPr b="0" sz="2000"/>
              <a:t>Active market = homogeneous items, willing buyers/sellers, public prices</a:t>
            </a:r>
          </a:p>
          <a:p>
            <a:pPr>
              <a:spcAft>
                <a:spcPts val="1000"/>
              </a:spcAft>
            </a:pPr>
            <a:r>
              <a:rPr b="0" sz="2000"/>
              <a:t>Same surplus/P&amp;L mechanics as PPE</a:t>
            </a:r>
          </a:p>
          <a:p>
            <a:pPr>
              <a:spcAft>
                <a:spcPts val="1000"/>
              </a:spcAft>
            </a:pPr>
            <a:r>
              <a:rPr b="0" sz="2000"/>
              <a:t>Websites: planning = research (expense); order-taking site *may* capitalise</a:t>
            </a:r>
          </a:p>
          <a:p>
            <a:pPr>
              <a:spcAft>
                <a:spcPts val="1000"/>
              </a:spcAft>
            </a:pPr>
            <a:r>
              <a:rPr b="0" sz="2000"/>
              <a:t>Purely advertising websites are expensed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Research always expensed — the commonest single mark</a:t>
            </a:r>
          </a:p>
          <a:p>
            <a:pPr>
              <a:spcAft>
                <a:spcPts val="1000"/>
              </a:spcAft>
            </a:pPr>
            <a:r>
              <a:rPr b="0" sz="2000"/>
              <a:t>All six development conditions, or expense it</a:t>
            </a:r>
          </a:p>
          <a:p>
            <a:pPr>
              <a:spcAft>
                <a:spcPts val="1000"/>
              </a:spcAft>
            </a:pPr>
            <a:r>
              <a:rPr b="1" sz="2000"/>
              <a:t>No reinstatement</a:t>
            </a:r>
            <a:r>
              <a:rPr b="0" sz="2000"/>
              <a:t> of previously expensed amounts — a deliberate trap</a:t>
            </a:r>
          </a:p>
          <a:p>
            <a:pPr>
              <a:spcAft>
                <a:spcPts val="1000"/>
              </a:spcAft>
            </a:pPr>
            <a:r>
              <a:rPr b="0" sz="2000"/>
              <a:t>Internally generated brands and customer lists: never recognised</a:t>
            </a:r>
          </a:p>
          <a:p>
            <a:pPr>
              <a:spcAft>
                <a:spcPts val="1000"/>
              </a:spcAft>
            </a:pPr>
            <a:r>
              <a:rPr b="0" sz="2000"/>
              <a:t>Indefinite life → no amortisation, annual impairment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