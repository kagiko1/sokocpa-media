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09728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C8102E"/>
                </a:solidFill>
              </a:rPr>
              <a:t>CA11  FINANCIAL  ACCOUNTING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88136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/>
              <a:t>Reserves and Income Tax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93192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6E6E6E"/>
                </a:solidFill>
              </a:rPr>
              <a:t>CA11 Financial Accounting • Financial Statements of a Company</a:t>
            </a:r>
          </a:p>
        </p:txBody>
      </p:sp>
      <p:pic>
        <p:nvPicPr>
          <p:cNvPr id="5" name="Picture 4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48" y="512064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7" name="Picture 6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Define capital vs revenue reserves with examples</a:t>
            </a:r>
          </a:p>
          <a:p>
            <a:pPr>
              <a:spcAft>
                <a:spcPts val="1000"/>
              </a:spcAft>
            </a:pPr>
            <a:r>
              <a:rPr b="0" sz="2000"/>
              <a:t>Explain origins and uses of share premium, revaluation reserve, CRR</a:t>
            </a:r>
          </a:p>
          <a:p>
            <a:pPr>
              <a:spcAft>
                <a:spcPts val="1000"/>
              </a:spcAft>
            </a:pPr>
            <a:r>
              <a:rPr b="0" sz="2000"/>
              <a:t>Ledger transfers to reserves and bonus issues from reserves</a:t>
            </a:r>
          </a:p>
          <a:p>
            <a:pPr>
              <a:spcAft>
                <a:spcPts val="1000"/>
              </a:spcAft>
            </a:pPr>
            <a:r>
              <a:rPr b="0" sz="2000"/>
              <a:t>Apply IAS 12: tax charge, current tax payable, under/over-provisions</a:t>
            </a:r>
          </a:p>
          <a:p>
            <a:pPr>
              <a:spcAft>
                <a:spcPts val="1000"/>
              </a:spcAft>
            </a:pPr>
            <a:r>
              <a:rPr b="0" sz="2000"/>
              <a:t>Distinguish permanent vs temporary differences; deferred tax assets/liabilities</a:t>
            </a:r>
          </a:p>
          <a:p>
            <a:pPr>
              <a:spcAft>
                <a:spcPts val="1000"/>
              </a:spcAft>
            </a:pPr>
            <a:r>
              <a:rPr b="0" sz="2000"/>
              <a:t>State IAS 12 disclosure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Reserves: capital vs revenue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Capital reserves: NOT for cash dividends — protect creditors</a:t>
            </a:r>
          </a:p>
          <a:p>
            <a:pPr>
              <a:spcAft>
                <a:spcPts val="1000"/>
              </a:spcAft>
            </a:pPr>
            <a:r>
              <a:rPr b="0" sz="2000"/>
              <a:t>Examples: share premium, revaluation reserve, capital redemption reserve</a:t>
            </a:r>
          </a:p>
          <a:p>
            <a:pPr>
              <a:spcAft>
                <a:spcPts val="1000"/>
              </a:spcAft>
            </a:pPr>
            <a:r>
              <a:rPr b="0" sz="2000"/>
              <a:t>Revenue reserves: accumulated profits — distributable</a:t>
            </a:r>
          </a:p>
          <a:p>
            <a:pPr>
              <a:spcAft>
                <a:spcPts val="1000"/>
              </a:spcAft>
            </a:pPr>
            <a:r>
              <a:rPr b="0" sz="2000"/>
              <a:t>Examples: general reserve, retained profits (P&amp;L account balance)</a:t>
            </a:r>
          </a:p>
          <a:p>
            <a:pPr>
              <a:spcAft>
                <a:spcPts val="1000"/>
              </a:spcAft>
            </a:pPr>
            <a:r>
              <a:rPr b="0" sz="2000"/>
              <a:t>Presented in equity, below issued share capital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Key reserves explained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Share premium: excess over nominal on company's own issue; non-distributable</a:t>
            </a:r>
          </a:p>
          <a:p>
            <a:pPr>
              <a:spcAft>
                <a:spcPts val="1000"/>
              </a:spcAft>
            </a:pPr>
            <a:r>
              <a:rPr b="0" sz="2000"/>
              <a:t>Allowed: bonus shares, writing off share-issue costs — never dividends</a:t>
            </a:r>
          </a:p>
          <a:p>
            <a:pPr>
              <a:spcAft>
                <a:spcPts val="1000"/>
              </a:spcAft>
            </a:pPr>
            <a:r>
              <a:rPr b="0" sz="2000"/>
              <a:t>Revaluation reserve: upward asset revaluation via OCI, not profit or loss</a:t>
            </a:r>
          </a:p>
          <a:p>
            <a:pPr>
              <a:spcAft>
                <a:spcPts val="1000"/>
              </a:spcAft>
            </a:pPr>
            <a:r>
              <a:rPr b="0" sz="2000"/>
              <a:t>Capital redemption reserve: created when preference shares redeemed without fresh issue</a:t>
            </a:r>
          </a:p>
          <a:p>
            <a:pPr>
              <a:spcAft>
                <a:spcPts val="1000"/>
              </a:spcAft>
            </a:pPr>
            <a:r>
              <a:rPr b="0" sz="2000"/>
              <a:t>General reserve: rainy-day fund; Dr P&amp;L account / Cr General reserve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Debentures — quick refresher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Debenture = long-term borrowing; interest payable even with no profits</a:t>
            </a:r>
          </a:p>
          <a:p>
            <a:pPr>
              <a:spcAft>
                <a:spcPts val="1000"/>
              </a:spcAft>
            </a:pPr>
            <a:r>
              <a:rPr b="0" sz="2000"/>
              <a:t>Debenture interest is an EXPENSE (before profit before tax), not appropriation</a:t>
            </a:r>
          </a:p>
          <a:p>
            <a:pPr>
              <a:spcAft>
                <a:spcPts val="1000"/>
              </a:spcAft>
            </a:pPr>
            <a:r>
              <a:rPr b="0" sz="2000"/>
              <a:t>Unpaid interest at year-end = current liability ("interest payable")</a:t>
            </a:r>
          </a:p>
          <a:p>
            <a:pPr>
              <a:spcAft>
                <a:spcPts val="1000"/>
              </a:spcAft>
            </a:pPr>
            <a:r>
              <a:rPr b="0" sz="2000"/>
              <a:t>Debenture itself = non-current liability</a:t>
            </a:r>
          </a:p>
          <a:p>
            <a:pPr>
              <a:spcAft>
                <a:spcPts val="1000"/>
              </a:spcAft>
            </a:pPr>
            <a:r>
              <a:rPr b="0" sz="2000"/>
              <a:t>Dividends are appropriations below profit after tax — never mix them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IAS 12 — current tax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Current tax = corporation tax payable on period's results (figure is given)</a:t>
            </a:r>
          </a:p>
          <a:p>
            <a:pPr>
              <a:spcAft>
                <a:spcPts val="1000"/>
              </a:spcAft>
            </a:pPr>
            <a:r>
              <a:rPr b="0" sz="2000"/>
              <a:t>Income statement: "income tax expense" shown as a separate line</a:t>
            </a:r>
          </a:p>
          <a:p>
            <a:pPr>
              <a:spcAft>
                <a:spcPts val="1000"/>
              </a:spcAft>
            </a:pPr>
            <a:r>
              <a:rPr b="0" sz="2000"/>
              <a:t>Unpaid portion at year-end = current liability ("current tax payable")</a:t>
            </a:r>
          </a:p>
          <a:p>
            <a:pPr>
              <a:spcAft>
                <a:spcPts val="1000"/>
              </a:spcAft>
            </a:pPr>
            <a:r>
              <a:rPr b="0" sz="2000"/>
              <a:t>Under-provision (prior estimate too low) → ADD to current year charge</a:t>
            </a:r>
          </a:p>
          <a:p>
            <a:pPr>
              <a:spcAft>
                <a:spcPts val="1000"/>
              </a:spcAft>
            </a:pPr>
            <a:r>
              <a:rPr b="0" sz="2000"/>
              <a:t>Over-provision (prior estimate too high) → DEDUCT from current year charge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Under/over-provisions worked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Debit b/d on tax account = UNDER-provision (paid more than provided)</a:t>
            </a:r>
          </a:p>
          <a:p>
            <a:pPr>
              <a:spcAft>
                <a:spcPts val="1000"/>
              </a:spcAft>
            </a:pPr>
            <a:r>
              <a:rPr b="0" sz="2000"/>
              <a:t>Work example: 840,000 + 60,000 = 900,000 charge; payable = 840,000</a:t>
            </a:r>
          </a:p>
          <a:p>
            <a:pPr>
              <a:spcAft>
                <a:spcPts val="1000"/>
              </a:spcAft>
            </a:pPr>
            <a:r>
              <a:rPr b="0" sz="2000"/>
              <a:t>SFP liability is the unpaid current estimate, not the P&amp;L charge</a:t>
            </a:r>
          </a:p>
          <a:p>
            <a:pPr>
              <a:spcAft>
                <a:spcPts val="1000"/>
              </a:spcAft>
            </a:pPr>
            <a:r>
              <a:rPr b="0" sz="2000"/>
              <a:t>Always prove via the T-account: debits = credits</a:t>
            </a:r>
          </a:p>
          <a:p>
            <a:pPr>
              <a:spcAft>
                <a:spcPts val="1000"/>
              </a:spcAft>
            </a:pPr>
            <a:r>
              <a:rPr b="0" sz="2000"/>
              <a:t>State "under-provision added" / "over-provision deducted" explicitly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IAS 12 — deferred tax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Permanent differences: never reverse (fines, tax-exempt income) → no deferred tax</a:t>
            </a:r>
          </a:p>
          <a:p>
            <a:pPr>
              <a:spcAft>
                <a:spcPts val="1000"/>
              </a:spcAft>
            </a:pPr>
            <a:r>
              <a:rPr b="0" sz="2000"/>
              <a:t>Temporary differences: same item, different periods (depreciation vs capital allowances)</a:t>
            </a:r>
          </a:p>
          <a:p>
            <a:pPr>
              <a:spcAft>
                <a:spcPts val="1000"/>
              </a:spcAft>
            </a:pPr>
            <a:r>
              <a:rPr b="0" sz="2000"/>
              <a:t>Taxable temporary difference → deferred tax LIABILITY</a:t>
            </a:r>
          </a:p>
          <a:p>
            <a:pPr>
              <a:spcAft>
                <a:spcPts val="1000"/>
              </a:spcAft>
            </a:pPr>
            <a:r>
              <a:rPr b="0" sz="2000"/>
              <a:t>Deductible temporary difference → deferred tax ASSET (only if future profits probable)</a:t>
            </a:r>
          </a:p>
          <a:p>
            <a:pPr>
              <a:spcAft>
                <a:spcPts val="1000"/>
              </a:spcAft>
            </a:pPr>
            <a:r>
              <a:rPr b="0" sz="2000"/>
              <a:t>Deferred tax on revaluation goes to OCI, never profit or 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Key takeaways / exam tips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Debit b/d on tax account = under-provision; credit b/d = over-provision</a:t>
            </a:r>
          </a:p>
          <a:p>
            <a:pPr>
              <a:spcAft>
                <a:spcPts val="1000"/>
              </a:spcAft>
            </a:pPr>
            <a:r>
              <a:rPr b="0" sz="2000"/>
              <a:t>Under-provision: add; over-provision: deduct — say the words</a:t>
            </a:r>
          </a:p>
          <a:p>
            <a:pPr>
              <a:spcAft>
                <a:spcPts val="1000"/>
              </a:spcAft>
            </a:pPr>
            <a:r>
              <a:rPr b="0" sz="2000"/>
              <a:t>SFP tax liability = unpaid current estimate (net of b/d balance)</a:t>
            </a:r>
          </a:p>
          <a:p>
            <a:pPr>
              <a:spcAft>
                <a:spcPts val="1000"/>
              </a:spcAft>
            </a:pPr>
            <a:r>
              <a:rPr b="0" sz="2000"/>
              <a:t>Deferred tax on revaluation → other comprehensive income, not P&amp;L</a:t>
            </a:r>
          </a:p>
          <a:p>
            <a:pPr>
              <a:spcAft>
                <a:spcPts val="1000"/>
              </a:spcAft>
            </a:pPr>
            <a:r>
              <a:rPr b="0" sz="2000"/>
              <a:t>KASNEB tests treatment and presentation of tax — computation is given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