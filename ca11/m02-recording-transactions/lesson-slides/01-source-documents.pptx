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Source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Recording Transactions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a source document and its role as system input</a:t>
            </a:r>
          </a:p>
          <a:p>
            <a:pPr>
              <a:spcAft>
                <a:spcPts val="1000"/>
              </a:spcAft>
            </a:pPr>
            <a:r>
              <a:rPr b="0" sz="2000"/>
              <a:t>Identify and describe the 11 source documents</a:t>
            </a:r>
          </a:p>
          <a:p>
            <a:pPr>
              <a:spcAft>
                <a:spcPts val="1000"/>
              </a:spcAft>
            </a:pPr>
            <a:r>
              <a:rPr b="0" sz="2000"/>
              <a:t>State who raises/issues each document and its contents</a:t>
            </a:r>
          </a:p>
          <a:p>
            <a:pPr>
              <a:spcAft>
                <a:spcPts val="1000"/>
              </a:spcAft>
            </a:pPr>
            <a:r>
              <a:rPr b="0" sz="2000"/>
              <a:t>Distinguish </a:t>
            </a:r>
            <a:r>
              <a:rPr b="1" sz="2000"/>
              <a:t>credit notes</a:t>
            </a:r>
            <a:r>
              <a:rPr b="0" sz="2000"/>
              <a:t> from </a:t>
            </a:r>
            <a:r>
              <a:rPr b="1" sz="2000"/>
              <a:t>debit notes</a:t>
            </a:r>
          </a:p>
          <a:p>
            <a:pPr>
              <a:spcAft>
                <a:spcPts val="1000"/>
              </a:spcAft>
            </a:pPr>
            <a:r>
              <a:rPr b="0" sz="2000"/>
              <a:t>Explain the control purpose of documents in the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is a source document?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Every journal entry must trace back to one</a:t>
            </a:r>
          </a:p>
          <a:p>
            <a:pPr>
              <a:spcAft>
                <a:spcPts val="1000"/>
              </a:spcAft>
            </a:pPr>
            <a:r>
              <a:rPr b="0" sz="2000"/>
              <a:t>They are </a:t>
            </a:r>
            <a:r>
              <a:rPr b="1" sz="2000"/>
              <a:t>control devices and authorizations</a:t>
            </a:r>
          </a:p>
          <a:p>
            <a:pPr>
              <a:spcAft>
                <a:spcPts val="1000"/>
              </a:spcAft>
            </a:pPr>
            <a:r>
              <a:rPr b="0" sz="2000"/>
              <a:t>PO authorizes a purchase; remittance advice matches payments</a:t>
            </a:r>
          </a:p>
          <a:p>
            <a:pPr>
              <a:spcAft>
                <a:spcPts val="1000"/>
              </a:spcAft>
            </a:pPr>
            <a:r>
              <a:rPr b="0" sz="2000"/>
              <a:t>Start of the </a:t>
            </a:r>
            <a:r>
              <a:rPr b="1" sz="2000"/>
              <a:t>audit trail</a:t>
            </a:r>
            <a:r>
              <a:rPr b="0" sz="2000"/>
              <a:t>: source document → journals → statements</a:t>
            </a:r>
          </a:p>
          <a:p>
            <a:pPr>
              <a:spcAft>
                <a:spcPts val="1000"/>
              </a:spcAft>
            </a:pPr>
            <a:r>
              <a:rPr b="0" sz="2000"/>
              <a:t>No source documents = no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eleven documents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Quotation</a:t>
            </a:r>
            <a:r>
              <a:rPr b="0" sz="2000"/>
              <a:t> – seller's pre-purchase price, schedule, validity</a:t>
            </a:r>
          </a:p>
          <a:p>
            <a:pPr>
              <a:spcAft>
                <a:spcPts val="1000"/>
              </a:spcAft>
            </a:pPr>
            <a:r>
              <a:rPr b="1" sz="2000"/>
              <a:t>Purchase order</a:t>
            </a:r>
            <a:r>
              <a:rPr b="0" sz="2000"/>
              <a:t> – buyer's legal offer; acceptance = contract</a:t>
            </a:r>
          </a:p>
          <a:p>
            <a:pPr>
              <a:spcAft>
                <a:spcPts val="1000"/>
              </a:spcAft>
            </a:pPr>
            <a:r>
              <a:rPr b="1" sz="2000"/>
              <a:t>Statement of account</a:t>
            </a:r>
            <a:r>
              <a:rPr b="0" sz="2000"/>
              <a:t> – periodic record; not a new liability</a:t>
            </a:r>
          </a:p>
          <a:p>
            <a:pPr>
              <a:spcAft>
                <a:spcPts val="1000"/>
              </a:spcAft>
            </a:pPr>
            <a:r>
              <a:rPr b="1" sz="2000"/>
              <a:t>Remittance advice</a:t>
            </a:r>
            <a:r>
              <a:rPr b="0" sz="2000"/>
              <a:t> – customer tells supplier an invoice is paid</a:t>
            </a:r>
          </a:p>
          <a:p>
            <a:pPr>
              <a:spcAft>
                <a:spcPts val="1000"/>
              </a:spcAft>
            </a:pPr>
            <a:r>
              <a:rPr b="1" sz="2000"/>
              <a:t>Receipt</a:t>
            </a:r>
            <a:r>
              <a:rPr b="0" sz="2000"/>
              <a:t> – firm acknowledges money received (name, date, amount, no.)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eleven documents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Petty cash voucher</a:t>
            </a:r>
            <a:r>
              <a:rPr b="0" sz="2000"/>
              <a:t> – documents each petty disbursement</a:t>
            </a:r>
          </a:p>
          <a:p>
            <a:pPr>
              <a:spcAft>
                <a:spcPts val="1000"/>
              </a:spcAft>
            </a:pPr>
            <a:r>
              <a:rPr b="1" sz="2000"/>
              <a:t>Sales invoice</a:t>
            </a:r>
            <a:r>
              <a:rPr b="0" sz="2000"/>
              <a:t> – firm bills customer for credit sale</a:t>
            </a:r>
          </a:p>
          <a:p>
            <a:pPr>
              <a:spcAft>
                <a:spcPts val="1000"/>
              </a:spcAft>
            </a:pPr>
            <a:r>
              <a:rPr b="1" sz="2000"/>
              <a:t>Purchase invoice</a:t>
            </a:r>
            <a:r>
              <a:rPr b="0" sz="2000"/>
              <a:t> – creditor bills the firm for credit purchase</a:t>
            </a:r>
          </a:p>
          <a:p>
            <a:pPr>
              <a:spcAft>
                <a:spcPts val="1000"/>
              </a:spcAft>
            </a:pPr>
            <a:r>
              <a:rPr b="1" sz="2000"/>
              <a:t>Credit note</a:t>
            </a:r>
            <a:r>
              <a:rPr b="0" sz="2000"/>
              <a:t> – firm → debtor: returned goods, account credited</a:t>
            </a:r>
          </a:p>
          <a:p>
            <a:pPr>
              <a:spcAft>
                <a:spcPts val="1000"/>
              </a:spcAft>
            </a:pPr>
            <a:r>
              <a:rPr b="1" sz="2000"/>
              <a:t>Debit note</a:t>
            </a:r>
            <a:r>
              <a:rPr b="0" sz="2000"/>
              <a:t> – creditor → firm: returned goods, amount due reduced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eleven documents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Bank statement</a:t>
            </a:r>
            <a:r>
              <a:rPr b="0" sz="2000"/>
              <a:t> – bank's periodic summary; basis for reconciliation</a:t>
            </a:r>
          </a:p>
          <a:p>
            <a:pPr>
              <a:spcAft>
                <a:spcPts val="1000"/>
              </a:spcAft>
            </a:pPr>
            <a:r>
              <a:rPr b="0" sz="2000"/>
              <a:t>Always state </a:t>
            </a:r>
            <a:r>
              <a:rPr b="1" sz="2000"/>
              <a:t>who issues</a:t>
            </a:r>
            <a:r>
              <a:rPr b="0" sz="2000"/>
              <a:t> each document — examiners test it</a:t>
            </a:r>
          </a:p>
          <a:p>
            <a:pPr>
              <a:spcAft>
                <a:spcPts val="1000"/>
              </a:spcAft>
            </a:pPr>
            <a:r>
              <a:rPr b="0" sz="2000"/>
              <a:t>Receipt = firm on receiving money; remittance = customer on paying</a:t>
            </a:r>
          </a:p>
          <a:p>
            <a:pPr>
              <a:spcAft>
                <a:spcPts val="1000"/>
              </a:spcAft>
            </a:pPr>
            <a:r>
              <a:rPr b="0" sz="2000"/>
              <a:t>Sales invoice = we sell; purchase invoice = supplier bills us</a:t>
            </a:r>
          </a:p>
          <a:p>
            <a:pPr>
              <a:spcAft>
                <a:spcPts val="1000"/>
              </a:spcAft>
            </a:pPr>
            <a:r>
              <a:rPr b="0" sz="2000"/>
              <a:t>Pre-numbering exposes missing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Document flow: a credit purchase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Savannah Traders buys maize flour on credit from Unga</a:t>
            </a:r>
          </a:p>
          <a:p>
            <a:pPr>
              <a:spcAft>
                <a:spcPts val="1000"/>
              </a:spcAft>
            </a:pPr>
            <a:r>
              <a:rPr b="0" sz="2000"/>
              <a:t>PO (legal offer) → acceptance forms the contract</a:t>
            </a:r>
          </a:p>
          <a:p>
            <a:pPr>
              <a:spcAft>
                <a:spcPts val="1000"/>
              </a:spcAft>
            </a:pPr>
            <a:r>
              <a:rPr b="0" sz="2000"/>
              <a:t>Delivery with invoice → returns trigger a </a:t>
            </a:r>
            <a:r>
              <a:rPr b="1" sz="2000"/>
              <a:t>credit note</a:t>
            </a:r>
          </a:p>
          <a:p>
            <a:pPr>
              <a:spcAft>
                <a:spcPts val="1000"/>
              </a:spcAft>
            </a:pPr>
            <a:r>
              <a:rPr b="0" sz="2000"/>
              <a:t>Cheque paid + remittance advice quoting invoice number</a:t>
            </a:r>
          </a:p>
          <a:p>
            <a:pPr>
              <a:spcAft>
                <a:spcPts val="1000"/>
              </a:spcAft>
            </a:pPr>
            <a:r>
              <a:rPr b="0" sz="2000"/>
              <a:t>Month-end statement of account → reconcile before paying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Document flow: a credit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Jenga Hardware sells 200 bags of cement, Sh. 150,000 credit</a:t>
            </a:r>
          </a:p>
          <a:p>
            <a:pPr>
              <a:spcAft>
                <a:spcPts val="1000"/>
              </a:spcAft>
            </a:pPr>
            <a:r>
              <a:rPr b="0" sz="2000"/>
              <a:t>Quotation → PO 447 → delivery note → sales invoice INV 2210</a:t>
            </a:r>
          </a:p>
          <a:p>
            <a:pPr>
              <a:spcAft>
                <a:spcPts val="1000"/>
              </a:spcAft>
            </a:pPr>
            <a:r>
              <a:rPr b="0" sz="2000"/>
              <a:t>Cheque + remittance advice → receipt R 8891</a:t>
            </a:r>
          </a:p>
          <a:p>
            <a:pPr>
              <a:spcAft>
                <a:spcPts val="1000"/>
              </a:spcAft>
            </a:pPr>
            <a:r>
              <a:rPr b="0" sz="2000"/>
              <a:t>Damaged bags returned: Jenga issues </a:t>
            </a:r>
            <a:r>
              <a:rPr b="1" sz="2000"/>
              <a:t>credit note</a:t>
            </a:r>
            <a:r>
              <a:rPr b="0" sz="2000"/>
              <a:t> Sh. 7,500</a:t>
            </a:r>
          </a:p>
          <a:p>
            <a:pPr>
              <a:spcAft>
                <a:spcPts val="1000"/>
              </a:spcAft>
            </a:pPr>
            <a:r>
              <a:rPr b="0" sz="2000"/>
              <a:t>Entry: Dr Sales returns 7,500 / Cr SiteBuild 7,500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Control and the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Every journal figure must trace to a source document</a:t>
            </a:r>
          </a:p>
          <a:p>
            <a:pPr>
              <a:spcAft>
                <a:spcPts val="1000"/>
              </a:spcAft>
            </a:pPr>
            <a:r>
              <a:rPr b="0" sz="2000"/>
              <a:t>Purchase invoice → purchases journal; copy sales invoice → sales journal</a:t>
            </a:r>
          </a:p>
          <a:p>
            <a:pPr>
              <a:spcAft>
                <a:spcPts val="1000"/>
              </a:spcAft>
            </a:pPr>
            <a:r>
              <a:rPr b="0" sz="2000"/>
              <a:t>Cheque counterfoil → cash book</a:t>
            </a:r>
          </a:p>
          <a:p>
            <a:pPr>
              <a:spcAft>
                <a:spcPts val="1000"/>
              </a:spcAft>
            </a:pPr>
            <a:r>
              <a:rPr b="0" sz="2000"/>
              <a:t>Authorization: POs and vouchers show who approved spend</a:t>
            </a:r>
          </a:p>
          <a:p>
            <a:pPr>
              <a:spcAft>
                <a:spcPts val="1000"/>
              </a:spcAft>
            </a:pPr>
            <a:r>
              <a:rPr b="0" sz="2000"/>
              <a:t>Reconcile statements and remittance advices — investigate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Credit note: </a:t>
            </a:r>
            <a:r>
              <a:rPr b="1" sz="2000"/>
              <a:t>seller</a:t>
            </a:r>
            <a:r>
              <a:rPr b="0" sz="2000"/>
              <a:t> issues (credits customer's account)</a:t>
            </a:r>
          </a:p>
          <a:p>
            <a:pPr>
              <a:spcAft>
                <a:spcPts val="1000"/>
              </a:spcAft>
            </a:pPr>
            <a:r>
              <a:rPr b="0" sz="2000"/>
              <a:t>Debit note: </a:t>
            </a:r>
            <a:r>
              <a:rPr b="1" sz="2000"/>
              <a:t>creditor</a:t>
            </a:r>
            <a:r>
              <a:rPr b="0" sz="2000"/>
              <a:t> issues when buyer returns goods</a:t>
            </a:r>
          </a:p>
          <a:p>
            <a:pPr>
              <a:spcAft>
                <a:spcPts val="1000"/>
              </a:spcAft>
            </a:pPr>
            <a:r>
              <a:rPr b="0" sz="2000"/>
              <a:t>PO is a legal *offer* — not a contract until accepted</a:t>
            </a:r>
          </a:p>
          <a:p>
            <a:pPr>
              <a:spcAft>
                <a:spcPts val="1000"/>
              </a:spcAft>
            </a:pPr>
            <a:r>
              <a:rPr b="0" sz="2000"/>
              <a:t>Statement of account summarizes; it does not create liability</a:t>
            </a:r>
          </a:p>
          <a:p>
            <a:pPr>
              <a:spcAft>
                <a:spcPts val="1000"/>
              </a:spcAft>
            </a:pPr>
            <a:r>
              <a:rPr b="0" sz="2000"/>
              <a:t>11-mark question: all eleven + who issues each + one purpose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