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Manufacturing Costs and Their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Financial Statements of a Manufacturing Entity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Explain why manufacturers need a manufacturing account</a:t>
            </a:r>
          </a:p>
          <a:p>
            <a:pPr>
              <a:spcAft>
                <a:spcPts val="1000"/>
              </a:spcAft>
            </a:pPr>
            <a:r>
              <a:rPr b="0" sz="2000"/>
              <a:t>Define direct materials, direct labour, direct expenses with Kenyan examples</a:t>
            </a:r>
          </a:p>
          <a:p>
            <a:pPr>
              <a:spcAft>
                <a:spcPts val="1000"/>
              </a:spcAft>
            </a:pPr>
            <a:r>
              <a:rPr b="0" sz="2000"/>
              <a:t>Define factory overheads vs admin/selling/finance costs</a:t>
            </a:r>
          </a:p>
          <a:p>
            <a:pPr>
              <a:spcAft>
                <a:spcPts val="1000"/>
              </a:spcAft>
            </a:pPr>
            <a:r>
              <a:rPr b="0" sz="2000"/>
              <a:t>Compute prime cost and production cost</a:t>
            </a:r>
          </a:p>
          <a:p>
            <a:pPr>
              <a:spcAft>
                <a:spcPts val="1000"/>
              </a:spcAft>
            </a:pPr>
            <a:r>
              <a:rPr b="0" sz="2000"/>
              <a:t>Apportion shared expenses between factory and office</a:t>
            </a:r>
          </a:p>
          <a:p>
            <a:pPr>
              <a:spcAft>
                <a:spcPts val="1000"/>
              </a:spcAft>
            </a:pPr>
            <a:r>
              <a:rPr b="0" sz="2000"/>
              <a:t>Treat loose tools consumed as a factory overhead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Why manufacturers keep extra accounts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Trading account can't show cost of manufacturing</a:t>
            </a:r>
          </a:p>
          <a:p>
            <a:pPr>
              <a:spcAft>
                <a:spcPts val="1000"/>
              </a:spcAft>
            </a:pPr>
            <a:r>
              <a:rPr b="0" sz="2000"/>
              <a:t>It handles only finished goods — maker also holds raw materials and WIP</a:t>
            </a:r>
          </a:p>
          <a:p>
            <a:pPr>
              <a:spcAft>
                <a:spcPts val="1000"/>
              </a:spcAft>
            </a:pPr>
            <a:r>
              <a:rPr b="0" sz="2000"/>
              <a:t>Factory expenses (e.g. plant depreciation) wrongly land in P&amp;L otherwise</a:t>
            </a:r>
          </a:p>
          <a:p>
            <a:pPr>
              <a:spcAft>
                <a:spcPts val="1000"/>
              </a:spcAft>
            </a:pPr>
            <a:r>
              <a:rPr b="0" sz="2000"/>
              <a:t>Solution: manufacturing account → trading account → SFP</a:t>
            </a:r>
          </a:p>
          <a:p>
            <a:pPr>
              <a:spcAft>
                <a:spcPts val="1000"/>
              </a:spcAft>
            </a:pPr>
            <a:r>
              <a:rPr b="0" sz="2000"/>
              <a:t>Cost of manufactured goods transfers to trading account like purchases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Direct costs → prime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Direct materials: timber, nails, glue, varnish — traced to the product</a:t>
            </a:r>
          </a:p>
          <a:p>
            <a:pPr>
              <a:spcAft>
                <a:spcPts val="1000"/>
              </a:spcAft>
            </a:pPr>
            <a:r>
              <a:rPr b="0" sz="2000"/>
              <a:t>Direct labour: sawyers, joiners, machine operators — hands on product</a:t>
            </a:r>
          </a:p>
          <a:p>
            <a:pPr>
              <a:spcAft>
                <a:spcPts val="1000"/>
              </a:spcAft>
            </a:pPr>
            <a:r>
              <a:rPr b="0" sz="2000"/>
              <a:t>Direct expenses: royalties per unit, special equipment hire for a job</a:t>
            </a:r>
          </a:p>
          <a:p>
            <a:pPr>
              <a:spcAft>
                <a:spcPts val="1000"/>
              </a:spcAft>
            </a:pPr>
            <a:r>
              <a:rPr b="0" sz="2000"/>
              <a:t>Prime cost = direct materials + direct labour + direct expenses</a:t>
            </a:r>
          </a:p>
          <a:p>
            <a:pPr>
              <a:spcAft>
                <a:spcPts val="1000"/>
              </a:spcAft>
            </a:pPr>
            <a:r>
              <a:rPr b="0" sz="2000"/>
              <a:t>Prime cost = first subtotal of the manufacturing account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Factory overheads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Indirect manufacturing (factory) overheads: indirect labour, factory rent</a:t>
            </a:r>
          </a:p>
          <a:p>
            <a:pPr>
              <a:spcAft>
                <a:spcPts val="1000"/>
              </a:spcAft>
            </a:pPr>
            <a:r>
              <a:rPr b="0" sz="2000"/>
              <a:t>Factory power, heating, lighting; depreciation &amp; repairs of plant</a:t>
            </a:r>
          </a:p>
          <a:p>
            <a:pPr>
              <a:spcAft>
                <a:spcPts val="1000"/>
              </a:spcAft>
            </a:pPr>
            <a:r>
              <a:rPr b="0" sz="2000"/>
              <a:t>Indirect materials (lubricants); loose tools consumed</a:t>
            </a:r>
          </a:p>
          <a:p>
            <a:pPr>
              <a:spcAft>
                <a:spcPts val="1000"/>
              </a:spcAft>
            </a:pPr>
            <a:r>
              <a:rPr b="0" sz="2000"/>
              <a:t>Production cost = prime cost + factory overheads, adjusted for WIP</a:t>
            </a:r>
          </a:p>
          <a:p>
            <a:pPr>
              <a:spcAft>
                <a:spcPts val="1000"/>
              </a:spcAft>
            </a:pPr>
            <a:r>
              <a:rPr b="0" sz="2000"/>
              <a:t>The asset's LOCATION decides: plant depreciation → manufacturing account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Non-manufacturing costs → profit and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Administration: office rent, office salaries, office equipment depreciation</a:t>
            </a:r>
          </a:p>
          <a:p>
            <a:pPr>
              <a:spcAft>
                <a:spcPts val="1000"/>
              </a:spcAft>
            </a:pPr>
            <a:r>
              <a:rPr b="0" sz="2000"/>
              <a:t>Selling &amp; distribution: advertising, carriage outwards, delivery van depreciation</a:t>
            </a:r>
          </a:p>
          <a:p>
            <a:pPr>
              <a:spcAft>
                <a:spcPts val="1000"/>
              </a:spcAft>
            </a:pPr>
            <a:r>
              <a:rPr b="0" sz="2000"/>
              <a:t>Finance costs: bank charges, discount allowed, debenture interest</a:t>
            </a:r>
          </a:p>
          <a:p>
            <a:pPr>
              <a:spcAft>
                <a:spcPts val="1000"/>
              </a:spcAft>
            </a:pPr>
            <a:r>
              <a:rPr b="0" sz="2000"/>
              <a:t>Classic trap: van depreciation → P&amp;L; plant depreciation → manufacturing</a:t>
            </a:r>
          </a:p>
          <a:p>
            <a:pPr>
              <a:spcAft>
                <a:spcPts val="1000"/>
              </a:spcAft>
            </a:pPr>
            <a:r>
              <a:rPr b="0" sz="2000"/>
              <a:t>Depreciation's home = where the asset works, not the word "depreciation"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Apportioning shared expenses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Apply given ratio mechanically to the given total (rent 3:1 factory:office)</a:t>
            </a:r>
          </a:p>
          <a:p>
            <a:pPr>
              <a:spcAft>
                <a:spcPts val="1000"/>
              </a:spcAft>
            </a:pPr>
            <a:r>
              <a:rPr b="0" sz="2000"/>
              <a:t>Rent 600,000 → factory 450,000 (manufacturing); office 150,000 (P&amp;L)</a:t>
            </a:r>
          </a:p>
          <a:p>
            <a:pPr>
              <a:spcAft>
                <a:spcPts val="1000"/>
              </a:spcAft>
            </a:pPr>
            <a:r>
              <a:rPr b="0" sz="2000"/>
              <a:t>Metered electricity 180,000 factory / 60,000 office — no ratio needed</a:t>
            </a:r>
          </a:p>
          <a:p>
            <a:pPr>
              <a:spcAft>
                <a:spcPts val="1000"/>
              </a:spcAft>
            </a:pPr>
            <a:r>
              <a:rPr b="0" sz="2000"/>
              <a:t>Carriage inwards on materials → manufacturing; carriage outwards → selling</a:t>
            </a:r>
          </a:p>
          <a:p>
            <a:pPr>
              <a:spcAft>
                <a:spcPts val="1000"/>
              </a:spcAft>
            </a:pPr>
            <a:r>
              <a:rPr b="0" sz="2000"/>
              <a:t>Returns outwards reduce material cost; discount received → P&amp;L income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Cost build-up and exam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Loose tools consumed = opening + purchases − closing stock</a:t>
            </a:r>
          </a:p>
          <a:p>
            <a:pPr>
              <a:spcAft>
                <a:spcPts val="1000"/>
              </a:spcAft>
            </a:pPr>
            <a:r>
              <a:rPr b="0" sz="2000"/>
              <a:t>Borderline test: can it be traced to units? → direct; else indirect</a:t>
            </a:r>
          </a:p>
          <a:p>
            <a:pPr>
              <a:spcAft>
                <a:spcPts val="1000"/>
              </a:spcAft>
            </a:pPr>
            <a:r>
              <a:rPr b="0" sz="2000"/>
              <a:t>Factory manager's salary = INDIRECT (factory overhead), never direct labour</a:t>
            </a:r>
          </a:p>
          <a:p>
            <a:pPr>
              <a:spcAft>
                <a:spcPts val="1000"/>
              </a:spcAft>
            </a:pPr>
            <a:r>
              <a:rPr b="0" sz="2000"/>
              <a:t>Memory mantra: direct goes in, indirect joins it, office stays out</a:t>
            </a:r>
          </a:p>
          <a:p>
            <a:pPr>
              <a:spcAft>
                <a:spcPts val="1000"/>
              </a:spcAft>
            </a:pPr>
            <a:r>
              <a:rPr b="0" sz="2000"/>
              <a:t>Write "Prime cost" and "Production cost" as labelled subtotals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Seeing "rent"/"electricity"/"depreciation" → ask factory or office first</a:t>
            </a:r>
          </a:p>
          <a:p>
            <a:pPr>
              <a:spcAft>
                <a:spcPts val="1000"/>
              </a:spcAft>
            </a:pPr>
            <a:r>
              <a:rPr b="0" sz="2000"/>
              <a:t>Carriage inwards = manufacturing; carriage outwards = selling</a:t>
            </a:r>
          </a:p>
          <a:p>
            <a:pPr>
              <a:spcAft>
                <a:spcPts val="1000"/>
              </a:spcAft>
            </a:pPr>
            <a:r>
              <a:rPr b="0" sz="2000"/>
              <a:t>Loose tools: opening + purchases − closing = factory overhead consumed</a:t>
            </a:r>
          </a:p>
          <a:p>
            <a:pPr>
              <a:spcAft>
                <a:spcPts val="1000"/>
              </a:spcAft>
            </a:pPr>
            <a:r>
              <a:rPr b="0" sz="2000"/>
              <a:t>Discount received never reduces material cost — it goes to P&amp;L</a:t>
            </a:r>
          </a:p>
          <a:p>
            <a:pPr>
              <a:spcAft>
                <a:spcPts val="1000"/>
              </a:spcAft>
            </a:pPr>
            <a:r>
              <a:rPr b="0" sz="2000"/>
              <a:t>Classification marks are awarded independently of later arithmetic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