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Types of Errors Not Revealed by the Trial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Correction of Errors and Suspense Accounts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Explain why a balanced trial balance does not guarantee error-free books</a:t>
            </a:r>
          </a:p>
          <a:p>
            <a:pPr>
              <a:spcAft>
                <a:spcPts val="1000"/>
              </a:spcAft>
            </a:pPr>
            <a:r>
              <a:rPr b="0" sz="2000"/>
              <a:t>Classify errors that do and do not affect trial balance agreement</a:t>
            </a:r>
          </a:p>
          <a:p>
            <a:pPr>
              <a:spcAft>
                <a:spcPts val="1000"/>
              </a:spcAft>
            </a:pPr>
            <a:r>
              <a:rPr b="0" sz="2000"/>
              <a:t>Identify the seven errors that leave the trial balance balanced</a:t>
            </a:r>
          </a:p>
          <a:p>
            <a:pPr>
              <a:spcAft>
                <a:spcPts val="1000"/>
              </a:spcAft>
            </a:pPr>
            <a:r>
              <a:rPr b="0" sz="2000"/>
              <a:t>Pass journal entries with narratives to correct each error type</a:t>
            </a:r>
          </a:p>
          <a:p>
            <a:pPr>
              <a:spcAft>
                <a:spcPts val="1000"/>
              </a:spcAft>
            </a:pPr>
            <a:r>
              <a:rPr b="0" sz="2000"/>
              <a:t>Apply the doubling rule for complete reversals of entries</a:t>
            </a:r>
          </a:p>
          <a:p>
            <a:pPr>
              <a:spcAft>
                <a:spcPts val="1000"/>
              </a:spcAft>
            </a:pPr>
            <a:r>
              <a:rPr b="0" sz="2000"/>
              <a:t>Use the divisibility-by-nine test to trace transposition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Why a balanced trial balance is not proof of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The trial balance proves only arithmetical accuracy of double entry</a:t>
            </a:r>
          </a:p>
          <a:p>
            <a:pPr>
              <a:spcAft>
                <a:spcPts val="1000"/>
              </a:spcAft>
            </a:pPr>
            <a:r>
              <a:rPr b="0" sz="2000"/>
              <a:t>Some errors keep debits = credits, so the balance still agrees</a:t>
            </a:r>
          </a:p>
          <a:p>
            <a:pPr>
              <a:spcAft>
                <a:spcPts val="1000"/>
              </a:spcAft>
            </a:pPr>
            <a:r>
              <a:rPr b="0" sz="2000"/>
              <a:t>KASNEB splits errors: affect TB agreement vs do not affect it</a:t>
            </a:r>
          </a:p>
          <a:p>
            <a:pPr>
              <a:spcAft>
                <a:spcPts val="1000"/>
              </a:spcAft>
            </a:pPr>
            <a:r>
              <a:rPr b="0" sz="2000"/>
              <a:t>Errors affecting agreement need a suspense account (Lesson 2)</a:t>
            </a:r>
          </a:p>
          <a:p>
            <a:pPr>
              <a:spcAft>
                <a:spcPts val="1000"/>
              </a:spcAft>
            </a:pPr>
            <a:r>
              <a:rPr b="0" sz="2000"/>
              <a:t>Golden rule: every correction is journalised via the General Journal</a:t>
            </a:r>
          </a:p>
          <a:p>
            <a:pPr>
              <a:spcAft>
                <a:spcPts val="1000"/>
              </a:spcAft>
            </a:pPr>
            <a:r>
              <a:rPr b="0" sz="2000"/>
              <a:t>Every correction needs a clear narrative — examiners award marks for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Errors 1–3: omission, principle, commission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Omission: transaction completely unrecorded; TB unaffected</a:t>
            </a:r>
          </a:p>
          <a:p>
            <a:pPr>
              <a:spcAft>
                <a:spcPts val="1000"/>
              </a:spcAft>
            </a:pPr>
            <a:r>
              <a:rPr b="0" sz="2000"/>
              <a:t>Omission correction: simply record the entry through the journal</a:t>
            </a:r>
          </a:p>
          <a:p>
            <a:pPr>
              <a:spcAft>
                <a:spcPts val="1000"/>
              </a:spcAft>
            </a:pPr>
            <a:r>
              <a:rPr b="0" sz="2000"/>
              <a:t>Principle: wrong class of account, e.g. furniture debited to purchases</a:t>
            </a:r>
          </a:p>
          <a:p>
            <a:pPr>
              <a:spcAft>
                <a:spcPts val="1000"/>
              </a:spcAft>
            </a:pPr>
            <a:r>
              <a:rPr b="0" sz="2000"/>
              <a:t>Principle correction: Dr correct account / Cr wrong account</a:t>
            </a:r>
          </a:p>
          <a:p>
            <a:pPr>
              <a:spcAft>
                <a:spcPts val="1000"/>
              </a:spcAft>
            </a:pPr>
            <a:r>
              <a:rPr b="0" sz="2000"/>
              <a:t>Commission: wrong personal account in the same class (D. → P. Waithaka)</a:t>
            </a:r>
          </a:p>
          <a:p>
            <a:pPr>
              <a:spcAft>
                <a:spcPts val="1000"/>
              </a:spcAft>
            </a:pPr>
            <a:r>
              <a:rPr b="0" sz="2000"/>
              <a:t>Commission correction: transfer the amount between the two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Errors 4–5: compensating and original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Compensating: two errors cancel out, e.g. both returns overstated by Sh.2,000</a:t>
            </a:r>
          </a:p>
          <a:p>
            <a:pPr>
              <a:spcAft>
                <a:spcPts val="1000"/>
              </a:spcAft>
            </a:pPr>
            <a:r>
              <a:rPr b="0" sz="2000"/>
              <a:t>Correction: Dr Purchases returns 2,000 / Cr Sales returns 2,000</a:t>
            </a:r>
          </a:p>
          <a:p>
            <a:pPr>
              <a:spcAft>
                <a:spcPts val="1000"/>
              </a:spcAft>
            </a:pPr>
            <a:r>
              <a:rPr b="0" sz="2000"/>
              <a:t>Original entry: wrong figure used on both sides, e.g. Sh.20,000 as Sh.200,000</a:t>
            </a:r>
          </a:p>
          <a:p>
            <a:pPr>
              <a:spcAft>
                <a:spcPts val="1000"/>
              </a:spcAft>
            </a:pPr>
            <a:r>
              <a:rPr b="0" sz="2000"/>
              <a:t>Correct only the excess: Dr Cash 180,000 / Cr Purchases 180,000</a:t>
            </a:r>
          </a:p>
          <a:p>
            <a:pPr>
              <a:spcAft>
                <a:spcPts val="1000"/>
              </a:spcAft>
            </a:pPr>
            <a:r>
              <a:rPr b="0" sz="2000"/>
              <a:t>Double entry was observed — so no suspense account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Errors 6–7: complete reversal and transposition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Complete reversal: correct accounts and amounts, but wrong sides on both</a:t>
            </a:r>
          </a:p>
          <a:p>
            <a:pPr>
              <a:spcAft>
                <a:spcPts val="1000"/>
              </a:spcAft>
            </a:pPr>
            <a:r>
              <a:rPr b="0" sz="2000"/>
              <a:t>Correct in two stages: cancel the wrong entry, then record the right one</a:t>
            </a:r>
          </a:p>
          <a:p>
            <a:pPr>
              <a:spcAft>
                <a:spcPts val="1000"/>
              </a:spcAft>
            </a:pPr>
            <a:r>
              <a:rPr b="0" sz="2000"/>
              <a:t>Doubling rule: combine into one entry with double the amount</a:t>
            </a:r>
          </a:p>
          <a:p>
            <a:pPr>
              <a:spcAft>
                <a:spcPts val="1000"/>
              </a:spcAft>
            </a:pPr>
            <a:r>
              <a:rPr b="0" sz="2000"/>
              <a:t>Example: drawings Sh.1,250 reversed → Dr Drawings 2,500 / Cr Purchases 2,500</a:t>
            </a:r>
          </a:p>
          <a:p>
            <a:pPr>
              <a:spcAft>
                <a:spcPts val="1000"/>
              </a:spcAft>
            </a:pPr>
            <a:r>
              <a:rPr b="0" sz="2000"/>
              <a:t>Transposition: digits swapped, e.g. Sh.9,260 entered as Sh.6,290</a:t>
            </a:r>
          </a:p>
          <a:p>
            <a:pPr>
              <a:spcAft>
                <a:spcPts val="1000"/>
              </a:spcAft>
            </a:pPr>
            <a:r>
              <a:rPr b="0" sz="2000"/>
              <a:t>One-sided transposition → TB difference divisible by nine (2,970 ÷ 9 = 330)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example: journal corrections with narratives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Commission Sh.44,000 to rent receivable: Dr Rent rec. / Cr Commissions rec.</a:t>
            </a:r>
          </a:p>
          <a:p>
            <a:pPr>
              <a:spcAft>
                <a:spcPts val="1000"/>
              </a:spcAft>
            </a:pPr>
            <a:r>
              <a:rPr b="0" sz="2000"/>
              <a:t>Bank charges Sh.3,850 to rent: Dr Bank charges / Cr Rent account</a:t>
            </a:r>
          </a:p>
          <a:p>
            <a:pPr>
              <a:spcAft>
                <a:spcPts val="1000"/>
              </a:spcAft>
            </a:pPr>
            <a:r>
              <a:rPr b="0" sz="2000"/>
              <a:t>Sundry expenses Sh.1,150 omitted: Dr Sundry expenses / Cr Bank</a:t>
            </a:r>
          </a:p>
          <a:p>
            <a:pPr>
              <a:spcAft>
                <a:spcPts val="1000"/>
              </a:spcAft>
            </a:pPr>
            <a:r>
              <a:rPr b="0" sz="2000"/>
              <a:t>Fixtures Sh.23,700 in purchases: Dr Fixtures / Cr Purchases</a:t>
            </a:r>
          </a:p>
          <a:p>
            <a:pPr>
              <a:spcAft>
                <a:spcPts val="1000"/>
              </a:spcAft>
            </a:pPr>
            <a:r>
              <a:rPr b="0" sz="2000"/>
              <a:t>Each entry balances and names the error type in its narrative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Common exam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'TB balances, so no errors' — false; memorise all seven error types</a:t>
            </a:r>
          </a:p>
          <a:p>
            <a:pPr>
              <a:spcAft>
                <a:spcPts val="1000"/>
              </a:spcAft>
            </a:pPr>
            <a:r>
              <a:rPr b="0" sz="2000"/>
              <a:t>A journal without a narrative loses KASNEB marks — never omit it</a:t>
            </a:r>
          </a:p>
          <a:p>
            <a:pPr>
              <a:spcAft>
                <a:spcPts val="1000"/>
              </a:spcAft>
            </a:pPr>
            <a:r>
              <a:rPr b="0" sz="2000"/>
              <a:t>For complete reversals, one original-amount entry only cancels the error</a:t>
            </a:r>
          </a:p>
          <a:p>
            <a:pPr>
              <a:spcAft>
                <a:spcPts val="1000"/>
              </a:spcAft>
            </a:pPr>
            <a:r>
              <a:rPr b="0" sz="2000"/>
              <a:t>These errors never use a suspense account — both legs are ordinary accounts</a:t>
            </a:r>
          </a:p>
          <a:p>
            <a:pPr>
              <a:spcAft>
                <a:spcPts val="1000"/>
              </a:spcAft>
            </a:pPr>
            <a:r>
              <a:rPr b="0" sz="2000"/>
              <a:t>Commission = wrong person, same class; principle = wrong class entirely</a:t>
            </a:r>
          </a:p>
          <a:p>
            <a:pPr>
              <a:spcAft>
                <a:spcPts val="1000"/>
              </a:spcAft>
            </a:pPr>
            <a:r>
              <a:rPr b="0" sz="2000"/>
              <a:t>The ÷9 test applies only when the transposition hits one side of the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 balanced TB proves arithmetical accuracy only — seven error types hide from it</a:t>
            </a:r>
          </a:p>
          <a:p>
            <a:pPr>
              <a:spcAft>
                <a:spcPts val="1000"/>
              </a:spcAft>
            </a:pPr>
            <a:r>
              <a:rPr b="0" sz="2000"/>
              <a:t>All corrections pass through the General Journal with a narrative</a:t>
            </a:r>
          </a:p>
          <a:p>
            <a:pPr>
              <a:spcAft>
                <a:spcPts val="1000"/>
              </a:spcAft>
            </a:pPr>
            <a:r>
              <a:rPr b="0" sz="2000"/>
              <a:t>Complete reversals: double the amount (cancel + re-record in one entry)</a:t>
            </a:r>
          </a:p>
          <a:p>
            <a:pPr>
              <a:spcAft>
                <a:spcPts val="1000"/>
              </a:spcAft>
            </a:pPr>
            <a:r>
              <a:rPr b="0" sz="2000"/>
              <a:t>Transposition on one side: look for a TB difference divisible by nine</a:t>
            </a:r>
          </a:p>
          <a:p>
            <a:pPr>
              <a:spcAft>
                <a:spcPts val="1000"/>
              </a:spcAft>
            </a:pPr>
            <a:r>
              <a:rPr b="0" sz="2000"/>
              <a:t>If the TB 'still balanced', rule out the suspense account immediately</a:t>
            </a:r>
          </a:p>
          <a:p>
            <a:pPr>
              <a:spcAft>
                <a:spcPts val="1000"/>
              </a:spcAft>
            </a:pPr>
            <a:r>
              <a:rPr b="0" sz="2000"/>
              <a:t>Write the wrong and correct entries side by side before drafting the journal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