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Share Capital and Share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Company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Distinguish private vs public companies, equity vs debt capital</a:t>
            </a:r>
          </a:p>
          <a:p>
            <a:pPr>
              <a:spcAft>
                <a:spcPts val="1000"/>
              </a:spcAft>
            </a:pPr>
            <a:r>
              <a:rPr b="0" sz="2000"/>
              <a:t>Explain features of ordinary and preference shares</a:t>
            </a:r>
          </a:p>
          <a:p>
            <a:pPr>
              <a:spcAft>
                <a:spcPts val="1000"/>
              </a:spcAft>
            </a:pPr>
            <a:r>
              <a:rPr b="0" sz="2000"/>
              <a:t>Journalise share issues at par and at a premium</a:t>
            </a:r>
          </a:p>
          <a:p>
            <a:pPr>
              <a:spcAft>
                <a:spcPts val="1000"/>
              </a:spcAft>
            </a:pPr>
            <a:r>
              <a:rPr b="0" sz="2000"/>
              <a:t>Handle over-subscription and under-subscription</a:t>
            </a:r>
          </a:p>
          <a:p>
            <a:pPr>
              <a:spcAft>
                <a:spcPts val="1000"/>
              </a:spcAft>
            </a:pPr>
            <a:r>
              <a:rPr b="0" sz="2000"/>
              <a:t>Record rights issues and bonus (scrip) issues</a:t>
            </a:r>
          </a:p>
          <a:p>
            <a:pPr>
              <a:spcAft>
                <a:spcPts val="1000"/>
              </a:spcAft>
            </a:pPr>
            <a:r>
              <a:rPr b="0" sz="2000"/>
              <a:t>Apply the Kenyan rule: shares at a discount are illegal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companies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Company = ownership split into shares; liability limited to unpaid amount</a:t>
            </a:r>
          </a:p>
          <a:p>
            <a:pPr>
              <a:spcAft>
                <a:spcPts val="1000"/>
              </a:spcAft>
            </a:pPr>
            <a:r>
              <a:rPr b="0" sz="2000"/>
              <a:t>Private company: ends in "Limited"; cannot invite public investment</a:t>
            </a:r>
          </a:p>
          <a:p>
            <a:pPr>
              <a:spcAft>
                <a:spcPts val="1000"/>
              </a:spcAft>
            </a:pPr>
            <a:r>
              <a:rPr b="0" sz="2000"/>
              <a:t>Public company: ends in PLC; may list on Nairobi Securities Exchange</a:t>
            </a:r>
          </a:p>
          <a:p>
            <a:pPr>
              <a:spcAft>
                <a:spcPts val="1000"/>
              </a:spcAft>
            </a:pPr>
            <a:r>
              <a:rPr b="0" sz="2000"/>
              <a:t>Equity capital: contributed capital + retained earnings (most expensive)</a:t>
            </a:r>
          </a:p>
          <a:p>
            <a:pPr>
              <a:spcAft>
                <a:spcPts val="1000"/>
              </a:spcAft>
            </a:pPr>
            <a:r>
              <a:rPr b="0" sz="2000"/>
              <a:t>Debt capital: bank loans, debentures; interest paid whether or not in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Types of share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Ordinary shares: voting rights; no fixed dividend; paid last on liquidation</a:t>
            </a:r>
          </a:p>
          <a:p>
            <a:pPr>
              <a:spcAft>
                <a:spcPts val="1000"/>
              </a:spcAft>
            </a:pPr>
            <a:r>
              <a:rPr b="0" sz="2000"/>
              <a:t>Ordinary dividends paid only after preference holders paid in full</a:t>
            </a:r>
          </a:p>
          <a:p>
            <a:pPr>
              <a:spcAft>
                <a:spcPts val="1000"/>
              </a:spcAft>
            </a:pPr>
            <a:r>
              <a:rPr b="0" sz="2000"/>
              <a:t>Preference shares: hybrid; fixed dividend rate; paid before ordinary</a:t>
            </a:r>
          </a:p>
          <a:p>
            <a:pPr>
              <a:spcAft>
                <a:spcPts val="1000"/>
              </a:spcAft>
            </a:pPr>
            <a:r>
              <a:rPr b="0" sz="2000"/>
              <a:t>Preference ranks below debentures but above ordinary on liquidation</a:t>
            </a:r>
          </a:p>
          <a:p>
            <a:pPr>
              <a:spcAft>
                <a:spcPts val="1000"/>
              </a:spcAft>
            </a:pPr>
            <a:r>
              <a:rPr b="0" sz="2000"/>
              <a:t>Payment order → debenture interest → preference → ordinary dividends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Issue of shares: terms and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At par: issue price = nominal value (Sh.20 share at Sh.20)</a:t>
            </a:r>
          </a:p>
          <a:p>
            <a:pPr>
              <a:spcAft>
                <a:spcPts val="1000"/>
              </a:spcAft>
            </a:pPr>
            <a:r>
              <a:rPr b="0" sz="2000"/>
              <a:t>At premium: price &gt; nominal; excess = share premium (non-distributable)</a:t>
            </a:r>
          </a:p>
          <a:p>
            <a:pPr>
              <a:spcAft>
                <a:spcPts val="1000"/>
              </a:spcAft>
            </a:pPr>
            <a:r>
              <a:rPr b="0" sz="2000"/>
              <a:t>At discount: price &lt; nominal — ILLEGAL in Kenya, never journalise</a:t>
            </a:r>
          </a:p>
          <a:p>
            <a:pPr>
              <a:spcAft>
                <a:spcPts val="1000"/>
              </a:spcAft>
            </a:pPr>
            <a:r>
              <a:rPr b="0" sz="2000"/>
              <a:t>At par entry: Dr Share application / Cr Share capital</a:t>
            </a:r>
          </a:p>
          <a:p>
            <a:pPr>
              <a:spcAft>
                <a:spcPts val="1000"/>
              </a:spcAft>
            </a:pPr>
            <a:r>
              <a:rPr b="0" sz="2000"/>
              <a:t>At premium: split nominal → share capital, excess → share premium</a:t>
            </a:r>
          </a:p>
          <a:p>
            <a:pPr>
              <a:spcAft>
                <a:spcPts val="1000"/>
              </a:spcAft>
            </a:pPr>
            <a:r>
              <a:rPr b="0" sz="2000"/>
              <a:t>On receipt: Dr Bank / Cr Share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Over- and under-subscription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Over-subscribed: applications exceed offer → refund excess money</a:t>
            </a:r>
          </a:p>
          <a:p>
            <a:pPr>
              <a:spcAft>
                <a:spcPts val="1000"/>
              </a:spcAft>
            </a:pPr>
            <a:r>
              <a:rPr b="0" sz="2000"/>
              <a:t>Under-subscribed: record only shares applied for; rest is not a transaction</a:t>
            </a:r>
          </a:p>
          <a:p>
            <a:pPr>
              <a:spcAft>
                <a:spcPts val="1000"/>
              </a:spcAft>
            </a:pPr>
            <a:r>
              <a:rPr b="0" sz="2000"/>
              <a:t>Allotment entry credits share capital for allotted shares only</a:t>
            </a:r>
          </a:p>
          <a:p>
            <a:pPr>
              <a:spcAft>
                <a:spcPts val="1000"/>
              </a:spcAft>
            </a:pPr>
            <a:r>
              <a:rPr b="0" sz="2000"/>
              <a:t>Refund entry: Dr Share application / Cr Bank (excess × price)</a:t>
            </a:r>
          </a:p>
          <a:p>
            <a:pPr>
              <a:spcAft>
                <a:spcPts val="1000"/>
              </a:spcAft>
            </a:pPr>
            <a:r>
              <a:rPr b="0" sz="2000"/>
              <a:t>Exam trap: share premium credited with excess over nominal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Rights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Rights issue: pro-rata offer to existing holders, usually below market price</a:t>
            </a:r>
          </a:p>
          <a:p>
            <a:pPr>
              <a:spcAft>
                <a:spcPts val="1000"/>
              </a:spcAft>
            </a:pPr>
            <a:r>
              <a:rPr b="0" sz="2000"/>
              <a:t>Shareholder may exercise, sell, or ignore the rights</a:t>
            </a:r>
          </a:p>
          <a:p>
            <a:pPr>
              <a:spcAft>
                <a:spcPts val="1000"/>
              </a:spcAft>
            </a:pPr>
            <a:r>
              <a:rPr b="0" sz="2000"/>
              <a:t>First compute new shares from the ratio (e.g. 100,000 × 2/5 = 40,000)</a:t>
            </a:r>
          </a:p>
          <a:p>
            <a:pPr>
              <a:spcAft>
                <a:spcPts val="1000"/>
              </a:spcAft>
            </a:pPr>
            <a:r>
              <a:rPr b="0" sz="2000"/>
              <a:t>Premium per share = issue price − nominal (Sh.2.50 − Sh.2.00 = Sh.0.50)</a:t>
            </a:r>
          </a:p>
          <a:p>
            <a:pPr>
              <a:spcAft>
                <a:spcPts val="1000"/>
              </a:spcAft>
            </a:pPr>
            <a:r>
              <a:rPr b="0" sz="2000"/>
              <a:t>SFP extract: update share count, add premium to existing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Bonus (scrip)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Bonus (scrip) issue: free shares to existing holders — no cash raised</a:t>
            </a:r>
          </a:p>
          <a:p>
            <a:pPr>
              <a:spcAft>
                <a:spcPts val="1000"/>
              </a:spcAft>
            </a:pPr>
            <a:r>
              <a:rPr b="0" sz="2000"/>
              <a:t>Financed by capitalising share premium, general reserve or retained profits</a:t>
            </a:r>
          </a:p>
          <a:p>
            <a:pPr>
              <a:spcAft>
                <a:spcPts val="1000"/>
              </a:spcAft>
            </a:pPr>
            <a:r>
              <a:rPr b="0" sz="2000"/>
              <a:t>Entry: Dr Share premium / reserve / retained profits; Cr Share capital</a:t>
            </a:r>
          </a:p>
          <a:p>
            <a:pPr>
              <a:spcAft>
                <a:spcPts val="1000"/>
              </a:spcAft>
            </a:pPr>
            <a:r>
              <a:rPr b="0" sz="2000"/>
              <a:t>Total equity UNCHANGED — merely re-labels reserves as capital</a:t>
            </a:r>
          </a:p>
          <a:p>
            <a:pPr>
              <a:spcAft>
                <a:spcPts val="1000"/>
              </a:spcAft>
            </a:pPr>
            <a:r>
              <a:rPr b="0" sz="2000"/>
              <a:t>Why do it? Makes shares more marketable; signals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Split issue price: nominal → share capital, excess → share premium</a:t>
            </a:r>
          </a:p>
          <a:p>
            <a:pPr>
              <a:spcAft>
                <a:spcPts val="1000"/>
              </a:spcAft>
            </a:pPr>
            <a:r>
              <a:rPr b="0" sz="2000"/>
              <a:t>Rights/bonus: compute number of new shares from the ratio first</a:t>
            </a:r>
          </a:p>
          <a:p>
            <a:pPr>
              <a:spcAft>
                <a:spcPts val="1000"/>
              </a:spcAft>
            </a:pPr>
            <a:r>
              <a:rPr b="0" sz="2000"/>
              <a:t>Bonus issues never change total equity — check your SFP extract totals</a:t>
            </a:r>
          </a:p>
          <a:p>
            <a:pPr>
              <a:spcAft>
                <a:spcPts val="1000"/>
              </a:spcAft>
            </a:pPr>
            <a:r>
              <a:rPr b="0" sz="2000"/>
              <a:t>Never create a "discount on issue" account in a Kenyan answer</a:t>
            </a:r>
          </a:p>
          <a:p>
            <a:pPr>
              <a:spcAft>
                <a:spcPts val="1000"/>
              </a:spcAft>
            </a:pPr>
            <a:r>
              <a:rPr b="0" sz="2000"/>
              <a:t>Equity order: share capital (shares × nominal), then each reserve on own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