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Regulatory Framework, Professional Ethics and Accounting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Introduction to Accounting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Describe the roles of </a:t>
            </a:r>
            <a:r>
              <a:rPr b="1" sz="2000"/>
              <a:t>ICPAK</a:t>
            </a:r>
            <a:r>
              <a:rPr b="0" sz="2000"/>
              <a:t>, </a:t>
            </a:r>
            <a:r>
              <a:rPr b="1" sz="2000"/>
              <a:t>IFAC</a:t>
            </a:r>
            <a:r>
              <a:rPr b="0" sz="2000"/>
              <a:t> and the </a:t>
            </a:r>
            <a:r>
              <a:rPr b="1" sz="2000"/>
              <a:t>IASB</a:t>
            </a:r>
          </a:p>
          <a:p>
            <a:pPr>
              <a:spcAft>
                <a:spcPts val="1000"/>
              </a:spcAft>
            </a:pPr>
            <a:r>
              <a:rPr b="0" sz="2000"/>
              <a:t>Explain the importance and limitations of standards</a:t>
            </a:r>
          </a:p>
          <a:p>
            <a:pPr>
              <a:spcAft>
                <a:spcPts val="1000"/>
              </a:spcAft>
            </a:pPr>
            <a:r>
              <a:rPr b="0" sz="2000"/>
              <a:t>State the five fundamental ethical principles</a:t>
            </a:r>
          </a:p>
          <a:p>
            <a:pPr>
              <a:spcAft>
                <a:spcPts val="1000"/>
              </a:spcAft>
            </a:pPr>
            <a:r>
              <a:rPr b="0" sz="2000"/>
              <a:t>Explain the major accounting concepts and principles</a:t>
            </a:r>
          </a:p>
          <a:p>
            <a:pPr>
              <a:spcAft>
                <a:spcPts val="1000"/>
              </a:spcAft>
            </a:pPr>
            <a:r>
              <a:rPr b="0" sz="2000"/>
              <a:t>Apply concepts to KASNEB-style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regulatory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ICPAK</a:t>
            </a:r>
            <a:r>
              <a:rPr b="0" sz="2000"/>
              <a:t> (est. 1978) – regulates Kenyan profession; Accountants Act 2008</a:t>
            </a:r>
          </a:p>
          <a:p>
            <a:pPr>
              <a:spcAft>
                <a:spcPts val="1000"/>
              </a:spcAft>
            </a:pPr>
            <a:r>
              <a:rPr b="1" sz="2000"/>
              <a:t>IFAC</a:t>
            </a:r>
            <a:r>
              <a:rPr b="0" sz="2000"/>
              <a:t> (1977, Munich) – global umbrella; boards IPSASB, IAASB, IESBA…</a:t>
            </a:r>
          </a:p>
          <a:p>
            <a:pPr>
              <a:spcAft>
                <a:spcPts val="1000"/>
              </a:spcAft>
            </a:pPr>
            <a:r>
              <a:rPr b="1" sz="2000"/>
              <a:t>IASB</a:t>
            </a:r>
            <a:r>
              <a:rPr b="0" sz="2000"/>
              <a:t> (2001, 14 members) – issues IFRS under IFRS Foundation</a:t>
            </a:r>
          </a:p>
          <a:p>
            <a:pPr>
              <a:spcAft>
                <a:spcPts val="1000"/>
              </a:spcAft>
            </a:pPr>
            <a:r>
              <a:rPr b="0" sz="2000"/>
              <a:t>Exam favourite: ICPAK regulates Kenya; IFAC = global; IASB = standards</a:t>
            </a:r>
          </a:p>
          <a:p>
            <a:pPr>
              <a:spcAft>
                <a:spcPts val="1000"/>
              </a:spcAft>
            </a:pPr>
            <a:r>
              <a:rPr b="0" sz="2000"/>
              <a:t>Core values: Credibility, Professionalism, Accountability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Accounting standards: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Comparability</a:t>
            </a:r>
            <a:r>
              <a:rPr b="0" sz="2000"/>
              <a:t> – 'apples to apples' across entities</a:t>
            </a:r>
          </a:p>
          <a:p>
            <a:pPr>
              <a:spcAft>
                <a:spcPts val="1000"/>
              </a:spcAft>
            </a:pPr>
            <a:r>
              <a:rPr b="1" sz="2000"/>
              <a:t>Transparency</a:t>
            </a:r>
            <a:r>
              <a:rPr b="0" sz="2000"/>
              <a:t> – limits clever accounting that hides items</a:t>
            </a:r>
          </a:p>
          <a:p>
            <a:pPr>
              <a:spcAft>
                <a:spcPts val="1000"/>
              </a:spcAft>
            </a:pPr>
            <a:r>
              <a:rPr b="1" sz="2000"/>
              <a:t>Relevance</a:t>
            </a:r>
            <a:r>
              <a:rPr b="0" sz="2000"/>
              <a:t> – information observers actually care about</a:t>
            </a:r>
          </a:p>
          <a:p>
            <a:pPr>
              <a:spcAft>
                <a:spcPts val="1000"/>
              </a:spcAft>
            </a:pPr>
            <a:r>
              <a:rPr b="1" sz="2000"/>
              <a:t>Audience confidence</a:t>
            </a:r>
            <a:r>
              <a:rPr b="0" sz="2000"/>
              <a:t> – investors and regulators can trust the numbers</a:t>
            </a:r>
          </a:p>
          <a:p>
            <a:pPr>
              <a:spcAft>
                <a:spcPts val="1000"/>
              </a:spcAft>
            </a:pPr>
            <a:r>
              <a:rPr b="0" sz="2000"/>
              <a:t>Limitations: rigid; alternative treatments; cannot override statute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Five fundamental ethical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Integrity</a:t>
            </a:r>
            <a:r>
              <a:rPr b="0" sz="2000"/>
              <a:t> – straightforward and honest</a:t>
            </a:r>
          </a:p>
          <a:p>
            <a:pPr>
              <a:spcAft>
                <a:spcPts val="1000"/>
              </a:spcAft>
            </a:pPr>
            <a:r>
              <a:rPr b="1" sz="2000"/>
              <a:t>Objectivity</a:t>
            </a:r>
            <a:r>
              <a:rPr b="0" sz="2000"/>
              <a:t> – no bias, conflicts or undue influence</a:t>
            </a:r>
          </a:p>
          <a:p>
            <a:pPr>
              <a:spcAft>
                <a:spcPts val="1000"/>
              </a:spcAft>
            </a:pPr>
            <a:r>
              <a:rPr b="1" sz="2000"/>
              <a:t>Professional competence and due care</a:t>
            </a:r>
            <a:r>
              <a:rPr b="0" sz="2000"/>
              <a:t> – current, competent service</a:t>
            </a:r>
          </a:p>
          <a:p>
            <a:pPr>
              <a:spcAft>
                <a:spcPts val="1000"/>
              </a:spcAft>
            </a:pPr>
            <a:r>
              <a:rPr b="1" sz="2000"/>
              <a:t>Confidentiality</a:t>
            </a:r>
            <a:r>
              <a:rPr b="0" sz="2000"/>
              <a:t> – no disclosure without authority</a:t>
            </a:r>
          </a:p>
          <a:p>
            <a:pPr>
              <a:spcAft>
                <a:spcPts val="1000"/>
              </a:spcAft>
            </a:pPr>
            <a:r>
              <a:rPr b="1" sz="2000"/>
              <a:t>Professional behaviour</a:t>
            </a:r>
            <a:r>
              <a:rPr b="0" sz="2000"/>
              <a:t> – obey laws; do not discredit the profession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Core concepts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Going concern</a:t>
            </a:r>
            <a:r>
              <a:rPr b="0" sz="2000"/>
              <a:t> – entity will continue; else break-up basis</a:t>
            </a:r>
          </a:p>
          <a:p>
            <a:pPr>
              <a:spcAft>
                <a:spcPts val="1000"/>
              </a:spcAft>
            </a:pPr>
            <a:r>
              <a:rPr b="1" sz="2000"/>
              <a:t>Accruals</a:t>
            </a:r>
            <a:r>
              <a:rPr b="0" sz="2000"/>
              <a:t> – recognise in the period it relates to, not cash date</a:t>
            </a:r>
          </a:p>
          <a:p>
            <a:pPr>
              <a:spcAft>
                <a:spcPts val="1000"/>
              </a:spcAft>
            </a:pPr>
            <a:r>
              <a:rPr b="1" sz="2000"/>
              <a:t>Business entity</a:t>
            </a:r>
            <a:r>
              <a:rPr b="0" sz="2000"/>
              <a:t> – business separate from owner (why capital is a credit)</a:t>
            </a:r>
          </a:p>
          <a:p>
            <a:pPr>
              <a:spcAft>
                <a:spcPts val="1000"/>
              </a:spcAft>
            </a:pPr>
            <a:r>
              <a:rPr b="1" sz="2000"/>
              <a:t>Money measurement</a:t>
            </a:r>
            <a:r>
              <a:rPr b="0" sz="2000"/>
              <a:t> – only what is measurable in money (no employee skills)</a:t>
            </a:r>
          </a:p>
          <a:p>
            <a:pPr>
              <a:spcAft>
                <a:spcPts val="1000"/>
              </a:spcAft>
            </a:pPr>
            <a:r>
              <a:rPr b="1" sz="2000"/>
              <a:t>Duality</a:t>
            </a:r>
            <a:r>
              <a:rPr b="0" sz="2000"/>
              <a:t> – every transaction has debit and credit aspects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Core concepts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Realization</a:t>
            </a:r>
            <a:r>
              <a:rPr b="0" sz="2000"/>
              <a:t> – revenue when earned, not when cash received</a:t>
            </a:r>
          </a:p>
          <a:p>
            <a:pPr>
              <a:spcAft>
                <a:spcPts val="1000"/>
              </a:spcAft>
            </a:pPr>
            <a:r>
              <a:rPr b="1" sz="2000"/>
              <a:t>Matching</a:t>
            </a:r>
            <a:r>
              <a:rPr b="0" sz="2000"/>
              <a:t> – expenses charged against the revenue they earned</a:t>
            </a:r>
          </a:p>
          <a:p>
            <a:pPr>
              <a:spcAft>
                <a:spcPts val="1000"/>
              </a:spcAft>
            </a:pPr>
            <a:r>
              <a:rPr b="1" sz="2000"/>
              <a:t>Prudence</a:t>
            </a:r>
            <a:r>
              <a:rPr b="0" sz="2000"/>
              <a:t> – caution: never overstate assets/income; but no secret reserves</a:t>
            </a:r>
          </a:p>
          <a:p>
            <a:pPr>
              <a:spcAft>
                <a:spcPts val="1000"/>
              </a:spcAft>
            </a:pPr>
            <a:r>
              <a:rPr b="1" sz="2000"/>
              <a:t>Substance over form</a:t>
            </a:r>
            <a:r>
              <a:rPr b="0" sz="2000"/>
              <a:t> – economic reality beats legal form (finance lease)</a:t>
            </a:r>
          </a:p>
          <a:p>
            <a:pPr>
              <a:spcAft>
                <a:spcPts val="1000"/>
              </a:spcAft>
            </a:pPr>
            <a:r>
              <a:rPr b="1" sz="2000"/>
              <a:t>Materiality</a:t>
            </a:r>
            <a:r>
              <a:rPr b="0" sz="2000"/>
              <a:t> – would omission influence a user's decision?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Qualities of useful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Consistency/comparability</a:t>
            </a:r>
            <a:r>
              <a:rPr b="0" sz="2000"/>
              <a:t> – same policies period to period</a:t>
            </a:r>
          </a:p>
          <a:p>
            <a:pPr>
              <a:spcAft>
                <a:spcPts val="1000"/>
              </a:spcAft>
            </a:pPr>
            <a:r>
              <a:rPr b="1" sz="2000"/>
              <a:t>Timeliness</a:t>
            </a:r>
            <a:r>
              <a:rPr b="0" sz="2000"/>
              <a:t> – available when decisions are made (IAS 10)</a:t>
            </a:r>
          </a:p>
          <a:p>
            <a:pPr>
              <a:spcAft>
                <a:spcPts val="1000"/>
              </a:spcAft>
            </a:pPr>
            <a:r>
              <a:rPr b="1" sz="2000"/>
              <a:t>Relevance</a:t>
            </a:r>
            <a:r>
              <a:rPr b="0" sz="2000"/>
              <a:t> – predictive value (EPS trend) + confirmatory value</a:t>
            </a:r>
          </a:p>
          <a:p>
            <a:pPr>
              <a:spcAft>
                <a:spcPts val="1000"/>
              </a:spcAft>
            </a:pPr>
            <a:r>
              <a:rPr b="1" sz="2000"/>
              <a:t>Reliability/faithful representation</a:t>
            </a:r>
            <a:r>
              <a:rPr b="0" sz="2000"/>
              <a:t> – verifiable, neutral, complete</a:t>
            </a:r>
          </a:p>
          <a:p>
            <a:pPr>
              <a:spcAft>
                <a:spcPts val="1000"/>
              </a:spcAft>
            </a:pPr>
            <a:r>
              <a:rPr b="0" sz="2000"/>
              <a:t>Relevance vs reliability trade-off — state it explicitly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Concept scenarios: spot the violation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Stock at selling price → violates </a:t>
            </a:r>
            <a:r>
              <a:rPr b="1" sz="2000"/>
              <a:t>prudence</a:t>
            </a:r>
            <a:r>
              <a:rPr b="0" sz="2000"/>
              <a:t> (use lower of cost and NRV)</a:t>
            </a:r>
          </a:p>
          <a:p>
            <a:pPr>
              <a:spcAft>
                <a:spcPts val="1000"/>
              </a:spcAft>
            </a:pPr>
            <a:r>
              <a:rPr b="0" sz="2000"/>
              <a:t>Director's private fuel as business expense → violates </a:t>
            </a:r>
            <a:r>
              <a:rPr b="1" sz="2000"/>
              <a:t>business entity</a:t>
            </a:r>
          </a:p>
          <a:p>
            <a:pPr>
              <a:spcAft>
                <a:spcPts val="1000"/>
              </a:spcAft>
            </a:pPr>
            <a:r>
              <a:rPr b="0" sz="2000"/>
              <a:t>Changing depreciation yearly to smooth profit → violates </a:t>
            </a:r>
            <a:r>
              <a:rPr b="1" sz="2000"/>
              <a:t>consistency</a:t>
            </a:r>
          </a:p>
          <a:p>
            <a:pPr>
              <a:spcAft>
                <a:spcPts val="1000"/>
              </a:spcAft>
            </a:pPr>
            <a:r>
              <a:rPr b="0" sz="2000"/>
              <a:t>Undisclosed bankruptcy-threatening lawsuit → destroys </a:t>
            </a:r>
            <a:r>
              <a:rPr b="1" sz="2000"/>
              <a:t>reliability</a:t>
            </a:r>
          </a:p>
          <a:p>
            <a:pPr>
              <a:spcAft>
                <a:spcPts val="1000"/>
              </a:spcAft>
            </a:pPr>
            <a:r>
              <a:rPr b="0" sz="2000"/>
              <a:t>Rent received in advance credited to income → violates </a:t>
            </a:r>
            <a:r>
              <a:rPr b="1" sz="2000"/>
              <a:t>accruals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Ethics: memorise the five principles word-perfect — 10 easy marks</a:t>
            </a:r>
          </a:p>
          <a:p>
            <a:pPr>
              <a:spcAft>
                <a:spcPts val="1000"/>
              </a:spcAft>
            </a:pPr>
            <a:r>
              <a:rPr b="0" sz="2000"/>
              <a:t>Regulators: ICPAK 1978, IFAC 1977 Munich, IASB 2001, Accountants Act 2008</a:t>
            </a:r>
          </a:p>
          <a:p>
            <a:pPr>
              <a:spcAft>
                <a:spcPts val="1000"/>
              </a:spcAft>
            </a:pPr>
            <a:r>
              <a:rPr b="0" sz="2000"/>
              <a:t>Prudence ≠ deliberate understatement — bias either way is wrong</a:t>
            </a:r>
          </a:p>
          <a:p>
            <a:pPr>
              <a:spcAft>
                <a:spcPts val="1000"/>
              </a:spcAft>
            </a:pPr>
            <a:r>
              <a:rPr b="0" sz="2000"/>
              <a:t>Realization: 'earned' ≠ 'cash received' — credit sale = revenue on sale date</a:t>
            </a:r>
          </a:p>
          <a:p>
            <a:pPr>
              <a:spcAft>
                <a:spcPts val="1000"/>
              </a:spcAft>
            </a:pPr>
            <a:r>
              <a:rPr b="0" sz="2000"/>
              <a:t>Use the book's examples: FIFO retailer, leased machine, lawsuit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