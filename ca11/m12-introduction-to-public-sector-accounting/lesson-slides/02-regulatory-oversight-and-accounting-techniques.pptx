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Regulatory Oversight and Accounting Techniques in the Public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Introduction to Public Sector Accounting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the IPSASB's role and the development of IPSAS</a:t>
            </a:r>
          </a:p>
          <a:p>
            <a:pPr>
              <a:spcAft>
                <a:spcPts val="1000"/>
              </a:spcAft>
            </a:pPr>
            <a:r>
              <a:rPr b="0" sz="2000"/>
              <a:t>Describe Kenya's PSASB: establishment, mandate, functions</a:t>
            </a:r>
          </a:p>
          <a:p>
            <a:pPr>
              <a:spcAft>
                <a:spcPts val="1000"/>
              </a:spcAft>
            </a:pPr>
            <a:r>
              <a:rPr b="0" sz="2000"/>
              <a:t>Outline the oversight bodies and the Accounting Officer's duties</a:t>
            </a:r>
          </a:p>
          <a:p>
            <a:pPr>
              <a:spcAft>
                <a:spcPts val="1000"/>
              </a:spcAft>
            </a:pPr>
            <a:r>
              <a:rPr b="0" sz="2000"/>
              <a:t>Distinguish the five public sector accounting techniques</a:t>
            </a:r>
          </a:p>
          <a:p>
            <a:pPr>
              <a:spcAft>
                <a:spcPts val="1000"/>
              </a:spcAft>
            </a:pPr>
            <a:r>
              <a:rPr b="0" sz="2000"/>
              <a:t>Explain the case for moving from cash to accrual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IPSASB and IPSAS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IPSASB: IFAC board for public sector reporting standards</a:t>
            </a:r>
          </a:p>
          <a:p>
            <a:pPr>
              <a:spcAft>
                <a:spcPts val="1000"/>
              </a:spcAft>
            </a:pPr>
            <a:r>
              <a:rPr b="0" sz="2000"/>
              <a:t>Issues IPSAS — benchmark guidance for governments worldwide</a:t>
            </a:r>
          </a:p>
          <a:p>
            <a:pPr>
              <a:spcAft>
                <a:spcPts val="1000"/>
              </a:spcAft>
            </a:pPr>
            <a:r>
              <a:rPr b="0" sz="2000"/>
              <a:t>1996 Standards Project: core IPSAS, cash-basis IPSAS, transition guide</a:t>
            </a:r>
          </a:p>
          <a:p>
            <a:pPr>
              <a:spcAft>
                <a:spcPts val="1000"/>
              </a:spcAft>
            </a:pPr>
            <a:r>
              <a:rPr b="0" sz="2000"/>
              <a:t>Pure governments → IPSAS; profit-oriented GBEs → IFRS</a:t>
            </a:r>
          </a:p>
          <a:p>
            <a:pPr>
              <a:spcAft>
                <a:spcPts val="1000"/>
              </a:spcAft>
            </a:pPr>
            <a:r>
              <a:rPr b="0" sz="2000"/>
              <a:t>Also runs education, research and information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Kenya's PSASB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Established under the Public Finance Management Act, 2012</a:t>
            </a:r>
          </a:p>
          <a:p>
            <a:pPr>
              <a:spcAft>
                <a:spcPts val="1000"/>
              </a:spcAft>
            </a:pPr>
            <a:r>
              <a:rPr b="0" sz="2000"/>
              <a:t>Mandate: prescribe accounting standards for the Kenyan public sector</a:t>
            </a:r>
          </a:p>
          <a:p>
            <a:pPr>
              <a:spcAft>
                <a:spcPts val="1000"/>
              </a:spcAft>
            </a:pPr>
            <a:r>
              <a:rPr b="0" sz="2000"/>
              <a:t>Sets reporting formats and templates for public entities</a:t>
            </a:r>
          </a:p>
          <a:p>
            <a:pPr>
              <a:spcAft>
                <a:spcPts val="1000"/>
              </a:spcAft>
            </a:pPr>
            <a:r>
              <a:rPr b="0" sz="2000"/>
              <a:t>Promotes compliance via guidance, training and monitoring</a:t>
            </a:r>
          </a:p>
          <a:p>
            <a:pPr>
              <a:spcAft>
                <a:spcPts val="1000"/>
              </a:spcAft>
            </a:pPr>
            <a:r>
              <a:rPr b="0" sz="2000"/>
              <a:t>IPSASB sets benchmarks; PSASB domesticates them into Kenyan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oversight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National Treasury: policy, Budget Estimates, Consolidated Fund, warrants</a:t>
            </a:r>
          </a:p>
          <a:p>
            <a:pPr>
              <a:spcAft>
                <a:spcPts val="1000"/>
              </a:spcAft>
            </a:pPr>
            <a:r>
              <a:rPr b="0" sz="2000"/>
              <a:t>Director of Accounting Services: chart of accounts, consolidation</a:t>
            </a:r>
          </a:p>
          <a:p>
            <a:pPr>
              <a:spcAft>
                <a:spcPts val="1000"/>
              </a:spcAft>
            </a:pPr>
            <a:r>
              <a:rPr b="0" sz="2000"/>
              <a:t>Accounting Officer: Treasury appointee, personally responsible per vote</a:t>
            </a:r>
          </a:p>
          <a:p>
            <a:pPr>
              <a:spcAft>
                <a:spcPts val="1000"/>
              </a:spcAft>
            </a:pPr>
            <a:r>
              <a:rPr b="0" sz="2000"/>
              <a:t>PAC (Parliament): examines AUDITED accounts via the Auditor-General</a:t>
            </a:r>
          </a:p>
          <a:p>
            <a:pPr>
              <a:spcAft>
                <a:spcPts val="1000"/>
              </a:spcAft>
            </a:pPr>
            <a:r>
              <a:rPr b="0" sz="2000"/>
              <a:t>Internal audit: risk-based, value-for-money, per international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Accounting Officer duties — the 8-mark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Mantra: lawful, authorised, effective, efficient, economical, transparent</a:t>
            </a:r>
          </a:p>
          <a:p>
            <a:pPr>
              <a:spcAft>
                <a:spcPts val="1000"/>
              </a:spcAft>
            </a:pPr>
            <a:r>
              <a:rPr b="0" sz="2000"/>
              <a:t>Proper records (with backups); annual accounts for audit</a:t>
            </a:r>
          </a:p>
          <a:p>
            <a:pPr>
              <a:spcAft>
                <a:spcPts val="1000"/>
              </a:spcAft>
            </a:pPr>
            <a:r>
              <a:rPr b="0" sz="2000"/>
              <a:t>Manage liabilities; ensure contracts complied with</a:t>
            </a:r>
          </a:p>
          <a:p>
            <a:pPr>
              <a:spcAft>
                <a:spcPts val="1000"/>
              </a:spcAft>
            </a:pPr>
            <a:r>
              <a:rPr b="0" sz="2000"/>
              <a:t>Safeguard property; escalate unlawful-use concerns to the Treasury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Auditor-General vs Controller of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Auditor-General: AUDITS and REPORTS on all public accounts</a:t>
            </a:r>
          </a:p>
          <a:p>
            <a:pPr>
              <a:spcAft>
                <a:spcPts val="1000"/>
              </a:spcAft>
            </a:pPr>
            <a:r>
              <a:rPr b="0" sz="2000"/>
              <a:t>'Controller and Auditor-General' in the text is the PRE-2010 title</a:t>
            </a:r>
          </a:p>
          <a:p>
            <a:pPr>
              <a:spcAft>
                <a:spcPts val="1000"/>
              </a:spcAft>
            </a:pPr>
            <a:r>
              <a:rPr b="0" sz="2000"/>
              <a:t>Controller of Budget: AUTHORISES withdrawals from public funds</a:t>
            </a:r>
          </a:p>
          <a:p>
            <a:pPr>
              <a:spcAft>
                <a:spcPts val="1000"/>
              </a:spcAft>
            </a:pPr>
            <a:r>
              <a:rPr b="0" sz="2000"/>
              <a:t>Controller: 8-year NON-renewable term; 10 yrs experience required</a:t>
            </a:r>
          </a:p>
          <a:p>
            <a:pPr>
              <a:spcAft>
                <a:spcPts val="1000"/>
              </a:spcAft>
            </a:pPr>
            <a:r>
              <a:rPr b="0" sz="2000"/>
              <a:t>Controller reports to each House of Parliament every FOUR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five techniques — budgetary, cash, accrual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Budgetary: accounts in budget format — control and performance benchmark</a:t>
            </a:r>
          </a:p>
          <a:p>
            <a:pPr>
              <a:spcAft>
                <a:spcPts val="1000"/>
              </a:spcAft>
            </a:pPr>
            <a:r>
              <a:rPr b="0" sz="2000"/>
              <a:t>Cash: records cash only; simple, traditional — but no asset/liability picture</a:t>
            </a:r>
          </a:p>
          <a:p>
            <a:pPr>
              <a:spcAft>
                <a:spcPts val="1000"/>
              </a:spcAft>
            </a:pPr>
            <a:r>
              <a:rPr b="0" sz="2000"/>
              <a:t>Cash flaws: no future costs; inputs not outputs; year-end spending sprees</a:t>
            </a:r>
          </a:p>
          <a:p>
            <a:pPr>
              <a:spcAft>
                <a:spcPts val="1000"/>
              </a:spcAft>
            </a:pPr>
            <a:r>
              <a:rPr b="0" sz="2000"/>
              <a:t>Accrual: earned/incurred; capitalise and depreciate assets</a:t>
            </a:r>
          </a:p>
          <a:p>
            <a:pPr>
              <a:spcAft>
                <a:spcPts val="1000"/>
              </a:spcAft>
            </a:pPr>
            <a:r>
              <a:rPr b="0" sz="2000"/>
              <a:t>Accrual enables OUTPUT-based budgeting — pay for services, not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Commitment and fund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Commitment: recognise when ORDERED — pre-spending budgetary control</a:t>
            </a:r>
          </a:p>
          <a:p>
            <a:pPr>
              <a:spcAft>
                <a:spcPts val="1000"/>
              </a:spcAft>
            </a:pPr>
            <a:r>
              <a:rPr b="0" sz="2000"/>
              <a:t>Fund: self-balancing set of accounts per purpose/restriction</a:t>
            </a:r>
          </a:p>
          <a:p>
            <a:pPr>
              <a:spcAft>
                <a:spcPts val="1000"/>
              </a:spcAft>
            </a:pPr>
            <a:r>
              <a:rPr b="0" sz="2000"/>
              <a:t>Governmental funds: General, Special Revenue, Capital Projects, Debt Service</a:t>
            </a:r>
          </a:p>
          <a:p>
            <a:pPr>
              <a:spcAft>
                <a:spcPts val="1000"/>
              </a:spcAft>
            </a:pPr>
            <a:r>
              <a:rPr b="0" sz="2000"/>
              <a:t>Proprietary: Enterprise, Internal Service. Fiduciary: trusts, pensions, agency</a:t>
            </a:r>
          </a:p>
          <a:p>
            <a:pPr>
              <a:spcAft>
                <a:spcPts val="1000"/>
              </a:spcAft>
            </a:pPr>
            <a:r>
              <a:rPr b="0" sz="2000"/>
              <a:t>Fund accounting measures fund resources — NOT net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accountability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Estimates → Budget (Parliament) → Appropriations → Spending (vote book)</a:t>
            </a:r>
          </a:p>
          <a:p>
            <a:pPr>
              <a:spcAft>
                <a:spcPts val="1000"/>
              </a:spcAft>
            </a:pPr>
            <a:r>
              <a:rPr b="0" sz="2000"/>
              <a:t>Audit by Auditor-General → scrutiny by the Public Accounts Committee</a:t>
            </a:r>
          </a:p>
          <a:p>
            <a:pPr>
              <a:spcAft>
                <a:spcPts val="1000"/>
              </a:spcAft>
            </a:pPr>
            <a:r>
              <a:rPr b="0" sz="2000"/>
              <a:t>Consolidated Fund: single pot; nothing out without Parliament's approval</a:t>
            </a:r>
          </a:p>
          <a:p>
            <a:pPr>
              <a:spcAft>
                <a:spcPts val="1000"/>
              </a:spcAft>
            </a:pPr>
            <a:r>
              <a:rPr b="0" sz="2000"/>
              <a:t>Appropriations-in-Aid: specified revenues retained to meet expenditure</a:t>
            </a:r>
          </a:p>
          <a:p>
            <a:pPr>
              <a:spcAft>
                <a:spcPts val="1000"/>
              </a:spcAft>
            </a:pPr>
            <a:r>
              <a:rPr b="0" sz="2000"/>
              <a:t>Paymaster General: the government's banker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Learn the chain as a story: standards → spend → audit → scrutinise</a:t>
            </a:r>
          </a:p>
          <a:p>
            <a:pPr>
              <a:spcAft>
                <a:spcPts val="1000"/>
              </a:spcAft>
            </a:pPr>
            <a:r>
              <a:rPr b="0" sz="2000"/>
              <a:t>Cash → accrual is the exam debate: give BOTH sides, not one</a:t>
            </a:r>
          </a:p>
          <a:p>
            <a:pPr>
              <a:spcAft>
                <a:spcPts val="1000"/>
              </a:spcAft>
            </a:pPr>
            <a:r>
              <a:rPr b="0" sz="2000"/>
              <a:t>Fund types with one example each = a classic 6-marker</a:t>
            </a:r>
          </a:p>
          <a:p>
            <a:pPr>
              <a:spcAft>
                <a:spcPts val="1000"/>
              </a:spcAft>
            </a:pPr>
            <a:r>
              <a:rPr b="0" sz="2000"/>
              <a:t>Syllabus excludes vote-book preparation — but DEFINE its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