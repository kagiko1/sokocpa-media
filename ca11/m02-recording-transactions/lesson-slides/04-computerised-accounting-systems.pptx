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Computerised Accounting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Recording Transactions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Explain the role of computers in accounting</a:t>
            </a:r>
          </a:p>
          <a:p>
            <a:pPr>
              <a:spcAft>
                <a:spcPts val="1000"/>
              </a:spcAft>
            </a:pPr>
            <a:r>
              <a:rPr b="0" sz="2000"/>
              <a:t>State the objects of introducing computers</a:t>
            </a:r>
          </a:p>
          <a:p>
            <a:pPr>
              <a:spcAft>
                <a:spcPts val="1000"/>
              </a:spcAft>
            </a:pPr>
            <a:r>
              <a:rPr b="0" sz="2000"/>
              <a:t>Explain the need for computerised accounting</a:t>
            </a:r>
          </a:p>
          <a:p>
            <a:pPr>
              <a:spcAft>
                <a:spcPts val="1000"/>
              </a:spcAft>
            </a:pPr>
            <a:r>
              <a:rPr b="0" sz="2000"/>
              <a:t>Evaluate advantages vs disadvantages</a:t>
            </a:r>
          </a:p>
          <a:p>
            <a:pPr>
              <a:spcAft>
                <a:spcPts val="1000"/>
              </a:spcAft>
            </a:pPr>
            <a:r>
              <a:rPr b="0" sz="2000"/>
              <a:t>Discuss implementation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Role of computers in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From billing machines to </a:t>
            </a:r>
            <a:r>
              <a:rPr b="1" sz="2000"/>
              <a:t>real-time</a:t>
            </a:r>
            <a:r>
              <a:rPr b="0" sz="2000"/>
              <a:t> database systems</a:t>
            </a:r>
          </a:p>
          <a:p>
            <a:pPr>
              <a:spcAft>
                <a:spcPts val="1000"/>
              </a:spcAft>
            </a:pPr>
            <a:r>
              <a:rPr b="0" sz="2000"/>
              <a:t>Stores and processes data with speed and accuracy</a:t>
            </a:r>
          </a:p>
          <a:p>
            <a:pPr>
              <a:spcAft>
                <a:spcPts val="1000"/>
              </a:spcAft>
            </a:pPr>
            <a:r>
              <a:rPr b="0" sz="2000"/>
              <a:t>Manual: journals, cash books, ledgers kept by hand</a:t>
            </a:r>
          </a:p>
          <a:p>
            <a:pPr>
              <a:spcAft>
                <a:spcPts val="1000"/>
              </a:spcAft>
            </a:pPr>
            <a:r>
              <a:rPr b="0" sz="2000"/>
              <a:t>Source documents become </a:t>
            </a:r>
            <a:r>
              <a:rPr b="1" sz="2000"/>
              <a:t>data-entry screens</a:t>
            </a:r>
          </a:p>
          <a:p>
            <a:pPr>
              <a:spcAft>
                <a:spcPts val="1000"/>
              </a:spcAft>
            </a:pPr>
            <a:r>
              <a:rPr b="0" sz="2000"/>
              <a:t>One invoice screen posts to sales, debtors, VAT and inventory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Objects of introducing computers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Labour saving</a:t>
            </a:r>
            <a:r>
              <a:rPr b="0" sz="2000"/>
              <a:t> – more work with existing staff</a:t>
            </a:r>
          </a:p>
          <a:p>
            <a:pPr>
              <a:spcAft>
                <a:spcPts val="1000"/>
              </a:spcAft>
            </a:pPr>
            <a:r>
              <a:rPr b="1" sz="2000"/>
              <a:t>Time saving</a:t>
            </a:r>
            <a:r>
              <a:rPr b="0" sz="2000"/>
              <a:t> – payrolls and statements completed on schedule</a:t>
            </a:r>
          </a:p>
          <a:p>
            <a:pPr>
              <a:spcAft>
                <a:spcPts val="1000"/>
              </a:spcAft>
            </a:pPr>
            <a:r>
              <a:rPr b="1" sz="2000"/>
              <a:t>Accuracy</a:t>
            </a:r>
            <a:r>
              <a:rPr b="0" sz="2000"/>
              <a:t> – errors and frauds located easily</a:t>
            </a:r>
          </a:p>
          <a:p>
            <a:pPr>
              <a:spcAft>
                <a:spcPts val="1000"/>
              </a:spcAft>
            </a:pPr>
            <a:r>
              <a:rPr b="1" sz="2000"/>
              <a:t>Minimization of frauds</a:t>
            </a:r>
            <a:r>
              <a:rPr b="0" sz="2000"/>
              <a:t> – less employee fraud in books/cash</a:t>
            </a:r>
          </a:p>
          <a:p>
            <a:pPr>
              <a:spcAft>
                <a:spcPts val="1000"/>
              </a:spcAft>
            </a:pPr>
            <a:r>
              <a:rPr b="1" sz="2000"/>
              <a:t>Morale</a:t>
            </a:r>
            <a:r>
              <a:rPr b="0" sz="2000"/>
              <a:t> – relieves manual drudgery and fatigue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Need for computerised accounting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Volume</a:t>
            </a:r>
            <a:r>
              <a:rPr b="0" sz="2000"/>
              <a:t> – large transaction loads handled fast</a:t>
            </a:r>
          </a:p>
          <a:p>
            <a:pPr>
              <a:spcAft>
                <a:spcPts val="1000"/>
              </a:spcAft>
            </a:pPr>
            <a:r>
              <a:rPr b="1" sz="2000"/>
              <a:t>Instant reporting</a:t>
            </a:r>
            <a:r>
              <a:rPr b="0" sz="2000"/>
              <a:t> – quality reports on demand</a:t>
            </a:r>
          </a:p>
          <a:p>
            <a:pPr>
              <a:spcAft>
                <a:spcPts val="1000"/>
              </a:spcAft>
            </a:pPr>
            <a:r>
              <a:rPr b="1" sz="2000"/>
              <a:t>Reduction in paperwork</a:t>
            </a:r>
            <a:r>
              <a:rPr b="0" sz="2000"/>
              <a:t> – no vast storage of books/vouchers</a:t>
            </a:r>
          </a:p>
          <a:p>
            <a:pPr>
              <a:spcAft>
                <a:spcPts val="1000"/>
              </a:spcAft>
            </a:pPr>
            <a:r>
              <a:rPr b="1" sz="2000"/>
              <a:t>Flexible reporting</a:t>
            </a:r>
            <a:r>
              <a:rPr b="0" sz="2000"/>
              <a:t> – any balance, any duration</a:t>
            </a:r>
          </a:p>
          <a:p>
            <a:pPr>
              <a:spcAft>
                <a:spcPts val="1000"/>
              </a:spcAft>
            </a:pPr>
            <a:r>
              <a:rPr b="1" sz="2000"/>
              <a:t>Queries</a:t>
            </a:r>
            <a:r>
              <a:rPr b="0" sz="2000"/>
              <a:t> – e.g. overdue accounts via </a:t>
            </a:r>
            <a:r>
              <a:rPr b="1" sz="2000"/>
              <a:t>SQL</a:t>
            </a:r>
            <a:r>
              <a:rPr b="0" sz="2000"/>
              <a:t> — hard manually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Need for computerised accounting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Online facility</a:t>
            </a:r>
            <a:r>
              <a:rPr b="0" sz="2000"/>
              <a:t> – retrieve reports instantly</a:t>
            </a:r>
          </a:p>
          <a:p>
            <a:pPr>
              <a:spcAft>
                <a:spcPts val="1000"/>
              </a:spcAft>
            </a:pPr>
            <a:r>
              <a:rPr b="1" sz="2000"/>
              <a:t>Security</a:t>
            </a:r>
            <a:r>
              <a:rPr b="0" sz="2000"/>
              <a:t> – data more secure than manual books</a:t>
            </a:r>
          </a:p>
          <a:p>
            <a:pPr>
              <a:spcAft>
                <a:spcPts val="1000"/>
              </a:spcAft>
            </a:pPr>
            <a:r>
              <a:rPr b="1" sz="2000"/>
              <a:t>Scalability</a:t>
            </a:r>
            <a:r>
              <a:rPr b="0" sz="2000"/>
              <a:t> – growth needs only extra data operators</a:t>
            </a:r>
          </a:p>
          <a:p>
            <a:pPr>
              <a:spcAft>
                <a:spcPts val="1000"/>
              </a:spcAft>
            </a:pPr>
            <a:r>
              <a:rPr b="0" sz="2000"/>
              <a:t>Kenya: </a:t>
            </a:r>
            <a:r>
              <a:rPr b="1" sz="2000"/>
              <a:t>KRA eTIMS</a:t>
            </a:r>
            <a:r>
              <a:rPr b="0" sz="2000"/>
              <a:t> makes the sales journal a compliance document</a:t>
            </a:r>
          </a:p>
          <a:p>
            <a:pPr>
              <a:spcAft>
                <a:spcPts val="1000"/>
              </a:spcAft>
            </a:pPr>
            <a:r>
              <a:rPr b="0" sz="2000"/>
              <a:t>M-Pesa/Till volumes make real-time reporting a necessity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Requirements of a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Requirement 1: </a:t>
            </a:r>
            <a:r>
              <a:rPr b="1" sz="2000"/>
              <a:t>accounting framework</a:t>
            </a:r>
            <a:r>
              <a:rPr b="0" sz="2000"/>
              <a:t> = chart of accounts</a:t>
            </a:r>
          </a:p>
          <a:p>
            <a:pPr>
              <a:spcAft>
                <a:spcPts val="1000"/>
              </a:spcAft>
            </a:pPr>
            <a:r>
              <a:rPr b="0" sz="2000"/>
              <a:t>Every code defined before the first transaction posts</a:t>
            </a:r>
          </a:p>
          <a:p>
            <a:pPr>
              <a:spcAft>
                <a:spcPts val="1000"/>
              </a:spcAft>
            </a:pPr>
            <a:r>
              <a:rPr b="0" sz="2000"/>
              <a:t>Bad chart of accounts → bad reports forever</a:t>
            </a:r>
          </a:p>
          <a:p>
            <a:pPr>
              <a:spcAft>
                <a:spcPts val="1000"/>
              </a:spcAft>
            </a:pPr>
            <a:r>
              <a:rPr b="0" sz="2000"/>
              <a:t>Requirement 2: </a:t>
            </a:r>
            <a:r>
              <a:rPr b="1" sz="2000"/>
              <a:t>operating procedure</a:t>
            </a:r>
            <a:r>
              <a:rPr b="0" sz="2000"/>
              <a:t> — who posts what, when close happens</a:t>
            </a:r>
          </a:p>
          <a:p>
            <a:pPr>
              <a:spcAft>
                <a:spcPts val="1000"/>
              </a:spcAft>
            </a:pPr>
            <a:r>
              <a:rPr b="0" sz="2000"/>
              <a:t>Database-oriented: interface transforms stored data into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Advantages and 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Better quality work; lower operating costs; improved efficiency</a:t>
            </a:r>
          </a:p>
          <a:p>
            <a:pPr>
              <a:spcAft>
                <a:spcPts val="1000"/>
              </a:spcAft>
            </a:pPr>
            <a:r>
              <a:rPr b="0" sz="2000"/>
              <a:t>Better control; greater accuracy; relieves monotony</a:t>
            </a:r>
          </a:p>
          <a:p>
            <a:pPr>
              <a:spcAft>
                <a:spcPts val="1000"/>
              </a:spcAft>
            </a:pPr>
            <a:r>
              <a:rPr b="0" sz="2000"/>
              <a:t>Standardization of routines; minimizes mathematical errors</a:t>
            </a:r>
          </a:p>
          <a:p>
            <a:pPr>
              <a:spcAft>
                <a:spcPts val="1000"/>
              </a:spcAft>
            </a:pPr>
            <a:r>
              <a:rPr b="0" sz="2000"/>
              <a:t>Disadvantage: high setup cost, cheap per transaction</a:t>
            </a:r>
          </a:p>
          <a:p>
            <a:pPr>
              <a:spcAft>
                <a:spcPts val="1000"/>
              </a:spcAft>
            </a:pPr>
            <a:r>
              <a:rPr b="0" sz="2000"/>
              <a:t>Disadvantages: manpower cuts, special skills, power/virus/crash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User training</a:t>
            </a:r>
            <a:r>
              <a:rPr b="0" sz="2000"/>
              <a:t> – commonest cause of implementation failure</a:t>
            </a:r>
          </a:p>
          <a:p>
            <a:pPr>
              <a:spcAft>
                <a:spcPts val="1000"/>
              </a:spcAft>
            </a:pPr>
            <a:r>
              <a:rPr b="1" sz="2000"/>
              <a:t>System dependency</a:t>
            </a:r>
            <a:r>
              <a:rPr b="0" sz="2000"/>
              <a:t> – power/hardware failure halts verification</a:t>
            </a:r>
          </a:p>
          <a:p>
            <a:pPr>
              <a:spcAft>
                <a:spcPts val="1000"/>
              </a:spcAft>
            </a:pPr>
            <a:r>
              <a:rPr b="1" sz="2000"/>
              <a:t>Backups</a:t>
            </a:r>
            <a:r>
              <a:rPr b="0" sz="2000"/>
              <a:t> – regular, restorable copies are essential</a:t>
            </a:r>
          </a:p>
          <a:p>
            <a:pPr>
              <a:spcAft>
                <a:spcPts val="1000"/>
              </a:spcAft>
            </a:pPr>
            <a:r>
              <a:rPr b="1" sz="2000"/>
              <a:t>Voucher management</a:t>
            </a:r>
            <a:r>
              <a:rPr b="0" sz="2000"/>
              <a:t> – software edits are invisible; discipline vital</a:t>
            </a:r>
          </a:p>
          <a:p>
            <a:pPr>
              <a:spcAft>
                <a:spcPts val="1000"/>
              </a:spcAft>
            </a:pPr>
            <a:r>
              <a:rPr b="1" sz="2000"/>
              <a:t>Security</a:t>
            </a:r>
            <a:r>
              <a:rPr b="0" sz="2000"/>
              <a:t> – passwords and access controls against misuse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Mini case: the control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Nakuru wholesaler: 400 invoices/day moves to QuickBooks</a:t>
            </a:r>
          </a:p>
          <a:p>
            <a:pPr>
              <a:spcAft>
                <a:spcPts val="1000"/>
              </a:spcAft>
            </a:pPr>
            <a:r>
              <a:rPr b="0" sz="2000"/>
              <a:t>Month-end falls from 12 days to 2; clerks redeployed</a:t>
            </a:r>
          </a:p>
          <a:p>
            <a:pPr>
              <a:spcAft>
                <a:spcPts val="1000"/>
              </a:spcAft>
            </a:pPr>
            <a:r>
              <a:rPr b="0" sz="2000"/>
              <a:t>Then: cashier edits posted invoices; M-Pesa settlements unreconciled</a:t>
            </a:r>
          </a:p>
          <a:p>
            <a:pPr>
              <a:spcAft>
                <a:spcPts val="1000"/>
              </a:spcAft>
            </a:pPr>
            <a:r>
              <a:rPr b="0" sz="2000"/>
              <a:t>Lesson: controls moved from ink to </a:t>
            </a:r>
            <a:r>
              <a:rPr b="1" sz="2000"/>
              <a:t>passwords and user rights</a:t>
            </a:r>
          </a:p>
          <a:p>
            <a:pPr>
              <a:spcAft>
                <a:spcPts val="1000"/>
              </a:spcAft>
            </a:pPr>
            <a:r>
              <a:rPr b="0" sz="2000"/>
              <a:t>Every advantage has a matching control weakness — examiners reward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Objects (why introduce) ≠ need (why necessary now) — don't merge</a:t>
            </a:r>
          </a:p>
          <a:p>
            <a:pPr>
              <a:spcAft>
                <a:spcPts val="1000"/>
              </a:spcAft>
            </a:pPr>
            <a:r>
              <a:rPr b="0" sz="2000"/>
              <a:t>Requirements = framework + operating procedure — favourite 4-mark question</a:t>
            </a:r>
          </a:p>
          <a:p>
            <a:pPr>
              <a:spcAft>
                <a:spcPts val="1000"/>
              </a:spcAft>
            </a:pPr>
            <a:r>
              <a:rPr b="0" sz="2000"/>
              <a:t>Give </a:t>
            </a:r>
            <a:r>
              <a:rPr b="1" sz="2000"/>
              <a:t>both</a:t>
            </a:r>
            <a:r>
              <a:rPr b="0" sz="2000"/>
              <a:t> sides for advantages/disadvantages</a:t>
            </a:r>
          </a:p>
          <a:p>
            <a:pPr>
              <a:spcAft>
                <a:spcPts val="1000"/>
              </a:spcAft>
            </a:pPr>
            <a:r>
              <a:rPr b="0" sz="2000"/>
              <a:t>Link to Kenya: M-Pesa volumes, KRA e-invoicing</a:t>
            </a:r>
          </a:p>
          <a:p>
            <a:pPr>
              <a:spcAft>
                <a:spcPts val="1000"/>
              </a:spcAft>
            </a:pPr>
            <a:r>
              <a:rPr b="0" sz="2000"/>
              <a:t>Always name backups and voucher management under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