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8102E"/>
                </a:solidFill>
              </a:rPr>
              <a:t>CA11  FINANCIAL  ACCOUNTING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/>
              <a:t>The Statement of Affairs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6E6E6E"/>
                </a:solidFill>
              </a:rPr>
              <a:t>CA11 Financial Accounting • Accounts from Incomplete Records</a:t>
            </a:r>
          </a:p>
        </p:txBody>
      </p:sp>
      <p:pic>
        <p:nvPicPr>
          <p:cNvPr id="5" name="Picture 4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512064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7" name="Picture 6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Prepare a statement of affairs at two dates from incomplete records</a:t>
            </a:r>
          </a:p>
          <a:p>
            <a:pPr>
              <a:spcAft>
                <a:spcPts val="1000"/>
              </a:spcAft>
            </a:pPr>
            <a:r>
              <a:rPr b="0" sz="2000"/>
              <a:t>Derive opening and closing capital as the balancing figure</a:t>
            </a:r>
          </a:p>
          <a:p>
            <a:pPr>
              <a:spcAft>
                <a:spcPts val="1000"/>
              </a:spcAft>
            </a:pPr>
            <a:r>
              <a:rPr b="0" sz="2000"/>
              <a:t>Adjust assets for depreciation and part-disposals</a:t>
            </a:r>
          </a:p>
          <a:p>
            <a:pPr>
              <a:spcAft>
                <a:spcPts val="1000"/>
              </a:spcAft>
            </a:pPr>
            <a:r>
              <a:rPr b="0" sz="2000"/>
              <a:t>Compute profit via statement of affairs + capital comparison</a:t>
            </a:r>
          </a:p>
          <a:p>
            <a:pPr>
              <a:spcAft>
                <a:spcPts val="1000"/>
              </a:spcAft>
            </a:pPr>
            <a:r>
              <a:rPr b="0" sz="2000"/>
              <a:t>Distinguish a statement of affairs from a balance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What a statement of affairs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Lists assets and liabilities in balance-sheet layout; capital = balancing figure</a:t>
            </a:r>
          </a:p>
          <a:p>
            <a:pPr>
              <a:spcAft>
                <a:spcPts val="1000"/>
              </a:spcAft>
            </a:pPr>
            <a:r>
              <a:rPr b="0" sz="2000"/>
              <a:t>Sources: cash book, bank statements, personal ledgers, physical counts</a:t>
            </a:r>
          </a:p>
          <a:p>
            <a:pPr>
              <a:spcAft>
                <a:spcPts val="1000"/>
              </a:spcAft>
            </a:pPr>
            <a:r>
              <a:rPr b="0" sz="2000"/>
              <a:t>Fixed assets at written-down value; inventory by physical count</a:t>
            </a:r>
          </a:p>
          <a:p>
            <a:pPr>
              <a:spcAft>
                <a:spcPts val="1000"/>
              </a:spcAft>
            </a:pPr>
            <a:r>
              <a:rPr b="0" sz="2000"/>
              <a:t>Built partly on estimates and memory — not fully dependable</a:t>
            </a:r>
          </a:p>
          <a:p>
            <a:pPr>
              <a:spcAft>
                <a:spcPts val="1000"/>
              </a:spcAft>
            </a:pPr>
            <a:r>
              <a:rPr b="0" sz="2000"/>
              <a:t>Purpose: to find capital at two dates so profit can be computed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Worked example — Kamau Traders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Kamau Traders: statements at 1 Jan and 31 Dec on one two-column statement</a:t>
            </a:r>
          </a:p>
          <a:p>
            <a:pPr>
              <a:spcAft>
                <a:spcPts val="1000"/>
              </a:spcAft>
            </a:pPr>
            <a:r>
              <a:rPr b="0" sz="2000"/>
              <a:t>Depreciate BEFORE striking capital: premises 800,000 − 2.5% = 780,000</a:t>
            </a:r>
          </a:p>
          <a:p>
            <a:pPr>
              <a:spcAft>
                <a:spcPts val="1000"/>
              </a:spcAft>
            </a:pPr>
            <a:r>
              <a:rPr b="0" sz="2000"/>
              <a:t>Equipment 240,000 − 10% = 216,000</a:t>
            </a:r>
          </a:p>
          <a:p>
            <a:pPr>
              <a:spcAft>
                <a:spcPts val="1000"/>
              </a:spcAft>
            </a:pPr>
            <a:r>
              <a:rPr b="0" sz="2000"/>
              <a:t>Opening capital = 1,357,000 − 310,000 = 1,047,000</a:t>
            </a:r>
          </a:p>
          <a:p>
            <a:pPr>
              <a:spcAft>
                <a:spcPts val="1000"/>
              </a:spcAft>
            </a:pPr>
            <a:r>
              <a:rPr b="0" sz="2000"/>
              <a:t>Closing capital = 1,439,000 − 290,000 = 1,149,000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Kamau profit computation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Profit = 1,149,000 + 180,000 − 120,000 − 1,047,000 = 162,000</a:t>
            </a:r>
          </a:p>
          <a:p>
            <a:pPr>
              <a:spcAft>
                <a:spcPts val="1000"/>
              </a:spcAft>
            </a:pPr>
            <a:r>
              <a:rPr b="0" sz="2000"/>
              <a:t>Drawings 15,000 × 12 = 180,000 added back</a:t>
            </a:r>
          </a:p>
          <a:p>
            <a:pPr>
              <a:spcAft>
                <a:spcPts val="1000"/>
              </a:spcAft>
            </a:pPr>
            <a:r>
              <a:rPr b="0" sz="2000"/>
              <a:t>Insurance maturity 120,000 = fresh capital (NOT income)</a:t>
            </a:r>
          </a:p>
          <a:p>
            <a:pPr>
              <a:spcAft>
                <a:spcPts val="1000"/>
              </a:spcAft>
            </a:pPr>
            <a:r>
              <a:rPr b="0" sz="2000"/>
              <a:t>Depreciation at both dates stops capital being overstated</a:t>
            </a:r>
          </a:p>
          <a:p>
            <a:pPr>
              <a:spcAft>
                <a:spcPts val="1000"/>
              </a:spcAft>
            </a:pPr>
            <a:r>
              <a:rPr b="0" sz="2000"/>
              <a:t>Prove each statement balances: liabilities side = assets 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Statement of affairs vs balance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Reliability: estimates/memory vs double-entry records — verifiable</a:t>
            </a:r>
          </a:p>
          <a:p>
            <a:pPr>
              <a:spcAft>
                <a:spcPts val="1000"/>
              </a:spcAft>
            </a:pPr>
            <a:r>
              <a:rPr b="0" sz="2000"/>
              <a:t>Capital: balancing figure vs derived from the ledger's capital account</a:t>
            </a:r>
          </a:p>
          <a:p>
            <a:pPr>
              <a:spcAft>
                <a:spcPts val="1000"/>
              </a:spcAft>
            </a:pPr>
            <a:r>
              <a:rPr b="0" sz="2000"/>
              <a:t>Omission: absorbed into the plug capital vs balance sheet won't balance</a:t>
            </a:r>
          </a:p>
          <a:p>
            <a:pPr>
              <a:spcAft>
                <a:spcPts val="1000"/>
              </a:spcAft>
            </a:pPr>
            <a:r>
              <a:rPr b="0" sz="2000"/>
              <a:t>Valuation: arbitrary vs cost less depreciation with disclosed basis</a:t>
            </a:r>
          </a:p>
          <a:p>
            <a:pPr>
              <a:spcAft>
                <a:spcPts val="1000"/>
              </a:spcAft>
            </a:pPr>
            <a:r>
              <a:rPr b="0" sz="2000"/>
              <a:t>Object: find capital at two dates vs show financial position at a 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Depreciation, disposals and accruals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Fixed assets enter at written-down value — depreciate first, then strike capital</a:t>
            </a:r>
          </a:p>
          <a:p>
            <a:pPr>
              <a:spcAft>
                <a:spcPts val="1000"/>
              </a:spcAft>
            </a:pPr>
            <a:r>
              <a:rPr b="0" sz="2000"/>
              <a:t>Part-disposal: remove asset's WDV from closing statement entirely</a:t>
            </a:r>
          </a:p>
          <a:p>
            <a:pPr>
              <a:spcAft>
                <a:spcPts val="1000"/>
              </a:spcAft>
            </a:pPr>
            <a:r>
              <a:rPr b="0" sz="2000"/>
              <a:t>Proceeds appear as a cash/bank receipt (capital comparison captures the gain)</a:t>
            </a:r>
          </a:p>
          <a:p>
            <a:pPr>
              <a:spcAft>
                <a:spcPts val="1000"/>
              </a:spcAft>
            </a:pPr>
            <a:r>
              <a:rPr b="0" sz="2000"/>
              <a:t>Prepayments = assets; outstanding expenses = liabilities — as in double entry</a:t>
            </a:r>
          </a:p>
          <a:p>
            <a:pPr>
              <a:spcAft>
                <a:spcPts val="1000"/>
              </a:spcAft>
            </a:pPr>
            <a:r>
              <a:rPr b="0" sz="2000"/>
              <a:t>Forgetting an accrual overstates capital and profit by the same amount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Errors that destroy the capital figure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Listing fixed assets at cost (depreciation ignored) → profit overstated</a:t>
            </a:r>
          </a:p>
          <a:p>
            <a:pPr>
              <a:spcAft>
                <a:spcPts val="1000"/>
              </a:spcAft>
            </a:pPr>
            <a:r>
              <a:rPr b="0" sz="2000"/>
              <a:t>Including the owner's private assets (car, residence) → capital overstated</a:t>
            </a:r>
          </a:p>
          <a:p>
            <a:pPr>
              <a:spcAft>
                <a:spcPts val="1000"/>
              </a:spcAft>
            </a:pPr>
            <a:r>
              <a:rPr b="0" sz="2000"/>
              <a:t>Omitting liabilities — especially outstanding expenses and private loans</a:t>
            </a:r>
          </a:p>
          <a:p>
            <a:pPr>
              <a:spcAft>
                <a:spcPts val="1000"/>
              </a:spcAft>
            </a:pPr>
            <a:r>
              <a:rPr b="0" sz="2000"/>
              <a:t>Double-counting drawings (deduct in statement AND add back in comparison)</a:t>
            </a:r>
          </a:p>
          <a:p>
            <a:pPr>
              <a:spcAft>
                <a:spcPts val="1000"/>
              </a:spcAft>
            </a:pPr>
            <a:r>
              <a:rPr b="0" sz="2000"/>
              <a:t>Using the bank balance as cash without reconciling unpresented cheques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Key takeaways / 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Rule two columns (both dates) on one statement — markers love it</a:t>
            </a:r>
          </a:p>
          <a:p>
            <a:pPr>
              <a:spcAft>
                <a:spcPts val="1000"/>
              </a:spcAft>
            </a:pPr>
            <a:r>
              <a:rPr b="0" sz="2000"/>
              <a:t>Depreciate first, then strike capital; show the depreciation working</a:t>
            </a:r>
          </a:p>
          <a:p>
            <a:pPr>
              <a:spcAft>
                <a:spcPts val="1000"/>
              </a:spcAft>
            </a:pPr>
            <a:r>
              <a:rPr b="0" sz="2000"/>
              <a:t>Prove each statement balances before computing profit</a:t>
            </a:r>
          </a:p>
          <a:p>
            <a:pPr>
              <a:spcAft>
                <a:spcPts val="1000"/>
              </a:spcAft>
            </a:pPr>
            <a:r>
              <a:rPr b="0" sz="2000"/>
              <a:t>Theory comparison: use the five headings — reliability, capital, omission…</a:t>
            </a:r>
          </a:p>
          <a:p>
            <a:pPr>
              <a:spcAft>
                <a:spcPts val="1000"/>
              </a:spcAft>
            </a:pPr>
            <a:r>
              <a:rPr b="0" sz="2000"/>
              <a:t>Never call it a balance sheet — the name itself carries a 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