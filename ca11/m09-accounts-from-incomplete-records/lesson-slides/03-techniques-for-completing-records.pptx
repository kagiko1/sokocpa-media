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Techniques for Completing Incomplete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Accounts from Incomplete Records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Build a cash and bank summary; find cash sales/purchases as balancing figure</a:t>
            </a:r>
          </a:p>
          <a:p>
            <a:pPr>
              <a:spcAft>
                <a:spcPts val="1000"/>
              </a:spcAft>
            </a:pPr>
            <a:r>
              <a:rPr b="0" sz="2000"/>
              <a:t>Prepare total debtors/creditors accounts for credit sales/purchases</a:t>
            </a:r>
          </a:p>
          <a:p>
            <a:pPr>
              <a:spcAft>
                <a:spcPts val="1000"/>
              </a:spcAft>
            </a:pPr>
            <a:r>
              <a:rPr b="0" sz="2000"/>
              <a:t>Adjust nominal accounts for prepayments, accruals and private items</a:t>
            </a:r>
          </a:p>
          <a:p>
            <a:pPr>
              <a:spcAft>
                <a:spcPts val="1000"/>
              </a:spcAft>
            </a:pPr>
            <a:r>
              <a:rPr b="0" sz="2000"/>
              <a:t>Apply mark-up and margin to derive missing sales, purchases or GP</a:t>
            </a:r>
          </a:p>
          <a:p>
            <a:pPr>
              <a:spcAft>
                <a:spcPts val="1000"/>
              </a:spcAft>
            </a:pPr>
            <a:r>
              <a:rPr b="0" sz="2000"/>
              <a:t>Outline the procedure to convert to double entry and extract a trial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general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Complete the double entry FIRST, then prepare proper final accounts</a:t>
            </a:r>
          </a:p>
          <a:p>
            <a:pPr>
              <a:spcAft>
                <a:spcPts val="1000"/>
              </a:spcAft>
            </a:pPr>
            <a:r>
              <a:rPr b="0" sz="2000"/>
              <a:t>Open ledger with opening balances; post each unposted book in turn</a:t>
            </a:r>
          </a:p>
          <a:p>
            <a:pPr>
              <a:spcAft>
                <a:spcPts val="1000"/>
              </a:spcAft>
            </a:pPr>
            <a:r>
              <a:rPr b="0" sz="2000"/>
              <a:t>Sift cash book for private items: personal payments → drawings</a:t>
            </a:r>
          </a:p>
          <a:p>
            <a:pPr>
              <a:spcAft>
                <a:spcPts val="1000"/>
              </a:spcAft>
            </a:pPr>
            <a:r>
              <a:rPr b="0" sz="2000"/>
              <a:t>Post discount-column totals to discounts allowed/received</a:t>
            </a:r>
          </a:p>
          <a:p>
            <a:pPr>
              <a:spcAft>
                <a:spcPts val="1000"/>
              </a:spcAft>
            </a:pPr>
            <a:r>
              <a:rPr b="0" sz="2000"/>
              <a:t>Workhorse techniques: cash/bank summary and total (control)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Cash and bank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Analyse receipts and payments under significant heads</a:t>
            </a:r>
          </a:p>
          <a:p>
            <a:pPr>
              <a:spcAft>
                <a:spcPts val="1000"/>
              </a:spcAft>
            </a:pPr>
            <a:r>
              <a:rPr b="0" sz="2000"/>
              <a:t>Short debit side = unrecorded INFLOW → cash sales (balancing figure)</a:t>
            </a:r>
          </a:p>
          <a:p>
            <a:pPr>
              <a:spcAft>
                <a:spcPts val="1000"/>
              </a:spcAft>
            </a:pPr>
            <a:r>
              <a:rPr b="0" sz="2000"/>
              <a:t>Short credit side = unrecorded OUTFLOW → cash purchases or drawings</a:t>
            </a:r>
          </a:p>
          <a:p>
            <a:pPr>
              <a:spcAft>
                <a:spcPts val="1000"/>
              </a:spcAft>
            </a:pPr>
            <a:r>
              <a:rPr b="0" sz="2000"/>
              <a:t>Example: receipts short by 8,340 → cash sales = Sh.8,340</a:t>
            </a:r>
          </a:p>
          <a:p>
            <a:pPr>
              <a:spcAft>
                <a:spcPts val="1000"/>
              </a:spcAft>
            </a:pPr>
            <a:r>
              <a:rPr b="0" sz="2000"/>
              <a:t>Reason which it is — never assume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Total debtors and creditors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Total debtors account → credit sales as the balancing figure</a:t>
            </a:r>
          </a:p>
          <a:p>
            <a:pPr>
              <a:spcAft>
                <a:spcPts val="1000"/>
              </a:spcAft>
            </a:pPr>
            <a:r>
              <a:rPr b="0" sz="2000"/>
              <a:t>Total creditors account → credit purchases as the balancing figure</a:t>
            </a:r>
          </a:p>
          <a:p>
            <a:pPr>
              <a:spcAft>
                <a:spcPts val="1000"/>
              </a:spcAft>
            </a:pPr>
            <a:r>
              <a:rPr b="0" sz="2000"/>
              <a:t>Discount received = debit in creditors account (opposite side from cash)</a:t>
            </a:r>
          </a:p>
          <a:p>
            <a:pPr>
              <a:spcAft>
                <a:spcPts val="1000"/>
              </a:spcAft>
            </a:pPr>
            <a:r>
              <a:rPr b="0" sz="2000"/>
              <a:t>Discount allowed = credit in debtors account</a:t>
            </a:r>
          </a:p>
          <a:p>
            <a:pPr>
              <a:spcAft>
                <a:spcPts val="1000"/>
              </a:spcAft>
            </a:pPr>
            <a:r>
              <a:rPr b="0" sz="2000"/>
              <a:t>Example: credit purchases 29,000; credit sales 58,070 — both balance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Mark-up and margin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Mark-up = gross profit ÷ cost of sales (profit on cost)</a:t>
            </a:r>
          </a:p>
          <a:p>
            <a:pPr>
              <a:spcAft>
                <a:spcPts val="1000"/>
              </a:spcAft>
            </a:pPr>
            <a:r>
              <a:rPr b="0" sz="2000"/>
              <a:t>Margin = gross profit ÷ sales (profit on selling price)</a:t>
            </a:r>
          </a:p>
          <a:p>
            <a:pPr>
              <a:spcAft>
                <a:spcPts val="1000"/>
              </a:spcAft>
            </a:pPr>
            <a:r>
              <a:rPr b="0" sz="2000"/>
              <a:t>Conversions: margin = m ÷ (1 + m); mark-up = g ÷ (1 − g)</a:t>
            </a:r>
          </a:p>
          <a:p>
            <a:pPr>
              <a:spcAft>
                <a:spcPts val="1000"/>
              </a:spcAft>
            </a:pPr>
            <a:r>
              <a:rPr b="0" sz="2000"/>
              <a:t>Cost of sales = sales ÷ (1 + m) = sales × (1 − g)</a:t>
            </a:r>
          </a:p>
          <a:p>
            <a:pPr>
              <a:spcAft>
                <a:spcPts val="1000"/>
              </a:spcAft>
            </a:pPr>
            <a:r>
              <a:rPr b="0" sz="2000"/>
              <a:t>Margin 25% on sales 200,000 → cost 150,000, GP 50,000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Chaining the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Chain order: cash summary → cash sales; debtors → credit sales</a:t>
            </a:r>
          </a:p>
          <a:p>
            <a:pPr>
              <a:spcAft>
                <a:spcPts val="1000"/>
              </a:spcAft>
            </a:pPr>
            <a:r>
              <a:rPr b="0" sz="2000"/>
              <a:t>Creditors → credit purchases; stock account → cost of sales</a:t>
            </a:r>
          </a:p>
          <a:p>
            <a:pPr>
              <a:spcAft>
                <a:spcPts val="1000"/>
              </a:spcAft>
            </a:pPr>
            <a:r>
              <a:rPr b="0" sz="2000"/>
              <a:t>Margin relationship → gross profit check</a:t>
            </a:r>
          </a:p>
          <a:p>
            <a:pPr>
              <a:spcAft>
                <a:spcPts val="1000"/>
              </a:spcAft>
            </a:pPr>
            <a:r>
              <a:rPr b="0" sz="2000"/>
              <a:t>Each balancing figure unlocks the next step</a:t>
            </a:r>
          </a:p>
          <a:p>
            <a:pPr>
              <a:spcAft>
                <a:spcPts val="1000"/>
              </a:spcAft>
            </a:pPr>
            <a:r>
              <a:rPr b="0" sz="2000"/>
              <a:t>Then trading &amp; P&amp;L account and balance sheet as normal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Nominal adjustments and the trial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Accruals (e.g. outstanding wages 8,000): added to cash paid = P&amp;L charge</a:t>
            </a:r>
          </a:p>
          <a:p>
            <a:pPr>
              <a:spcAft>
                <a:spcPts val="1000"/>
              </a:spcAft>
            </a:pPr>
            <a:r>
              <a:rPr b="0" sz="2000"/>
              <a:t>Prepayments (e.g. prepaid rent 12,000): deducted from cash paid = asset</a:t>
            </a:r>
          </a:p>
          <a:p>
            <a:pPr>
              <a:spcAft>
                <a:spcPts val="1000"/>
              </a:spcAft>
            </a:pPr>
            <a:r>
              <a:rPr b="0" sz="2000"/>
              <a:t>Shared premises: apportion fairly; private portion → drawings</a:t>
            </a:r>
          </a:p>
          <a:p>
            <a:pPr>
              <a:spcAft>
                <a:spcPts val="1000"/>
              </a:spcAft>
            </a:pPr>
            <a:r>
              <a:rPr b="0" sz="2000"/>
              <a:t>Mini-example: business rent = (120,000 − 12,000) × 2/3 = 72,000</a:t>
            </a:r>
          </a:p>
          <a:p>
            <a:pPr>
              <a:spcAft>
                <a:spcPts val="1000"/>
              </a:spcAft>
            </a:pPr>
            <a:r>
              <a:rPr b="0" sz="2000"/>
              <a:t>Trial balance that agrees proves arithmetic completeness — the error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Label every balancing figure ("credit sales (balancing figure)") — it earns marks</a:t>
            </a:r>
          </a:p>
          <a:p>
            <a:pPr>
              <a:spcAft>
                <a:spcPts val="1000"/>
              </a:spcAft>
            </a:pPr>
            <a:r>
              <a:rPr b="0" sz="2000"/>
              <a:t>Discounts: received = debit in creditors; allowed = credit in debtors</a:t>
            </a:r>
          </a:p>
          <a:p>
            <a:pPr>
              <a:spcAft>
                <a:spcPts val="1000"/>
              </a:spcAft>
            </a:pPr>
            <a:r>
              <a:rPr b="0" sz="2000"/>
              <a:t>Underline the margin's base — "on cost" vs "on sales" changes the answer</a:t>
            </a:r>
          </a:p>
          <a:p>
            <a:pPr>
              <a:spcAft>
                <a:spcPts val="1000"/>
              </a:spcAft>
            </a:pPr>
            <a:r>
              <a:rPr b="0" sz="2000"/>
              <a:t>Mark-up applied to sales (or margin to cost) is the commonest error</a:t>
            </a:r>
          </a:p>
          <a:p>
            <a:pPr>
              <a:spcAft>
                <a:spcPts val="1000"/>
              </a:spcAft>
            </a:pPr>
            <a:r>
              <a:rPr b="0" sz="2000"/>
              <a:t>Extract the trial balance; a balanced TB still needs classification 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