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Public Sector Features and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Introduction to Public Sector Accounting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the public sector with PFMA examples of entities</a:t>
            </a:r>
          </a:p>
          <a:p>
            <a:pPr>
              <a:spcAft>
                <a:spcPts val="1000"/>
              </a:spcAft>
            </a:pPr>
            <a:r>
              <a:rPr b="0" sz="2000"/>
              <a:t>Distinguish public sector from private sector accounting</a:t>
            </a:r>
          </a:p>
          <a:p>
            <a:pPr>
              <a:spcAft>
                <a:spcPts val="1000"/>
              </a:spcAft>
            </a:pPr>
            <a:r>
              <a:rPr b="0" sz="2000"/>
              <a:t>Explain the two objectives of government accounting</a:t>
            </a:r>
          </a:p>
          <a:p>
            <a:pPr>
              <a:spcAft>
                <a:spcPts val="1000"/>
              </a:spcAft>
            </a:pPr>
            <a:r>
              <a:rPr b="0" sz="2000"/>
              <a:t>Describe Kenya's public sector structure</a:t>
            </a:r>
          </a:p>
          <a:p>
            <a:pPr>
              <a:spcAft>
                <a:spcPts val="1000"/>
              </a:spcAft>
            </a:pPr>
            <a:r>
              <a:rPr b="0" sz="2000"/>
              <a:t>State the objectives of public sector financial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What is the public sector? (PFMA)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Government, departments, courts, constitutional commissions</a:t>
            </a:r>
          </a:p>
          <a:p>
            <a:pPr>
              <a:spcAft>
                <a:spcPts val="1000"/>
              </a:spcAft>
            </a:pPr>
            <a:r>
              <a:rPr b="0" sz="2000"/>
              <a:t>State corporations: owned by national government for commercial ends</a:t>
            </a:r>
          </a:p>
          <a:p>
            <a:pPr>
              <a:spcAft>
                <a:spcPts val="1000"/>
              </a:spcAft>
            </a:pPr>
            <a:r>
              <a:rPr b="0" sz="2000"/>
              <a:t>Central Bank of Kenya; public schools, universities, colleges</a:t>
            </a:r>
          </a:p>
          <a:p>
            <a:pPr>
              <a:spcAft>
                <a:spcPts val="1000"/>
              </a:spcAft>
            </a:pPr>
            <a:r>
              <a:rPr b="0" sz="2000"/>
              <a:t>State agency: strategic government objective, not commercial</a:t>
            </a:r>
          </a:p>
          <a:p>
            <a:pPr>
              <a:spcAft>
                <a:spcPts val="1000"/>
              </a:spcAft>
            </a:pPr>
            <a:r>
              <a:rPr b="0" sz="2000"/>
              <a:t>County corporation: owned by a COUNTY government, commercial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Public vs private sector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Goal: service delivery vs profit for owners</a:t>
            </a:r>
          </a:p>
          <a:p>
            <a:pPr>
              <a:spcAft>
                <a:spcPts val="1000"/>
              </a:spcAft>
            </a:pPr>
            <a:r>
              <a:rPr b="0" sz="2000"/>
              <a:t>Budget: MANDATORY (appropriations law) vs planning tool</a:t>
            </a:r>
          </a:p>
          <a:p>
            <a:pPr>
              <a:spcAft>
                <a:spcPts val="1000"/>
              </a:spcAft>
            </a:pPr>
            <a:r>
              <a:rPr b="0" sz="2000"/>
              <a:t>Responsibility: fiscal accountability vs financial planning</a:t>
            </a:r>
          </a:p>
          <a:p>
            <a:pPr>
              <a:spcAft>
                <a:spcPts val="1000"/>
              </a:spcAft>
            </a:pPr>
            <a:r>
              <a:rPr b="0" sz="2000"/>
              <a:t>Funding: taxes, grants, Consolidated Fund vs sales and capital</a:t>
            </a:r>
          </a:p>
          <a:p>
            <a:pPr>
              <a:spcAft>
                <a:spcPts val="1000"/>
              </a:spcAft>
            </a:pPr>
            <a:r>
              <a:rPr b="0" sz="2000"/>
              <a:t>Success: value for money vs net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two objectives of government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(a) ACCOUNTABILITY — the public cannot sell its 'shares', so officials</a:t>
            </a:r>
          </a:p>
          <a:p>
            <a:pPr>
              <a:spcAft>
                <a:spcPts val="1000"/>
              </a:spcAft>
            </a:pPr>
            <a:r>
              <a:rPr b="0" sz="2000"/>
              <a:t>must show money was used lawfully, as authorised, to good effect</a:t>
            </a:r>
          </a:p>
          <a:p>
            <a:pPr>
              <a:spcAft>
                <a:spcPts val="1000"/>
              </a:spcAft>
            </a:pPr>
            <a:r>
              <a:rPr b="0" sz="2000"/>
              <a:t>(b) DECISION-MAKING — information for service-delivery decisions</a:t>
            </a:r>
          </a:p>
          <a:p>
            <a:pPr>
              <a:spcAft>
                <a:spcPts val="1000"/>
              </a:spcAft>
            </a:pPr>
            <a:r>
              <a:rPr b="0" sz="2000"/>
              <a:t>The taxpayer wants minimum tax for legally-required services</a:t>
            </a:r>
          </a:p>
          <a:p>
            <a:pPr>
              <a:spcAft>
                <a:spcPts val="1000"/>
              </a:spcAft>
            </a:pPr>
            <a:r>
              <a:rPr b="0" sz="2000"/>
              <a:t>Government accounting does NOT preclude double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Structure of the public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National government: ministries, Treasury, Consolidated Fund oversight</a:t>
            </a:r>
          </a:p>
          <a:p>
            <a:pPr>
              <a:spcAft>
                <a:spcPts val="1000"/>
              </a:spcAft>
            </a:pPr>
            <a:r>
              <a:rPr b="0" sz="2000"/>
              <a:t>47 county governments: equitable revenue shares, county corporations</a:t>
            </a:r>
          </a:p>
          <a:p>
            <a:pPr>
              <a:spcAft>
                <a:spcPts val="1000"/>
              </a:spcAft>
            </a:pPr>
            <a:r>
              <a:rPr b="0" sz="2000"/>
              <a:t>State corporations and agencies: power, regulation, universities</a:t>
            </a:r>
          </a:p>
          <a:p>
            <a:pPr>
              <a:spcAft>
                <a:spcPts val="1000"/>
              </a:spcAft>
            </a:pPr>
            <a:r>
              <a:rPr b="0" sz="2000"/>
              <a:t>Classic vertical bureaucracy: few decide, many carry out</a:t>
            </a:r>
          </a:p>
          <a:p>
            <a:pPr>
              <a:spcAft>
                <a:spcPts val="1000"/>
              </a:spcAft>
            </a:pPr>
            <a:r>
              <a:rPr b="0" sz="2000"/>
              <a:t>Accounting Officers guard the legal fence around each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Objectives of public sector financial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Show the full financial affairs and resources controlled</a:t>
            </a:r>
          </a:p>
          <a:p>
            <a:pPr>
              <a:spcAft>
                <a:spcPts val="1000"/>
              </a:spcAft>
            </a:pPr>
            <a:r>
              <a:rPr b="0" sz="2000"/>
              <a:t>Financial position — incl. net debt and future-service capacity</a:t>
            </a:r>
          </a:p>
          <a:p>
            <a:pPr>
              <a:spcAft>
                <a:spcPts val="1000"/>
              </a:spcAft>
            </a:pPr>
            <a:r>
              <a:rPr b="0" sz="2000"/>
              <a:t>Changes in position: sources, allocation and consumption of resources</a:t>
            </a:r>
          </a:p>
          <a:p>
            <a:pPr>
              <a:spcAft>
                <a:spcPts val="1000"/>
              </a:spcAft>
            </a:pPr>
            <a:r>
              <a:rPr b="0" sz="2000"/>
              <a:t>Demonstrate accountability: resources used within legislature's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Revenue, expenditure and the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Revenue: internal (taxes, fees) and external (loans, grants)</a:t>
            </a:r>
          </a:p>
          <a:p>
            <a:pPr>
              <a:spcAft>
                <a:spcPts val="1000"/>
              </a:spcAft>
            </a:pPr>
            <a:r>
              <a:rPr b="0" sz="2000"/>
              <a:t>Recurrent expenditure: day-to-day (health, education, defence)</a:t>
            </a:r>
          </a:p>
          <a:p>
            <a:pPr>
              <a:spcAft>
                <a:spcPts val="1000"/>
              </a:spcAft>
            </a:pPr>
            <a:r>
              <a:rPr b="0" sz="2000"/>
              <a:t>Development expenditure: new projects — capital budget, external loans</a:t>
            </a:r>
          </a:p>
          <a:p>
            <a:pPr>
              <a:spcAft>
                <a:spcPts val="1000"/>
              </a:spcAft>
            </a:pPr>
            <a:r>
              <a:rPr b="0" sz="2000"/>
              <a:t>Budget overrun in government = LEGAL breach, not a management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Lead with goal (service vs profit) + budget (mandatory vs planning)</a:t>
            </a:r>
          </a:p>
          <a:p>
            <a:pPr>
              <a:spcAft>
                <a:spcPts val="1000"/>
              </a:spcAft>
            </a:pPr>
            <a:r>
              <a:rPr b="0" sz="2000"/>
              <a:t>Memorise the 4 purposes of public sector accounting — a 4-mark answer</a:t>
            </a:r>
          </a:p>
          <a:p>
            <a:pPr>
              <a:spcAft>
                <a:spcPts val="1000"/>
              </a:spcAft>
            </a:pPr>
            <a:r>
              <a:rPr b="0" sz="2000"/>
              <a:t>Cite PFMA entities: state corps, CBK, courts, commissions, universities</a:t>
            </a:r>
          </a:p>
          <a:p>
            <a:pPr>
              <a:spcAft>
                <a:spcPts val="1000"/>
              </a:spcAft>
            </a:pPr>
            <a:r>
              <a:rPr b="0" sz="2000"/>
              <a:t>The mandatory budget is the root of every other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