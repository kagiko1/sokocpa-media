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The Manufacturing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Manufacturing Entity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Prepare a manufacturing account in KASNEB format</a:t>
            </a:r>
          </a:p>
          <a:p>
            <a:pPr>
              <a:spcAft>
                <a:spcPts val="1000"/>
              </a:spcAft>
            </a:pPr>
            <a:r>
              <a:rPr b="0" sz="2000"/>
              <a:t>Compute raw materials used, prime cost and cost of production</a:t>
            </a:r>
          </a:p>
          <a:p>
            <a:pPr>
              <a:spcAft>
                <a:spcPts val="1000"/>
              </a:spcAft>
            </a:pPr>
            <a:r>
              <a:rPr b="0" sz="2000"/>
              <a:t>Adjust correctly for opening and closing work in progress</a:t>
            </a:r>
          </a:p>
          <a:p>
            <a:pPr>
              <a:spcAft>
                <a:spcPts val="1000"/>
              </a:spcAft>
            </a:pPr>
            <a:r>
              <a:rPr b="0" sz="2000"/>
              <a:t>Transfer cost to trading account at cost and at a marked-up price</a:t>
            </a:r>
          </a:p>
          <a:p>
            <a:pPr>
              <a:spcAft>
                <a:spcPts val="1000"/>
              </a:spcAft>
            </a:pPr>
            <a:r>
              <a:rPr b="0" sz="2000"/>
              <a:t>Record manufacturing profit and the provision for unrealised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Purpose and the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Collects every production cost → cost of goods manufactured</a:t>
            </a:r>
          </a:p>
          <a:p>
            <a:pPr>
              <a:spcAft>
                <a:spcPts val="1000"/>
              </a:spcAft>
            </a:pPr>
            <a:r>
              <a:rPr b="0" sz="2000"/>
              <a:t>Transfer replaces "purchases" in the trading account</a:t>
            </a:r>
          </a:p>
          <a:p>
            <a:pPr>
              <a:spcAft>
                <a:spcPts val="1000"/>
              </a:spcAft>
            </a:pPr>
            <a:r>
              <a:rPr b="0" sz="2000"/>
              <a:t>Five steps: materials used → prime cost → gross cost → WIP adjust → transfer</a:t>
            </a:r>
          </a:p>
          <a:p>
            <a:pPr>
              <a:spcAft>
                <a:spcPts val="1000"/>
              </a:spcAft>
            </a:pPr>
            <a:r>
              <a:rPr b="0" sz="2000"/>
              <a:t>WIP cannot be sold → opening WIP added, closing WIP deducted</a:t>
            </a:r>
          </a:p>
          <a:p>
            <a:pPr>
              <a:spcAft>
                <a:spcPts val="1000"/>
              </a:spcAft>
            </a:pPr>
            <a:r>
              <a:rPr b="0" sz="2000"/>
              <a:t>The account's transfer figure = trading account "cost of production"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KASNEB format — the cost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Materials used = opening RM + purchases + carriage inwards − returns − closing RM</a:t>
            </a:r>
          </a:p>
          <a:p>
            <a:pPr>
              <a:spcAft>
                <a:spcPts val="1000"/>
              </a:spcAft>
            </a:pPr>
            <a:r>
              <a:rPr b="0" sz="2000"/>
              <a:t>Add direct labour + direct expenses = PRIME COST</a:t>
            </a:r>
          </a:p>
          <a:p>
            <a:pPr>
              <a:spcAft>
                <a:spcPts val="1000"/>
              </a:spcAft>
            </a:pPr>
            <a:r>
              <a:rPr b="0" sz="2000"/>
              <a:t>Add factory overheads (rent, power, plant depreciation, indirect materials)</a:t>
            </a:r>
          </a:p>
          <a:p>
            <a:pPr>
              <a:spcAft>
                <a:spcPts val="1000"/>
              </a:spcAft>
            </a:pPr>
            <a:r>
              <a:rPr b="0" sz="2000"/>
              <a:t>= GROSS COST OF PRODUCTION</a:t>
            </a:r>
          </a:p>
          <a:p>
            <a:pPr>
              <a:spcAft>
                <a:spcPts val="1000"/>
              </a:spcAft>
            </a:pPr>
            <a:r>
              <a:rPr b="0" sz="2000"/>
              <a:t>Add opening WIP, subtract closing WIP = COST OF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— Mama Uji Millers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Mama Uji Millers: materials used = 120 + 800 + 40 − 90 = 870</a:t>
            </a:r>
          </a:p>
          <a:p>
            <a:pPr>
              <a:spcAft>
                <a:spcPts val="1000"/>
              </a:spcAft>
            </a:pPr>
            <a:r>
              <a:rPr b="0" sz="2000"/>
              <a:t>Prime cost = 870 + 500 + 60 = 1,430</a:t>
            </a:r>
          </a:p>
          <a:p>
            <a:pPr>
              <a:spcAft>
                <a:spcPts val="1000"/>
              </a:spcAft>
            </a:pPr>
            <a:r>
              <a:rPr b="0" sz="2000"/>
              <a:t>Gross cost of production = 1,430 + 530 = 1,960</a:t>
            </a:r>
          </a:p>
          <a:p>
            <a:pPr>
              <a:spcAft>
                <a:spcPts val="1000"/>
              </a:spcAft>
            </a:pPr>
            <a:r>
              <a:rPr b="0" sz="2000"/>
              <a:t>Cost of production = 1,960 + 100 − 130 = 1,930 → trading account</a:t>
            </a:r>
          </a:p>
          <a:p>
            <a:pPr>
              <a:spcAft>
                <a:spcPts val="1000"/>
              </a:spcAft>
            </a:pPr>
            <a:r>
              <a:rPr b="0" sz="2000"/>
              <a:t>Prove with T-account: debits 2,150 = credits 2,150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Transfer at a mark-up — manufacturing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Transfer above cost creates manufacturing profit = transfer price − cost</a:t>
            </a:r>
          </a:p>
          <a:p>
            <a:pPr>
              <a:spcAft>
                <a:spcPts val="1000"/>
              </a:spcAft>
            </a:pPr>
            <a:r>
              <a:rPr b="0" sz="2000"/>
              <a:t>Journal: Dr Manufacturing account / Cr Profit and loss account</a:t>
            </a:r>
          </a:p>
          <a:p>
            <a:pPr>
              <a:spcAft>
                <a:spcPts val="1000"/>
              </a:spcAft>
            </a:pPr>
            <a:r>
              <a:rPr b="0" sz="2000"/>
              <a:t>Added AFTER gross profit in income statement (corrects under-stated GP)</a:t>
            </a:r>
          </a:p>
          <a:p>
            <a:pPr>
              <a:spcAft>
                <a:spcPts val="1000"/>
              </a:spcAft>
            </a:pPr>
            <a:r>
              <a:rPr b="0" sz="2000"/>
              <a:t>Illustration: 10% × 1,930 = 193; transfer price 2,123</a:t>
            </a:r>
          </a:p>
          <a:p>
            <a:pPr>
              <a:spcAft>
                <a:spcPts val="1000"/>
              </a:spcAft>
            </a:pPr>
            <a:r>
              <a:rPr b="0" sz="2000"/>
              <a:t>After adding profit, manufacturing account debits must still equal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Unrealised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Closing stock valued above cost contains UNEARNED profit</a:t>
            </a:r>
          </a:p>
          <a:p>
            <a:pPr>
              <a:spcAft>
                <a:spcPts val="1000"/>
              </a:spcAft>
            </a:pPr>
            <a:r>
              <a:rPr b="0" sz="2000"/>
              <a:t>Provision for unrealised profit deducted from closing stock in SFP</a:t>
            </a:r>
          </a:p>
          <a:p>
            <a:pPr>
              <a:spcAft>
                <a:spcPts val="1000"/>
              </a:spcAft>
            </a:pPr>
            <a:r>
              <a:rPr b="0" sz="2000"/>
              <a:t>Increase in provision charged to P&amp;L; decrease credited as other income</a:t>
            </a:r>
          </a:p>
          <a:p>
            <a:pPr>
              <a:spcAft>
                <a:spcPts val="1000"/>
              </a:spcAft>
            </a:pPr>
            <a:r>
              <a:rPr b="0" sz="2000"/>
              <a:t>Profit element in closing stock = stock × margin (e.g. 240 × 20/120 = 40)</a:t>
            </a:r>
          </a:p>
          <a:p>
            <a:pPr>
              <a:spcAft>
                <a:spcPts val="1000"/>
              </a:spcAft>
            </a:pPr>
            <a:r>
              <a:rPr b="0" sz="2000"/>
              <a:t>Provision deducted from finished goods — never shown as a 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Extracting from a trial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Extract routine: list factory debits; cross out P&amp;L items FIRST</a:t>
            </a:r>
          </a:p>
          <a:p>
            <a:pPr>
              <a:spcAft>
                <a:spcPts val="1000"/>
              </a:spcAft>
            </a:pPr>
            <a:r>
              <a:rPr b="0" sz="2000"/>
              <a:t>Apply adjustments: closing stocks, depreciation rates, apportionments</a:t>
            </a:r>
          </a:p>
          <a:p>
            <a:pPr>
              <a:spcAft>
                <a:spcPts val="1000"/>
              </a:spcAft>
            </a:pPr>
            <a:r>
              <a:rPr b="0" sz="2000"/>
              <a:t>Build top-down from materials used; prove with a quick T-account total</a:t>
            </a:r>
          </a:p>
          <a:p>
            <a:pPr>
              <a:spcAft>
                <a:spcPts val="1000"/>
              </a:spcAft>
            </a:pPr>
            <a:r>
              <a:rPr b="0" sz="2000"/>
              <a:t>Mark-up base = cost of production AFTER WIP adjustment, not prime cost</a:t>
            </a:r>
          </a:p>
          <a:p>
            <a:pPr>
              <a:spcAft>
                <a:spcPts val="1000"/>
              </a:spcAft>
            </a:pPr>
            <a:r>
              <a:rPr b="0" sz="2000"/>
              <a:t>Manufacturing profit on sold goods stays; only unsold element is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Closing WIP is DEDUCTED; opening WIP is ADDED — say it as a mantra</a:t>
            </a:r>
          </a:p>
          <a:p>
            <a:pPr>
              <a:spcAft>
                <a:spcPts val="1000"/>
              </a:spcAft>
            </a:pPr>
            <a:r>
              <a:rPr b="0" sz="2000"/>
              <a:t>Compute mark-up on cost of production after WIP, never on prime cost</a:t>
            </a:r>
          </a:p>
          <a:p>
            <a:pPr>
              <a:spcAft>
                <a:spcPts val="1000"/>
              </a:spcAft>
            </a:pPr>
            <a:r>
              <a:rPr b="0" sz="2000"/>
              <a:t>Prove the manufacturing account: debits = credits, every time</a:t>
            </a:r>
          </a:p>
          <a:p>
            <a:pPr>
              <a:spcAft>
                <a:spcPts val="1000"/>
              </a:spcAft>
            </a:pPr>
            <a:r>
              <a:rPr b="0" sz="2000"/>
              <a:t>Keep factory depreciation in the manufacturing account — most tested line</a:t>
            </a:r>
          </a:p>
          <a:p>
            <a:pPr>
              <a:spcAft>
                <a:spcPts val="1000"/>
              </a:spcAft>
            </a:pPr>
            <a:r>
              <a:rPr b="0" sz="2000"/>
              <a:t>Returns outwards reduce material cost; carriage inwards increases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