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097280"/>
            <a:ext cx="10881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C8102E"/>
                </a:solidFill>
              </a:rPr>
              <a:t>CA11  FINANCIAL  ACCOUNTING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1088136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/>
              <a:t>Ledgers and the Trial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931920"/>
            <a:ext cx="108813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6E6E6E"/>
                </a:solidFill>
              </a:rPr>
              <a:t>CA11 Financial Accounting • Recording Transactions</a:t>
            </a:r>
          </a:p>
        </p:txBody>
      </p:sp>
      <p:pic>
        <p:nvPicPr>
          <p:cNvPr id="5" name="Picture 4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1848" y="512064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7" name="Picture 6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Apply double-entry rules for assets, liabilities, capital, expenses, revenues</a:t>
            </a:r>
          </a:p>
          <a:p>
            <a:pPr>
              <a:spcAft>
                <a:spcPts val="1000"/>
              </a:spcAft>
            </a:pPr>
            <a:r>
              <a:rPr b="0" sz="2000"/>
              <a:t>Post transactions to T-accounts and balance them</a:t>
            </a:r>
          </a:p>
          <a:p>
            <a:pPr>
              <a:spcAft>
                <a:spcPts val="1000"/>
              </a:spcAft>
            </a:pPr>
            <a:r>
              <a:rPr b="0" sz="2000"/>
              <a:t>Distinguish personal, real and nominal accounts</a:t>
            </a:r>
          </a:p>
          <a:p>
            <a:pPr>
              <a:spcAft>
                <a:spcPts val="1000"/>
              </a:spcAft>
            </a:pPr>
            <a:r>
              <a:rPr b="0" sz="2000"/>
              <a:t>Extract a trial balance and explain its purpose</a:t>
            </a:r>
          </a:p>
          <a:p>
            <a:pPr>
              <a:spcAft>
                <a:spcPts val="1000"/>
              </a:spcAft>
            </a:pPr>
            <a:r>
              <a:rPr b="0" sz="2000"/>
              <a:t>Explain why a TB may agree yet contain errors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Double-entry rules 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Assets ↑ = Dr, ↓ = Cr; liabilities/capital ↑ = Cr, ↓ = Dr</a:t>
            </a:r>
          </a:p>
          <a:p>
            <a:pPr>
              <a:spcAft>
                <a:spcPts val="1000"/>
              </a:spcAft>
            </a:pPr>
            <a:r>
              <a:rPr b="0" sz="2000"/>
              <a:t>Expenses ↑ = Dr (like assets); revenues ↑ = Cr</a:t>
            </a:r>
          </a:p>
          <a:p>
            <a:pPr>
              <a:spcAft>
                <a:spcPts val="1000"/>
              </a:spcAft>
            </a:pPr>
            <a:r>
              <a:rPr b="0" sz="2000"/>
              <a:t>First codified by </a:t>
            </a:r>
            <a:r>
              <a:rPr b="1" sz="2000"/>
              <a:t>Luca Pacioli</a:t>
            </a:r>
            <a:r>
              <a:rPr b="0" sz="2000"/>
              <a:t> (15th century)</a:t>
            </a:r>
          </a:p>
          <a:p>
            <a:pPr>
              <a:spcAft>
                <a:spcPts val="1000"/>
              </a:spcAft>
            </a:pPr>
            <a:r>
              <a:rPr b="0" sz="2000"/>
              <a:t>Before any entry: identify accounts, then decide Dr/Cr</a:t>
            </a:r>
          </a:p>
          <a:p>
            <a:pPr>
              <a:spcAft>
                <a:spcPts val="1000"/>
              </a:spcAft>
            </a:pPr>
            <a:r>
              <a:rPr b="0" sz="2000"/>
              <a:t>Every transaction keeps Assets = Liabilities + Capital true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ledger and account types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The </a:t>
            </a:r>
            <a:r>
              <a:rPr b="1" sz="2000"/>
              <a:t>ledger</a:t>
            </a:r>
            <a:r>
              <a:rPr b="0" sz="2000"/>
              <a:t> is the classified record — the principal book of account</a:t>
            </a:r>
          </a:p>
          <a:p>
            <a:pPr>
              <a:spcAft>
                <a:spcPts val="1000"/>
              </a:spcAft>
            </a:pPr>
            <a:r>
              <a:rPr b="1" sz="2000"/>
              <a:t>Personal</a:t>
            </a:r>
            <a:r>
              <a:rPr b="0" sz="2000"/>
              <a:t>: debtors, creditors, capital, drawings</a:t>
            </a:r>
          </a:p>
          <a:p>
            <a:pPr>
              <a:spcAft>
                <a:spcPts val="1000"/>
              </a:spcAft>
            </a:pPr>
            <a:r>
              <a:rPr b="1" sz="2000"/>
              <a:t>Real</a:t>
            </a:r>
            <a:r>
              <a:rPr b="0" sz="2000"/>
              <a:t>: property/things — cash, stock, furniture, vehicles</a:t>
            </a:r>
          </a:p>
          <a:p>
            <a:pPr>
              <a:spcAft>
                <a:spcPts val="1000"/>
              </a:spcAft>
            </a:pPr>
            <a:r>
              <a:rPr b="1" sz="2000"/>
              <a:t>Nominal</a:t>
            </a:r>
            <a:r>
              <a:rPr b="0" sz="2000"/>
              <a:t>: revenues, gains, losses — salaries, rent, discounts</a:t>
            </a:r>
          </a:p>
          <a:p>
            <a:pPr>
              <a:spcAft>
                <a:spcPts val="1000"/>
              </a:spcAft>
            </a:pPr>
            <a:r>
              <a:rPr b="1" sz="2000"/>
              <a:t>Sales ledger</a:t>
            </a:r>
            <a:r>
              <a:rPr b="0" sz="2000"/>
              <a:t> (debtors), </a:t>
            </a:r>
            <a:r>
              <a:rPr b="1" sz="2000"/>
              <a:t>purchases ledger</a:t>
            </a:r>
            <a:r>
              <a:rPr b="0" sz="2000"/>
              <a:t> (creditors), </a:t>
            </a:r>
            <a:r>
              <a:rPr b="1" sz="2000"/>
              <a:t>general ledger</a:t>
            </a:r>
            <a:r>
              <a:rPr b="0" sz="2000"/>
              <a:t> (rest)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The trial balance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Total debits must equal total credits — the TB verifies this</a:t>
            </a:r>
          </a:p>
          <a:p>
            <a:pPr>
              <a:spcAft>
                <a:spcPts val="1000"/>
              </a:spcAft>
            </a:pPr>
            <a:r>
              <a:rPr b="0" sz="2000"/>
              <a:t>Agreement is good but </a:t>
            </a:r>
            <a:r>
              <a:rPr b="1" sz="2000"/>
              <a:t>not conclusive</a:t>
            </a:r>
            <a:r>
              <a:rPr b="0" sz="2000"/>
              <a:t> proof of accuracy</a:t>
            </a:r>
          </a:p>
          <a:p>
            <a:pPr>
              <a:spcAft>
                <a:spcPts val="1000"/>
              </a:spcAft>
            </a:pPr>
            <a:r>
              <a:rPr b="0" sz="2000"/>
              <a:t>S. Grace TB (Sh. '000): Dr 1,769 = Cr 1,769 ✓</a:t>
            </a:r>
          </a:p>
          <a:p>
            <a:pPr>
              <a:spcAft>
                <a:spcPts val="1000"/>
              </a:spcAft>
            </a:pPr>
            <a:r>
              <a:rPr b="0" sz="2000"/>
              <a:t>Debit balances: assets, expenses, drawings, returns inwards, purchases</a:t>
            </a:r>
          </a:p>
          <a:p>
            <a:pPr>
              <a:spcAft>
                <a:spcPts val="1000"/>
              </a:spcAft>
            </a:pPr>
            <a:r>
              <a:rPr b="0" sz="2000"/>
              <a:t>Credit balances: capital, liabilities, income, returns outwards, sales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Errors not disclosed (1/2)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Omission</a:t>
            </a:r>
            <a:r>
              <a:rPr b="0" sz="2000"/>
              <a:t> – transaction never entered (e.g. Sh. 150,000 purchase)</a:t>
            </a:r>
          </a:p>
          <a:p>
            <a:pPr>
              <a:spcAft>
                <a:spcPts val="1000"/>
              </a:spcAft>
            </a:pPr>
            <a:r>
              <a:rPr b="1" sz="2000"/>
              <a:t>Commission</a:t>
            </a:r>
            <a:r>
              <a:rPr b="0" sz="2000"/>
              <a:t> – wrong personal account (paid Daniel, debited Alois)</a:t>
            </a:r>
          </a:p>
          <a:p>
            <a:pPr>
              <a:spcAft>
                <a:spcPts val="1000"/>
              </a:spcAft>
            </a:pPr>
            <a:r>
              <a:rPr b="1" sz="2000"/>
              <a:t>Principle</a:t>
            </a:r>
            <a:r>
              <a:rPr b="0" sz="2000"/>
              <a:t> – wrong class (repairs debited to Office premises)</a:t>
            </a:r>
          </a:p>
          <a:p>
            <a:pPr>
              <a:spcAft>
                <a:spcPts val="1000"/>
              </a:spcAft>
            </a:pPr>
            <a:r>
              <a:rPr b="1" sz="2000"/>
              <a:t>Compensating</a:t>
            </a:r>
            <a:r>
              <a:rPr b="0" sz="2000"/>
              <a:t> – two errors cancelling (e.g. ±90,000)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Errors not disclosed (2/2)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2000"/>
              <a:t>Original entry</a:t>
            </a:r>
            <a:r>
              <a:rPr b="0" sz="2000"/>
              <a:t> – wrong amount posted equally on both sides</a:t>
            </a:r>
          </a:p>
          <a:p>
            <a:pPr>
              <a:spcAft>
                <a:spcPts val="1000"/>
              </a:spcAft>
            </a:pPr>
            <a:r>
              <a:rPr b="1" sz="2000"/>
              <a:t>Reversal</a:t>
            </a:r>
            <a:r>
              <a:rPr b="0" sz="2000"/>
              <a:t> – Dr/Cr swapped, e.g. discount received in discount allowed</a:t>
            </a:r>
          </a:p>
          <a:p>
            <a:pPr>
              <a:spcAft>
                <a:spcPts val="1000"/>
              </a:spcAft>
            </a:pPr>
            <a:r>
              <a:rPr b="1" sz="2000"/>
              <a:t>Duplication</a:t>
            </a:r>
            <a:r>
              <a:rPr b="0" sz="2000"/>
              <a:t> – entry posted twice (double Dr, double Cr)</a:t>
            </a:r>
          </a:p>
          <a:p>
            <a:pPr>
              <a:spcAft>
                <a:spcPts val="1000"/>
              </a:spcAft>
            </a:pPr>
            <a:r>
              <a:rPr b="0" sz="2000"/>
              <a:t>TB proves </a:t>
            </a:r>
            <a:r>
              <a:rPr b="1" sz="2000"/>
              <a:t>arithmetical accuracy of double entry only</a:t>
            </a:r>
          </a:p>
          <a:p>
            <a:pPr>
              <a:spcAft>
                <a:spcPts val="1000"/>
              </a:spcAft>
            </a:pPr>
            <a:r>
              <a:rPr b="0" sz="2000"/>
              <a:t>'Four errors' = 8–10 marks: name, define, give the book's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Suspense account and corrections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Difference parked in </a:t>
            </a:r>
            <a:r>
              <a:rPr b="1" sz="2000"/>
              <a:t>suspense account</a:t>
            </a:r>
            <a:r>
              <a:rPr b="0" sz="2000"/>
              <a:t> while investigated</a:t>
            </a:r>
          </a:p>
          <a:p>
            <a:pPr>
              <a:spcAft>
                <a:spcPts val="1000"/>
              </a:spcAft>
            </a:pPr>
            <a:r>
              <a:rPr b="0" sz="2000"/>
              <a:t>One-sided errors touch suspense; complete entries do not</a:t>
            </a:r>
          </a:p>
          <a:p>
            <a:pPr>
              <a:spcAft>
                <a:spcPts val="1000"/>
              </a:spcAft>
            </a:pPr>
            <a:r>
              <a:rPr b="0" sz="2000"/>
              <a:t>Benard Masita: Sh. 442,000 debit difference parked in suspense</a:t>
            </a:r>
          </a:p>
          <a:p>
            <a:pPr>
              <a:spcAft>
                <a:spcPts val="1000"/>
              </a:spcAft>
            </a:pPr>
            <a:r>
              <a:rPr b="0" sz="2000"/>
              <a:t>Each error: journal correction with/without suspense</a:t>
            </a:r>
          </a:p>
          <a:p>
            <a:pPr>
              <a:spcAft>
                <a:spcPts val="1000"/>
              </a:spcAft>
            </a:pPr>
            <a:r>
              <a:rPr b="0" sz="2000"/>
              <a:t>Suspense must clear to </a:t>
            </a:r>
            <a:r>
              <a:rPr b="1" sz="2000"/>
              <a:t>nil</a:t>
            </a:r>
            <a:r>
              <a:rPr b="0" sz="2000"/>
              <a:t> — proof every error was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Suspense worked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Error 3: sales 160,000 entered as 16,000 → Dr Suspense 144,000</a:t>
            </a:r>
          </a:p>
          <a:p>
            <a:pPr>
              <a:spcAft>
                <a:spcPts val="1000"/>
              </a:spcAft>
            </a:pPr>
            <a:r>
              <a:rPr b="0" sz="2000"/>
              <a:t>Error 4: discount received in discount allowed → Dr Suspense 84,000</a:t>
            </a:r>
          </a:p>
          <a:p>
            <a:pPr>
              <a:spcAft>
                <a:spcPts val="1000"/>
              </a:spcAft>
            </a:pPr>
            <a:r>
              <a:rPr b="0" sz="2000"/>
              <a:t>Error 7: debtor receipt not credited → Cr Suspense 456,000</a:t>
            </a:r>
          </a:p>
          <a:p>
            <a:pPr>
              <a:spcAft>
                <a:spcPts val="1000"/>
              </a:spcAft>
            </a:pPr>
            <a:r>
              <a:rPr b="0" sz="2000"/>
              <a:t>Suspense T-account: Dr 670,000 = Cr 670,000 → nil ✓</a:t>
            </a:r>
          </a:p>
          <a:p>
            <a:pPr>
              <a:spcAft>
                <a:spcPts val="1000"/>
              </a:spcAft>
            </a:pPr>
            <a:r>
              <a:rPr b="0" sz="2000"/>
              <a:t>Method: park, journal, prove it clears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16152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64592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Key takeaways / exam tips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0" sz="2000"/>
              <a:t>Returns inwards = </a:t>
            </a:r>
            <a:r>
              <a:rPr b="1" sz="2000"/>
              <a:t>debit</a:t>
            </a:r>
            <a:r>
              <a:rPr b="0" sz="2000"/>
              <a:t>; returns outwards = </a:t>
            </a:r>
            <a:r>
              <a:rPr b="1" sz="2000"/>
              <a:t>credit</a:t>
            </a:r>
            <a:r>
              <a:rPr b="0" sz="2000"/>
              <a:t> — most tested placement</a:t>
            </a:r>
          </a:p>
          <a:p>
            <a:pPr>
              <a:spcAft>
                <a:spcPts val="1000"/>
              </a:spcAft>
            </a:pPr>
            <a:r>
              <a:rPr b="0" sz="2000"/>
              <a:t>Drawings = debit; bank overdraft = </a:t>
            </a:r>
            <a:r>
              <a:rPr b="1" sz="2000"/>
              <a:t>credit</a:t>
            </a:r>
            <a:r>
              <a:rPr b="0" sz="2000"/>
              <a:t> balance</a:t>
            </a:r>
          </a:p>
          <a:p>
            <a:pPr>
              <a:spcAft>
                <a:spcPts val="1000"/>
              </a:spcAft>
            </a:pPr>
            <a:r>
              <a:rPr b="0" sz="2000"/>
              <a:t>Discount allowed = Dr; discount received = Cr</a:t>
            </a:r>
          </a:p>
          <a:p>
            <a:pPr>
              <a:spcAft>
                <a:spcPts val="1000"/>
              </a:spcAft>
            </a:pPr>
            <a:r>
              <a:rPr b="0" sz="2000"/>
              <a:t>Sort accounts mentally first: assets/expenses → Dr; capital/liabilities/income → Cr</a:t>
            </a:r>
          </a:p>
          <a:p>
            <a:pPr>
              <a:spcAft>
                <a:spcPts val="1000"/>
              </a:spcAft>
            </a:pPr>
            <a:r>
              <a:rPr b="0" sz="2000"/>
              <a:t>Show both columns totalled and ticked — presentation marks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E6E6E"/>
                </a:solidFill>
              </a:rPr>
              <a:t>Kagiko &amp; Associates  •  SokoCPA Simulator</a:t>
            </a:r>
          </a:p>
        </p:txBody>
      </p:sp>
      <p:pic>
        <p:nvPicPr>
          <p:cNvPr id="6" name="Picture 5" descr="logo-ka-blac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6263640"/>
            <a:ext cx="4572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