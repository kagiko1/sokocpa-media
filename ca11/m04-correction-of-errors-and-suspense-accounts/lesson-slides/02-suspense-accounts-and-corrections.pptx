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Suspense Accounts and Corrections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Correction of Errors and Suspense Accounts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when a suspense account is opened and how the TB difference is posted</a:t>
            </a:r>
          </a:p>
          <a:p>
            <a:pPr>
              <a:spcAft>
                <a:spcPts val="1000"/>
              </a:spcAft>
            </a:pPr>
            <a:r>
              <a:rPr b="0" sz="2000"/>
              <a:t>Identify errors that break TB agreement (one-sided entries, casting errors)</a:t>
            </a:r>
          </a:p>
          <a:p>
            <a:pPr>
              <a:spcAft>
                <a:spcPts val="1000"/>
              </a:spcAft>
            </a:pPr>
            <a:r>
              <a:rPr b="0" sz="2000"/>
              <a:t>Pass journal entries correcting errors through the suspense account</a:t>
            </a:r>
          </a:p>
          <a:p>
            <a:pPr>
              <a:spcAft>
                <a:spcPts val="1000"/>
              </a:spcAft>
            </a:pPr>
            <a:r>
              <a:rPr b="0" sz="2000"/>
              <a:t>Prepare a fully balanced suspense account</a:t>
            </a:r>
          </a:p>
          <a:p>
            <a:pPr>
              <a:spcAft>
                <a:spcPts val="1000"/>
              </a:spcAft>
            </a:pPr>
            <a:r>
              <a:rPr b="0" sz="2000"/>
              <a:t>Prepare a statement of corrected net profit (and corrected gross profit)</a:t>
            </a:r>
          </a:p>
          <a:p>
            <a:pPr>
              <a:spcAft>
                <a:spcPts val="1000"/>
              </a:spcAft>
            </a:pPr>
            <a:r>
              <a:rPr b="0" sz="2000"/>
              <a:t>Explain why suspense is not used unless the examiner specifically requires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When the trial balance fails to 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Breakers: one-sided entries, wrong corresponding entries, casting errors</a:t>
            </a:r>
          </a:p>
          <a:p>
            <a:pPr>
              <a:spcAft>
                <a:spcPts val="1000"/>
              </a:spcAft>
            </a:pPr>
            <a:r>
              <a:rPr b="0" sz="2000"/>
              <a:t>Example: sales Sh.20,000 debited to cash, credited only Sh.2,000 to sales</a:t>
            </a:r>
          </a:p>
          <a:p>
            <a:pPr>
              <a:spcAft>
                <a:spcPts val="1000"/>
              </a:spcAft>
            </a:pPr>
            <a:r>
              <a:rPr b="0" sz="2000"/>
              <a:t>The suspense account is temporary — holds the difference while errors are found</a:t>
            </a:r>
          </a:p>
          <a:p>
            <a:pPr>
              <a:spcAft>
                <a:spcPts val="1000"/>
              </a:spcAft>
            </a:pPr>
            <a:r>
              <a:rPr b="0" sz="2000"/>
              <a:t>Opening rule: post the difference to the SHORT side</a:t>
            </a:r>
          </a:p>
          <a:p>
            <a:pPr>
              <a:spcAft>
                <a:spcPts val="1000"/>
              </a:spcAft>
            </a:pPr>
            <a:r>
              <a:rPr b="0" sz="2000"/>
              <a:t>Debit exceeds credit by Sh.100,000 → suspense gets a credit balance of Sh.100,000</a:t>
            </a:r>
          </a:p>
          <a:p>
            <a:pPr>
              <a:spcAft>
                <a:spcPts val="1000"/>
              </a:spcAft>
            </a:pPr>
            <a:r>
              <a:rPr b="0" sz="2000"/>
              <a:t>Caution: do not use suspense to balance the TB unless the examiner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Journal corrections through the suspense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Same technique as Lesson 1, but one leg of each entry is the suspense account</a:t>
            </a:r>
          </a:p>
          <a:p>
            <a:pPr>
              <a:spcAft>
                <a:spcPts val="1000"/>
              </a:spcAft>
            </a:pPr>
            <a:r>
              <a:rPr b="0" sz="2000"/>
              <a:t>Sales understated Sh.18,000: Dr Suspense 18,000 / Cr Sales 18,000</a:t>
            </a:r>
          </a:p>
          <a:p>
            <a:pPr>
              <a:spcAft>
                <a:spcPts val="1000"/>
              </a:spcAft>
            </a:pPr>
            <a:r>
              <a:rPr b="0" sz="2000"/>
              <a:t>The debit to suspense reduces its credit balance toward nil</a:t>
            </a:r>
          </a:p>
          <a:p>
            <a:pPr>
              <a:spcAft>
                <a:spcPts val="1000"/>
              </a:spcAft>
            </a:pPr>
            <a:r>
              <a:rPr b="0" sz="2000"/>
              <a:t>When all errors are corrected, the suspense account disappears</a:t>
            </a:r>
          </a:p>
          <a:p>
            <a:pPr>
              <a:spcAft>
                <a:spcPts val="1000"/>
              </a:spcAft>
            </a:pPr>
            <a:r>
              <a:rPr b="0" sz="2000"/>
              <a:t>Always test each error first: 'did it break the TB agreement?'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J. Kamau's suspense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TB difference: 2,450,000 − 2,380,000 = Sh.70,000 (debit side exceeds)</a:t>
            </a:r>
          </a:p>
          <a:p>
            <a:pPr>
              <a:spcAft>
                <a:spcPts val="1000"/>
              </a:spcAft>
            </a:pPr>
            <a:r>
              <a:rPr b="0" sz="2000"/>
              <a:t>Suspense opened with a credit balance of Sh.70,000</a:t>
            </a:r>
          </a:p>
          <a:p>
            <a:pPr>
              <a:spcAft>
                <a:spcPts val="1000"/>
              </a:spcAft>
            </a:pPr>
            <a:r>
              <a:rPr b="0" sz="2000"/>
              <a:t>Sales understated: Dr Suspense 45,000 / Cr Sales 45,000</a:t>
            </a:r>
          </a:p>
          <a:p>
            <a:pPr>
              <a:spcAft>
                <a:spcPts val="1000"/>
              </a:spcAft>
            </a:pPr>
            <a:r>
              <a:rPr b="0" sz="2000"/>
              <a:t>Receipt from W. Mwangi: Dr Suspense 25,000 / Cr W. Mwangi 25,000</a:t>
            </a:r>
          </a:p>
          <a:p>
            <a:pPr>
              <a:spcAft>
                <a:spcPts val="1000"/>
              </a:spcAft>
            </a:pPr>
            <a:r>
              <a:rPr b="0" sz="2000"/>
              <a:t>Error of principle (repairs → motor vehicle): no suspense entry needed</a:t>
            </a:r>
          </a:p>
          <a:p>
            <a:pPr>
              <a:spcAft>
                <a:spcPts val="1000"/>
              </a:spcAft>
            </a:pPr>
            <a:r>
              <a:rPr b="0" sz="2000"/>
              <a:t>Suspense totals: debits 70,000 = credits 70,000 → nil balance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Statement of corrected net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Only income-statement errors change profit — SOFP-only errors do not</a:t>
            </a:r>
          </a:p>
          <a:p>
            <a:pPr>
              <a:spcAft>
                <a:spcPts val="1000"/>
              </a:spcAft>
            </a:pPr>
            <a:r>
              <a:rPr b="0" sz="2000"/>
              <a:t>Draft net profit Sh.512,000; add sales understated Sh.45,000</a:t>
            </a:r>
          </a:p>
          <a:p>
            <a:pPr>
              <a:spcAft>
                <a:spcPts val="1000"/>
              </a:spcAft>
            </a:pPr>
            <a:r>
              <a:rPr b="0" sz="2000"/>
              <a:t>Less repairs wrongly capitalised Sh.30,000 (now expensed)</a:t>
            </a:r>
          </a:p>
          <a:p>
            <a:pPr>
              <a:spcAft>
                <a:spcPts val="1000"/>
              </a:spcAft>
            </a:pPr>
            <a:r>
              <a:rPr b="0" sz="2000"/>
              <a:t>Corrected net profit = Sh.527,000</a:t>
            </a:r>
          </a:p>
          <a:p>
            <a:pPr>
              <a:spcAft>
                <a:spcPts val="1000"/>
              </a:spcAft>
            </a:pPr>
            <a:r>
              <a:rPr b="0" sz="2000"/>
              <a:t>Corrected gross profit: filter errors to trading items only</a:t>
            </a:r>
          </a:p>
          <a:p>
            <a:pPr>
              <a:spcAft>
                <a:spcPts val="1000"/>
              </a:spcAft>
            </a:pPr>
            <a:r>
              <a:rPr b="0" sz="2000"/>
              <a:t>Trading items: sales, purchases, returns, carriage inwards, stock, drawings in kind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Mini-example: casting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Casting = addition errors in day books — the most common suspense trigger</a:t>
            </a:r>
          </a:p>
          <a:p>
            <a:pPr>
              <a:spcAft>
                <a:spcPts val="1000"/>
              </a:spcAft>
            </a:pPr>
            <a:r>
              <a:rPr b="0" sz="2000"/>
              <a:t>Purchases day book undercast Sh.11,200: Dr Purchases / Cr Suspense</a:t>
            </a:r>
          </a:p>
          <a:p>
            <a:pPr>
              <a:spcAft>
                <a:spcPts val="1000"/>
              </a:spcAft>
            </a:pPr>
            <a:r>
              <a:rPr b="0" sz="2000"/>
              <a:t>Sales day book overcast Sh.3,000: Dr Sales / Cr Suspense</a:t>
            </a:r>
          </a:p>
          <a:p>
            <a:pPr>
              <a:spcAft>
                <a:spcPts val="1000"/>
              </a:spcAft>
            </a:pPr>
            <a:r>
              <a:rPr b="0" sz="2000"/>
              <a:t>Returns outwards overcast Sh.5,600: Dr Returns outwards / Cr Suspense</a:t>
            </a:r>
          </a:p>
          <a:p>
            <a:pPr>
              <a:spcAft>
                <a:spcPts val="1000"/>
              </a:spcAft>
            </a:pPr>
            <a:r>
              <a:rPr b="0" sz="2000"/>
              <a:t>Suspense always takes the opposite side to the corrected account</a:t>
            </a:r>
          </a:p>
          <a:p>
            <a:pPr>
              <a:spcAft>
                <a:spcPts val="1000"/>
              </a:spcAft>
            </a:pPr>
            <a:r>
              <a:rPr b="0" sz="2000"/>
              <a:t>Casting corrections always need suspense — the TB totals were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'Debit exceeds credit → suspense gets a credit balance' — the short side</a:t>
            </a:r>
          </a:p>
          <a:p>
            <a:pPr>
              <a:spcAft>
                <a:spcPts val="1000"/>
              </a:spcAft>
            </a:pPr>
            <a:r>
              <a:rPr b="0" sz="2000"/>
              <a:t>After all corrections the suspense account must total to zero — self-check</a:t>
            </a:r>
          </a:p>
          <a:p>
            <a:pPr>
              <a:spcAft>
                <a:spcPts val="1000"/>
              </a:spcAft>
            </a:pPr>
            <a:r>
              <a:rPr b="0" sz="2000"/>
              <a:t>Debtor/creditor/bank-only corrections do not change net profit</a:t>
            </a:r>
          </a:p>
          <a:p>
            <a:pPr>
              <a:spcAft>
                <a:spcPts val="1000"/>
              </a:spcAft>
            </a:pPr>
            <a:r>
              <a:rPr b="0" sz="2000"/>
              <a:t>Never double-count the suspense balance in the profit statement</a:t>
            </a:r>
          </a:p>
          <a:p>
            <a:pPr>
              <a:spcAft>
                <a:spcPts val="1000"/>
              </a:spcAft>
            </a:pPr>
            <a:r>
              <a:rPr b="0" sz="2000"/>
              <a:t>Some discovered errors need no suspense entry — test each one first</a:t>
            </a:r>
          </a:p>
          <a:p>
            <a:pPr>
              <a:spcAft>
                <a:spcPts val="1000"/>
              </a:spcAft>
            </a:pPr>
            <a:r>
              <a:rPr b="0" sz="2000"/>
              <a:t>Discount allowed/received mix-ups: cancel the wrong posting, record the right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Open suspense on the short side; clear it to nil with correction journals</a:t>
            </a:r>
          </a:p>
          <a:p>
            <a:pPr>
              <a:spcAft>
                <a:spcPts val="1000"/>
              </a:spcAft>
            </a:pPr>
            <a:r>
              <a:rPr b="0" sz="2000"/>
              <a:t>Journalise every correction with a narrative; suspense is one leg of the entry</a:t>
            </a:r>
          </a:p>
          <a:p>
            <a:pPr>
              <a:spcAft>
                <a:spcPts val="1000"/>
              </a:spcAft>
            </a:pPr>
            <a:r>
              <a:rPr b="0" sz="2000"/>
              <a:t>The corrected profit statement adjusts only for income/expense errors</a:t>
            </a:r>
          </a:p>
          <a:p>
            <a:pPr>
              <a:spcAft>
                <a:spcPts val="1000"/>
              </a:spcAft>
            </a:pPr>
            <a:r>
              <a:rPr b="0" sz="2000"/>
              <a:t>Casting errors are the favourite suspense trigger — learn the pattern</a:t>
            </a:r>
          </a:p>
          <a:p>
            <a:pPr>
              <a:spcAft>
                <a:spcPts val="1000"/>
              </a:spcAft>
            </a:pPr>
            <a:r>
              <a:rPr b="0" sz="2000"/>
              <a:t>Total the suspense account as a self-check: it must be zero</a:t>
            </a:r>
          </a:p>
          <a:p>
            <a:pPr>
              <a:spcAft>
                <a:spcPts val="1000"/>
              </a:spcAft>
            </a:pPr>
            <a:r>
              <a:rPr b="0" sz="2000"/>
              <a:t>Annotate each error '+' or '−' for profit before writing the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